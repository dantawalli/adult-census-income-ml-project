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74" r:id="rId6"/>
    <p:sldId id="260" r:id="rId7"/>
    <p:sldId id="275" r:id="rId8"/>
    <p:sldId id="283" r:id="rId9"/>
    <p:sldId id="284" r:id="rId10"/>
    <p:sldId id="277" r:id="rId11"/>
    <p:sldId id="282" r:id="rId12"/>
    <p:sldId id="278" r:id="rId13"/>
    <p:sldId id="279" r:id="rId14"/>
    <p:sldId id="280" r:id="rId15"/>
    <p:sldId id="281" r:id="rId16"/>
    <p:sldId id="285" r:id="rId17"/>
    <p:sldId id="262" r:id="rId18"/>
    <p:sldId id="286" r:id="rId19"/>
    <p:sldId id="287" r:id="rId20"/>
    <p:sldId id="288" r:id="rId21"/>
    <p:sldId id="289" r:id="rId22"/>
    <p:sldId id="290" r:id="rId23"/>
    <p:sldId id="291" r:id="rId24"/>
    <p:sldId id="264" r:id="rId25"/>
    <p:sldId id="265" r:id="rId26"/>
    <p:sldId id="266" r:id="rId27"/>
    <p:sldId id="292" r:id="rId28"/>
    <p:sldId id="294" r:id="rId29"/>
    <p:sldId id="268" r:id="rId30"/>
    <p:sldId id="295" r:id="rId31"/>
    <p:sldId id="296" r:id="rId32"/>
    <p:sldId id="298" r:id="rId33"/>
    <p:sldId id="297" r:id="rId34"/>
    <p:sldId id="299" r:id="rId35"/>
    <p:sldId id="271" r:id="rId36"/>
    <p:sldId id="300" r:id="rId37"/>
    <p:sldId id="301" r:id="rId38"/>
    <p:sldId id="302" r:id="rId39"/>
    <p:sldId id="303" r:id="rId40"/>
    <p:sldId id="308" r:id="rId41"/>
    <p:sldId id="304" r:id="rId42"/>
    <p:sldId id="305" r:id="rId43"/>
    <p:sldId id="306" r:id="rId44"/>
    <p:sldId id="273"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64286"/>
  </p:normalViewPr>
  <p:slideViewPr>
    <p:cSldViewPr snapToGrid="0" snapToObjects="1">
      <p:cViewPr varScale="1">
        <p:scale>
          <a:sx n="101" d="100"/>
          <a:sy n="101" d="100"/>
        </p:scale>
        <p:origin x="17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669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Good morning everyone.</a:t>
            </a:r>
          </a:p>
          <a:p>
            <a:r>
              <a:rPr lang="en-NG" dirty="0"/>
              <a:t>Today I will present my project on Adult Income Classification using Machine Learning.</a:t>
            </a:r>
          </a:p>
          <a:p>
            <a:r>
              <a:rPr lang="en-NG" dirty="0"/>
              <a:t>The objective of this project is to build predictive models capable of determining whether an individual's annual income exceeds fifty thousand dollars based on demographic and socioeconomic attributes.</a:t>
            </a:r>
          </a:p>
          <a:p>
            <a:r>
              <a:rPr lang="en-NG" dirty="0"/>
              <a:t>Throughout this project, I implemented a complete machine learning pipeline including data exploration, preprocessing, model training, hyperparameter tuning, evaluation, and model interpretation.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This project addresses a binary classification problem.</a:t>
            </a:r>
          </a:p>
          <a:p>
            <a:endParaRPr lang="en-NG" dirty="0"/>
          </a:p>
          <a:p>
            <a:r>
              <a:rPr lang="en-NG" dirty="0"/>
              <a:t>The target variable is income and has two possible classes:</a:t>
            </a:r>
          </a:p>
          <a:p>
            <a:r>
              <a:rPr lang="en-NG" dirty="0"/>
              <a:t>Less than or equal to fifty thousand dollars. </a:t>
            </a:r>
          </a:p>
          <a:p>
            <a:r>
              <a:rPr lang="en-NG" dirty="0"/>
              <a:t>Greater than fifty thousand dollars. </a:t>
            </a:r>
          </a:p>
          <a:p>
            <a:endParaRPr lang="en-NG" dirty="0"/>
          </a:p>
          <a:p>
            <a:r>
              <a:rPr lang="en-NG" dirty="0"/>
              <a:t>Predicting income is useful for socioeconomic analysis, labor market studies, and policy planning.</a:t>
            </a:r>
          </a:p>
          <a:p>
            <a:r>
              <a:rPr lang="en-NG" dirty="0"/>
              <a:t>From a machine learning perspective, it is a practical real-world classification problem involving both numerical and categorical 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640F5-8D43-CE81-940A-DADB2A8BF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A2213-ACC3-8F4D-4264-A611052F4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57F05-114A-B21B-B4A1-2B307EA76529}"/>
              </a:ext>
            </a:extLst>
          </p:cNvPr>
          <p:cNvSpPr>
            <a:spLocks noGrp="1"/>
          </p:cNvSpPr>
          <p:nvPr>
            <p:ph type="body" idx="1"/>
          </p:nvPr>
        </p:nvSpPr>
        <p:spPr/>
        <p:txBody>
          <a:bodyPr/>
          <a:lstStyle/>
          <a:p>
            <a:r>
              <a:rPr lang="en-NG" dirty="0"/>
              <a:t>The dataset used is the Adult Income dataset from the UCI Machine Learning Repository.</a:t>
            </a:r>
          </a:p>
          <a:p>
            <a:r>
              <a:rPr lang="en-NG" dirty="0"/>
              <a:t>It contains census-based demographic and employment information.</a:t>
            </a:r>
          </a:p>
          <a:p>
            <a:r>
              <a:rPr lang="en-NG" dirty="0"/>
              <a:t>Examples of features include age, education level, marital status, occupation, hours worked per week, capital gain, and capital loss.</a:t>
            </a:r>
          </a:p>
          <a:p>
            <a:r>
              <a:rPr lang="en-NG" dirty="0"/>
              <a:t>The dataset contains approximately forty-eight thousand records and is widely used as a benchmark dataset for machine learning classification tasks.</a:t>
            </a:r>
          </a:p>
          <a:p>
            <a:endParaRPr lang="en-NG" dirty="0"/>
          </a:p>
          <a:p>
            <a:endParaRPr lang="en-NG" dirty="0"/>
          </a:p>
          <a:p>
            <a:endParaRPr lang="en-NG" dirty="0"/>
          </a:p>
          <a:p>
            <a:endParaRPr lang="en-NG" dirty="0"/>
          </a:p>
          <a:p>
            <a:r>
              <a:rPr lang="en-NG" dirty="0"/>
              <a:t>Before building models, I performed a detailed quality assessment of the dataset.</a:t>
            </a:r>
          </a:p>
          <a:p>
            <a:r>
              <a:rPr lang="en-NG" dirty="0"/>
              <a:t>I checked for:</a:t>
            </a:r>
          </a:p>
          <a:p>
            <a:r>
              <a:rPr lang="en-NG" dirty="0"/>
              <a:t>Missing values </a:t>
            </a:r>
          </a:p>
          <a:p>
            <a:r>
              <a:rPr lang="en-NG" dirty="0"/>
              <a:t>Duplicate records </a:t>
            </a:r>
          </a:p>
          <a:p>
            <a:r>
              <a:rPr lang="en-NG" dirty="0"/>
              <a:t>Incorrect data types </a:t>
            </a:r>
          </a:p>
          <a:p>
            <a:r>
              <a:rPr lang="en-NG" dirty="0"/>
              <a:t>Class imbalance </a:t>
            </a:r>
          </a:p>
          <a:p>
            <a:r>
              <a:rPr lang="en-NG" dirty="0"/>
              <a:t>Understanding data quality is important because machine learning models are highly dependent on the quality of the input data.</a:t>
            </a:r>
          </a:p>
          <a:p>
            <a:r>
              <a:rPr lang="en-NG" dirty="0"/>
              <a:t>Any issues identified at this stage can negatively affect model performance.</a:t>
            </a:r>
          </a:p>
          <a:p>
            <a:endParaRPr lang="en-NG" dirty="0"/>
          </a:p>
        </p:txBody>
      </p:sp>
      <p:sp>
        <p:nvSpPr>
          <p:cNvPr id="4" name="Slide Number Placeholder 3">
            <a:extLst>
              <a:ext uri="{FF2B5EF4-FFF2-40B4-BE49-F238E27FC236}">
                <a16:creationId xmlns:a16="http://schemas.microsoft.com/office/drawing/2014/main" id="{F57C71BD-19E3-B21F-7F98-8D03E05718D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73346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Exploratory Data Analysis was performed to better understand the relationships between features and income.</a:t>
            </a:r>
          </a:p>
          <a:p>
            <a:r>
              <a:rPr lang="en-NG" dirty="0"/>
              <a:t>One important observation is that the dataset is imbalanced.</a:t>
            </a:r>
          </a:p>
          <a:p>
            <a:r>
              <a:rPr lang="en-NG" dirty="0"/>
              <a:t>Most individuals belong to the income category below fifty thousand dollars.</a:t>
            </a:r>
          </a:p>
          <a:p>
            <a:r>
              <a:rPr lang="en-NG" dirty="0"/>
              <a:t>I also observed that higher income levels tend to be associated with higher education levels, specific occupations, and larger capital gains.</a:t>
            </a:r>
          </a:p>
          <a:p>
            <a:r>
              <a:rPr lang="en-NG" dirty="0"/>
              <a:t>These insights indicate that the dataset contains meaningful predictive patterns.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B563D-BB07-9188-F5AF-F75F8D97A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C648D-A7B2-8940-0A7B-69C71710F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535FE-409D-09C0-2641-C01BE5916480}"/>
              </a:ext>
            </a:extLst>
          </p:cNvPr>
          <p:cNvSpPr>
            <a:spLocks noGrp="1"/>
          </p:cNvSpPr>
          <p:nvPr>
            <p:ph type="body" idx="1"/>
          </p:nvPr>
        </p:nvSpPr>
        <p:spPr/>
        <p:txBody>
          <a:bodyPr/>
          <a:lstStyle/>
          <a:p>
            <a:r>
              <a:rPr lang="en-NG" dirty="0"/>
              <a:t>This chart shows the distribution of the target variable.</a:t>
            </a:r>
          </a:p>
          <a:p>
            <a:r>
              <a:rPr lang="en-NG" dirty="0"/>
              <a:t>We can clearly see that the dataset is imbalanced.</a:t>
            </a:r>
          </a:p>
          <a:p>
            <a:r>
              <a:rPr lang="en-NG" dirty="0"/>
              <a:t>The majority of observations belong to the lower income category.</a:t>
            </a:r>
          </a:p>
          <a:p>
            <a:r>
              <a:rPr lang="en-NG" dirty="0"/>
              <a:t>This imbalance is important because a model could achieve high accuracy simply by predicting the majority class.</a:t>
            </a:r>
          </a:p>
          <a:p>
            <a:r>
              <a:rPr lang="en-NG" dirty="0"/>
              <a:t>Therefore, additional evaluation metrics beyond accuracy are necessary.</a:t>
            </a:r>
          </a:p>
        </p:txBody>
      </p:sp>
      <p:sp>
        <p:nvSpPr>
          <p:cNvPr id="4" name="Slide Number Placeholder 3">
            <a:extLst>
              <a:ext uri="{FF2B5EF4-FFF2-40B4-BE49-F238E27FC236}">
                <a16:creationId xmlns:a16="http://schemas.microsoft.com/office/drawing/2014/main" id="{EB4444AA-25D4-5321-BE7A-725AE2B7A3C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7242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5C056-5537-679B-6B45-688CF2F5A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2F62F-0B67-F37F-1399-96421ED69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6BBB9-9C0E-CC5B-BC4A-5576A7AC0614}"/>
              </a:ext>
            </a:extLst>
          </p:cNvPr>
          <p:cNvSpPr>
            <a:spLocks noGrp="1"/>
          </p:cNvSpPr>
          <p:nvPr>
            <p:ph type="body" idx="1"/>
          </p:nvPr>
        </p:nvSpPr>
        <p:spPr/>
        <p:txBody>
          <a:bodyPr/>
          <a:lstStyle/>
          <a:p>
            <a:r>
              <a:rPr lang="en-NG" dirty="0"/>
              <a:t>As part of the exploratory data analysis, I examined data quality by identifying missing values.</a:t>
            </a:r>
          </a:p>
          <a:p>
            <a:r>
              <a:rPr lang="en-NG" dirty="0"/>
              <a:t>In the Adult Income dataset, missing values were not stored as standard null values but as question mark symbols. These were first converted into proper missing values to enable accurate analysis.</a:t>
            </a:r>
          </a:p>
          <a:p>
            <a:r>
              <a:rPr lang="en-NG" dirty="0"/>
              <a:t>The missing-value analysis revealed that only three categorical features contained missing observations: occupation, workclass, and native-country.</a:t>
            </a:r>
          </a:p>
          <a:p>
            <a:r>
              <a:rPr lang="en-NG" dirty="0"/>
              <a:t>Occupation and workclass each contained approximately 5.7% missing values, while native-country contained approximately 1.8%.</a:t>
            </a:r>
          </a:p>
          <a:p>
            <a:r>
              <a:rPr lang="en-NG" dirty="0"/>
              <a:t>Since the proportion of missing data was relatively small and these variables contain important socioeconomic information, I decided not to remove the affected observations. Instead, missing values were handled later using most-frequent imputation within the preprocessing pipeline.</a:t>
            </a:r>
          </a:p>
          <a:p>
            <a:r>
              <a:rPr lang="en-NG" dirty="0"/>
              <a:t>This approach preserved the dataset size while ensuring that the models could be trained on complete data.</a:t>
            </a:r>
          </a:p>
          <a:p>
            <a:endParaRPr lang="en-US" dirty="0"/>
          </a:p>
        </p:txBody>
      </p:sp>
      <p:sp>
        <p:nvSpPr>
          <p:cNvPr id="4" name="Slide Number Placeholder 3">
            <a:extLst>
              <a:ext uri="{FF2B5EF4-FFF2-40B4-BE49-F238E27FC236}">
                <a16:creationId xmlns:a16="http://schemas.microsoft.com/office/drawing/2014/main" id="{61A3E85A-DED4-C41B-D50A-F05DB3D9419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16311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ED7DE-1D1D-8CB4-2D6A-E6DEB69D6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92377-914D-872C-C128-B5F738928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2EEDA-9C42-0665-4CE1-76895E744731}"/>
              </a:ext>
            </a:extLst>
          </p:cNvPr>
          <p:cNvSpPr>
            <a:spLocks noGrp="1"/>
          </p:cNvSpPr>
          <p:nvPr>
            <p:ph type="body" idx="1"/>
          </p:nvPr>
        </p:nvSpPr>
        <p:spPr/>
        <p:txBody>
          <a:bodyPr/>
          <a:lstStyle/>
          <a:p>
            <a:r>
              <a:rPr lang="en-NG" dirty="0"/>
              <a:t>I also checked the dataset for duplicate observations because duplicate records can negatively affect machine learning models.</a:t>
            </a:r>
          </a:p>
          <a:p>
            <a:r>
              <a:rPr lang="en-NG" dirty="0"/>
              <a:t>The analysis identified 52 duplicate rows, representing approximately 0.11% of the dataset.</a:t>
            </a:r>
          </a:p>
          <a:p>
            <a:r>
              <a:rPr lang="en-NG" dirty="0"/>
              <a:t>While this percentage is very small, duplicate observations can still introduce redundant information and potentially bias the learning process.</a:t>
            </a:r>
          </a:p>
          <a:p>
            <a:r>
              <a:rPr lang="en-NG" dirty="0"/>
              <a:t>To ensure data quality and prevent repeated observations from influencing model training, all duplicate records were removed during the data-cleaning stage.</a:t>
            </a:r>
          </a:p>
          <a:p>
            <a:r>
              <a:rPr lang="en-NG" dirty="0"/>
              <a:t>This helped improve the reliability and validity of the subsequent machine learning analysis.</a:t>
            </a:r>
          </a:p>
        </p:txBody>
      </p:sp>
      <p:sp>
        <p:nvSpPr>
          <p:cNvPr id="4" name="Slide Number Placeholder 3">
            <a:extLst>
              <a:ext uri="{FF2B5EF4-FFF2-40B4-BE49-F238E27FC236}">
                <a16:creationId xmlns:a16="http://schemas.microsoft.com/office/drawing/2014/main" id="{3D6D5D84-7110-473B-4266-03FB113F9F7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8081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FE413-2093-560C-F84F-C3011AB55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A8E4A-F270-F671-34DA-8ACF137B0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CAB27-8A99-F0E5-4E18-13DE586AD7C7}"/>
              </a:ext>
            </a:extLst>
          </p:cNvPr>
          <p:cNvSpPr>
            <a:spLocks noGrp="1"/>
          </p:cNvSpPr>
          <p:nvPr>
            <p:ph type="body" idx="1"/>
          </p:nvPr>
        </p:nvSpPr>
        <p:spPr/>
        <p:txBody>
          <a:bodyPr/>
          <a:lstStyle/>
          <a:p>
            <a:r>
              <a:rPr lang="en-NG" dirty="0"/>
              <a:t>This figure shows the distributions of the numerical variables in the dataset.</a:t>
            </a:r>
          </a:p>
          <a:p>
            <a:r>
              <a:rPr lang="en-NG" dirty="0"/>
              <a:t>The age distribution is concentrated between approximately 25 and 50 years, indicating that most observations represent working-age adults.</a:t>
            </a:r>
          </a:p>
          <a:p>
            <a:r>
              <a:rPr lang="en-NG" dirty="0"/>
              <a:t>Hours worked per week is heavily concentrated around 40 hours, which is consistent with full-time employment.</a:t>
            </a:r>
          </a:p>
          <a:p>
            <a:r>
              <a:rPr lang="en-NG" dirty="0"/>
              <a:t>The most important observation is that both capital-gain and capital-loss are extremely right-skewed. Most individuals have values equal to zero, while a small number of observations contain very large values.</a:t>
            </a:r>
          </a:p>
          <a:p>
            <a:r>
              <a:rPr lang="en-NG" dirty="0"/>
              <a:t>The fnlwgt variable is also highly skewed. Since fnlwgt represents a census sampling weight rather than a direct socioeconomic characteristic, it was removed from the final modeling process to improve interpretability.</a:t>
            </a:r>
          </a:p>
          <a:p>
            <a:r>
              <a:rPr lang="en-NG" dirty="0"/>
              <a:t>These findings motivated the feature-engineering steps applied later in the project.</a:t>
            </a:r>
          </a:p>
        </p:txBody>
      </p:sp>
      <p:sp>
        <p:nvSpPr>
          <p:cNvPr id="4" name="Slide Number Placeholder 3">
            <a:extLst>
              <a:ext uri="{FF2B5EF4-FFF2-40B4-BE49-F238E27FC236}">
                <a16:creationId xmlns:a16="http://schemas.microsoft.com/office/drawing/2014/main" id="{D970A51D-7C91-FFF5-AB42-AF48B301EBE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98818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15F7-1F54-7C91-FF97-C32D56763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0A442-17EE-B442-0A91-8B249DB88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7186D-7EBB-4F4A-E81E-4623FD6D85B4}"/>
              </a:ext>
            </a:extLst>
          </p:cNvPr>
          <p:cNvSpPr>
            <a:spLocks noGrp="1"/>
          </p:cNvSpPr>
          <p:nvPr>
            <p:ph type="body" idx="1"/>
          </p:nvPr>
        </p:nvSpPr>
        <p:spPr/>
        <p:txBody>
          <a:bodyPr/>
          <a:lstStyle/>
          <a:p>
            <a:r>
              <a:rPr lang="en-NG" dirty="0"/>
              <a:t>The boxplots provide a clearer view of potential outliers within the numerical features.</a:t>
            </a:r>
          </a:p>
          <a:p>
            <a:r>
              <a:rPr lang="en-NG" dirty="0"/>
              <a:t>We can observe a large number of extreme observations in capital-gain and capital-loss. However, these values are expected because some individuals genuinely report unusually high investment gains or losses.</a:t>
            </a:r>
          </a:p>
          <a:p>
            <a:r>
              <a:rPr lang="en-NG" dirty="0"/>
              <a:t>Hours-per-week also contains observations at both extremes, ranging from very low working hours to nearly 100 hours per week.</a:t>
            </a:r>
          </a:p>
          <a:p>
            <a:r>
              <a:rPr lang="en-NG" dirty="0"/>
              <a:t>Rather than removing these observations, I retained them because they represent valid real-world cases. Instead, I applied logarithmic transformations to capital-gain and capital-loss to reduce skewness and improve model learning.</a:t>
            </a:r>
          </a:p>
          <a:p>
            <a:r>
              <a:rPr lang="en-NG" dirty="0"/>
              <a:t>This approach preserves potentially important information while reducing the influence of extreme values on the machine learning algorithms.</a:t>
            </a:r>
          </a:p>
          <a:p>
            <a:endParaRPr lang="en-NG" dirty="0"/>
          </a:p>
        </p:txBody>
      </p:sp>
      <p:sp>
        <p:nvSpPr>
          <p:cNvPr id="4" name="Slide Number Placeholder 3">
            <a:extLst>
              <a:ext uri="{FF2B5EF4-FFF2-40B4-BE49-F238E27FC236}">
                <a16:creationId xmlns:a16="http://schemas.microsoft.com/office/drawing/2014/main" id="{45EF8D71-CAA8-7902-6161-2FBD21ABC52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50234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5D1F-8954-F59B-9E45-979CA2E9E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F8910-6026-5CC6-B0D9-6D687C489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9240C-B5F0-6C93-C8B9-155AF00262F2}"/>
              </a:ext>
            </a:extLst>
          </p:cNvPr>
          <p:cNvSpPr>
            <a:spLocks noGrp="1"/>
          </p:cNvSpPr>
          <p:nvPr>
            <p:ph type="body" idx="1"/>
          </p:nvPr>
        </p:nvSpPr>
        <p:spPr/>
        <p:txBody>
          <a:bodyPr/>
          <a:lstStyle/>
          <a:p>
            <a:r>
              <a:rPr lang="en-NG" dirty="0"/>
              <a:t>To better understand how categorical variables relate to income, I analyzed the proportion of individuals earning more than and less than $50,000 across several demographic and socioeconomic characteristics.</a:t>
            </a:r>
          </a:p>
          <a:p>
            <a:r>
              <a:rPr lang="en-NG" dirty="0"/>
              <a:t>Starting with education, we can observe a clear trend: individuals with higher educational attainment, such as Master's and Doctorate degrees, have a much larger proportion of high-income observations. This suggests that education is a strong predictor of income level.</a:t>
            </a:r>
          </a:p>
          <a:p>
            <a:r>
              <a:rPr lang="en-NG" dirty="0"/>
              <a:t>Looking at marital status, married individuals, particularly those classified as married-civil-spouse, show a significantly higher proportion of individuals earning more than $50,000 compared with other groups.</a:t>
            </a:r>
          </a:p>
          <a:p>
            <a:r>
              <a:rPr lang="en-NG" dirty="0"/>
              <a:t>Occupational differences are also evident. Executive-managerial and professional-specialty occupations contain a larger share of high-income earners, while service-related occupations contain fewer high-income observations.</a:t>
            </a:r>
          </a:p>
        </p:txBody>
      </p:sp>
      <p:sp>
        <p:nvSpPr>
          <p:cNvPr id="4" name="Slide Number Placeholder 3">
            <a:extLst>
              <a:ext uri="{FF2B5EF4-FFF2-40B4-BE49-F238E27FC236}">
                <a16:creationId xmlns:a16="http://schemas.microsoft.com/office/drawing/2014/main" id="{2AAF4246-53E2-CEC3-D35D-B4FFBA22D91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49559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E628-BB1A-AB60-7EDE-726EDAF06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795C3-BB49-010F-F069-4EE83A7EB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8CC2D-20E5-2361-1552-CA1322B87821}"/>
              </a:ext>
            </a:extLst>
          </p:cNvPr>
          <p:cNvSpPr>
            <a:spLocks noGrp="1"/>
          </p:cNvSpPr>
          <p:nvPr>
            <p:ph type="body" idx="1"/>
          </p:nvPr>
        </p:nvSpPr>
        <p:spPr/>
        <p:txBody>
          <a:bodyPr/>
          <a:lstStyle/>
          <a:p>
            <a:r>
              <a:rPr lang="en-NG" dirty="0"/>
              <a:t>Gender analysis shows that males have a higher proportion of high-income observations than females. This reflects patterns present in the dataset and highlights the importance of later fairness analysis.</a:t>
            </a:r>
          </a:p>
          <a:p>
            <a:r>
              <a:rPr lang="en-NG" dirty="0"/>
              <a:t>Finally, income proportions vary across racial groups, although these differences should be interpreted carefully because some groups have relatively small sample sizes.</a:t>
            </a:r>
          </a:p>
          <a:p>
            <a:r>
              <a:rPr lang="en-NG" dirty="0"/>
              <a:t>Overall, these findings indicate that education, marital status, occupation, and demographic characteristics are likely to be important predictors for machine learning models.</a:t>
            </a:r>
          </a:p>
        </p:txBody>
      </p:sp>
      <p:sp>
        <p:nvSpPr>
          <p:cNvPr id="4" name="Slide Number Placeholder 3">
            <a:extLst>
              <a:ext uri="{FF2B5EF4-FFF2-40B4-BE49-F238E27FC236}">
                <a16:creationId xmlns:a16="http://schemas.microsoft.com/office/drawing/2014/main" id="{5EB661EA-86C6-EF8E-301E-2BA70056520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742714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7DFDA-99AC-0DD9-EF20-06D4A7ADE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F61EC-65BA-C40C-447B-1CE406C23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A5FD7-D660-996B-021F-BC8F91F36806}"/>
              </a:ext>
            </a:extLst>
          </p:cNvPr>
          <p:cNvSpPr>
            <a:spLocks noGrp="1"/>
          </p:cNvSpPr>
          <p:nvPr>
            <p:ph type="body" idx="1"/>
          </p:nvPr>
        </p:nvSpPr>
        <p:spPr/>
        <p:txBody>
          <a:bodyPr/>
          <a:lstStyle/>
          <a:p>
            <a:pPr>
              <a:buNone/>
            </a:pPr>
            <a:r>
              <a:rPr lang="en-NG" dirty="0"/>
              <a:t>To better understand the relationships between numerical variables and the target variable, I computed a correlation matrix using Pearson correlation coefficients.</a:t>
            </a:r>
          </a:p>
          <a:p>
            <a:pPr>
              <a:buNone/>
            </a:pPr>
            <a:r>
              <a:rPr lang="en-NG" dirty="0"/>
              <a:t>The strongest relationship with income was observed for </a:t>
            </a:r>
            <a:r>
              <a:rPr lang="en-NG" b="1" dirty="0"/>
              <a:t>educational-num</a:t>
            </a:r>
            <a:r>
              <a:rPr lang="en-NG" dirty="0"/>
              <a:t>, with a correlation of </a:t>
            </a:r>
            <a:r>
              <a:rPr lang="en-NG" b="1" dirty="0"/>
              <a:t>0.33</a:t>
            </a:r>
            <a:r>
              <a:rPr lang="en-NG" dirty="0"/>
              <a:t>, indicating that higher educational attainment is generally associated with higher income levels.</a:t>
            </a:r>
          </a:p>
          <a:p>
            <a:pPr>
              <a:buNone/>
            </a:pPr>
            <a:r>
              <a:rPr lang="en-NG" dirty="0"/>
              <a:t>Age, hours worked per week, and capital gain also showed positive relationships with income, suggesting that older individuals, those working more hours, and those reporting investment gains are more likely to belong to the high-income class.</a:t>
            </a:r>
          </a:p>
          <a:p>
            <a:pPr>
              <a:buNone/>
            </a:pPr>
            <a:r>
              <a:rPr lang="en-NG" dirty="0"/>
              <a:t>In contrast, </a:t>
            </a:r>
            <a:r>
              <a:rPr lang="en-NG" b="1" dirty="0"/>
              <a:t>fnlwgt</a:t>
            </a:r>
            <a:r>
              <a:rPr lang="en-NG" dirty="0"/>
              <a:t> exhibited almost no relationship with income, with a correlation of </a:t>
            </a:r>
            <a:r>
              <a:rPr lang="en-NG" b="1" dirty="0"/>
              <a:t>−0.01</a:t>
            </a:r>
            <a:r>
              <a:rPr lang="en-NG" dirty="0"/>
              <a:t>. Since fnlwgt is a census sampling weight rather than a meaningful socioeconomic characteristic, this finding further supported its removal from the final modeling process.</a:t>
            </a:r>
          </a:p>
          <a:p>
            <a:pPr>
              <a:buNone/>
            </a:pPr>
            <a:r>
              <a:rPr lang="en-NG" dirty="0"/>
              <a:t>The heatmap also shows that correlations among the numerical features themselves are relatively low, indicating that severe multicollinearity is not a major concern for this dataset.</a:t>
            </a:r>
          </a:p>
          <a:p>
            <a:pPr>
              <a:buNone/>
            </a:pPr>
            <a:r>
              <a:rPr lang="en-NG" dirty="0"/>
              <a:t>Overall, the analysis suggests that income is influenced by multiple factors rather than a single dominant numerical predictor, highlighting the value of machine learning models that can capture complex interactions between variables.</a:t>
            </a:r>
          </a:p>
        </p:txBody>
      </p:sp>
      <p:sp>
        <p:nvSpPr>
          <p:cNvPr id="4" name="Slide Number Placeholder 3">
            <a:extLst>
              <a:ext uri="{FF2B5EF4-FFF2-40B4-BE49-F238E27FC236}">
                <a16:creationId xmlns:a16="http://schemas.microsoft.com/office/drawing/2014/main" id="{C7539EC3-A210-5DBC-A705-E88BF2DF1EC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58998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7452-439D-A66C-7115-06724538F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BF544-EAD4-A3B7-922F-A11B8330C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40708-2BA2-5578-B3AA-FC546D55ECA2}"/>
              </a:ext>
            </a:extLst>
          </p:cNvPr>
          <p:cNvSpPr>
            <a:spLocks noGrp="1"/>
          </p:cNvSpPr>
          <p:nvPr>
            <p:ph type="body" idx="1"/>
          </p:nvPr>
        </p:nvSpPr>
        <p:spPr/>
        <p:txBody>
          <a:bodyPr/>
          <a:lstStyle/>
          <a:p>
            <a:r>
              <a:rPr lang="en-NG" dirty="0"/>
              <a:t>During exploratory data analysis, I observed that both </a:t>
            </a:r>
            <a:r>
              <a:rPr lang="en-NG" sz="1200" kern="1200" dirty="0">
                <a:solidFill>
                  <a:schemeClr val="tx1"/>
                </a:solidFill>
                <a:latin typeface="+mn-lt"/>
                <a:ea typeface="+mn-ea"/>
                <a:cs typeface="+mn-cs"/>
              </a:rPr>
              <a:t>capital-gain</a:t>
            </a:r>
            <a:r>
              <a:rPr lang="en-NG" dirty="0"/>
              <a:t> and </a:t>
            </a:r>
            <a:r>
              <a:rPr lang="en-NG" sz="1200" kern="1200" dirty="0">
                <a:solidFill>
                  <a:schemeClr val="tx1"/>
                </a:solidFill>
                <a:latin typeface="+mn-lt"/>
                <a:ea typeface="+mn-ea"/>
                <a:cs typeface="+mn-cs"/>
              </a:rPr>
              <a:t>capital-loss</a:t>
            </a:r>
            <a:r>
              <a:rPr lang="en-NG" dirty="0"/>
              <a:t> were highly right-skewed. Most individuals had values equal to zero, while a small number of observations had very large values.</a:t>
            </a:r>
          </a:p>
          <a:p>
            <a:r>
              <a:rPr lang="en-NG" dirty="0"/>
              <a:t>Such skewed distributions can make it difficult for machine learning models to learn meaningful patterns because extreme values dominate the feature range.</a:t>
            </a:r>
          </a:p>
          <a:p>
            <a:r>
              <a:rPr lang="en-NG" dirty="0"/>
              <a:t>To address this issue, I applied a logarithmic transformation using </a:t>
            </a:r>
            <a:r>
              <a:rPr lang="en-NG" sz="1200" kern="1200" dirty="0">
                <a:solidFill>
                  <a:schemeClr val="tx1"/>
                </a:solidFill>
                <a:latin typeface="+mn-lt"/>
                <a:ea typeface="+mn-ea"/>
                <a:cs typeface="+mn-cs"/>
              </a:rPr>
              <a:t>log1p</a:t>
            </a:r>
            <a:r>
              <a:rPr lang="en-NG" dirty="0"/>
              <a:t>, creating the features </a:t>
            </a:r>
            <a:r>
              <a:rPr lang="en-NG" sz="1200" kern="1200" dirty="0">
                <a:solidFill>
                  <a:schemeClr val="tx1"/>
                </a:solidFill>
                <a:latin typeface="+mn-lt"/>
                <a:ea typeface="+mn-ea"/>
                <a:cs typeface="+mn-cs"/>
              </a:rPr>
              <a:t>capital-gain-log</a:t>
            </a:r>
            <a:r>
              <a:rPr lang="en-NG" dirty="0"/>
              <a:t> and </a:t>
            </a:r>
            <a:r>
              <a:rPr lang="en-NG" sz="1200" kern="1200" dirty="0">
                <a:solidFill>
                  <a:schemeClr val="tx1"/>
                </a:solidFill>
                <a:latin typeface="+mn-lt"/>
                <a:ea typeface="+mn-ea"/>
                <a:cs typeface="+mn-cs"/>
              </a:rPr>
              <a:t>capital-loss-log</a:t>
            </a:r>
            <a:r>
              <a:rPr lang="en-NG" dirty="0"/>
              <a:t>. This reduced skewness, improved the distribution of the variables, and ultimately produced some of the most important predictors in the final models.</a:t>
            </a:r>
          </a:p>
          <a:p>
            <a:endParaRPr lang="en-US" dirty="0"/>
          </a:p>
        </p:txBody>
      </p:sp>
      <p:sp>
        <p:nvSpPr>
          <p:cNvPr id="4" name="Slide Number Placeholder 3">
            <a:extLst>
              <a:ext uri="{FF2B5EF4-FFF2-40B4-BE49-F238E27FC236}">
                <a16:creationId xmlns:a16="http://schemas.microsoft.com/office/drawing/2014/main" id="{AA7CABFA-C059-A411-0B68-961DDC7289D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62800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0726E-517E-4319-1D1D-0A3270729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FB611-A63E-4800-6BF9-D2360390A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6BFB8-83B4-3D04-98EC-43B9DAE1CA63}"/>
              </a:ext>
            </a:extLst>
          </p:cNvPr>
          <p:cNvSpPr>
            <a:spLocks noGrp="1"/>
          </p:cNvSpPr>
          <p:nvPr>
            <p:ph type="body" idx="1"/>
          </p:nvPr>
        </p:nvSpPr>
        <p:spPr/>
        <p:txBody>
          <a:bodyPr/>
          <a:lstStyle/>
          <a:p>
            <a:r>
              <a:rPr lang="en-NG" dirty="0"/>
              <a:t>During exploratory data analysis, I observed that both </a:t>
            </a:r>
            <a:r>
              <a:rPr lang="en-NG" sz="1200" kern="1200" dirty="0">
                <a:solidFill>
                  <a:schemeClr val="tx1"/>
                </a:solidFill>
                <a:latin typeface="+mn-lt"/>
                <a:ea typeface="+mn-ea"/>
                <a:cs typeface="+mn-cs"/>
              </a:rPr>
              <a:t>capital-gain</a:t>
            </a:r>
            <a:r>
              <a:rPr lang="en-NG" dirty="0"/>
              <a:t> and </a:t>
            </a:r>
            <a:r>
              <a:rPr lang="en-NG" sz="1200" kern="1200" dirty="0">
                <a:solidFill>
                  <a:schemeClr val="tx1"/>
                </a:solidFill>
                <a:latin typeface="+mn-lt"/>
                <a:ea typeface="+mn-ea"/>
                <a:cs typeface="+mn-cs"/>
              </a:rPr>
              <a:t>capital-loss</a:t>
            </a:r>
            <a:r>
              <a:rPr lang="en-NG" dirty="0"/>
              <a:t> were highly right-skewed. Most individuals had values equal to zero, while a small number of observations had very large values.</a:t>
            </a:r>
          </a:p>
          <a:p>
            <a:r>
              <a:rPr lang="en-NG" dirty="0"/>
              <a:t>Such skewed distributions can make it difficult for machine learning models to learn meaningful patterns because extreme values dominate the feature range.</a:t>
            </a:r>
          </a:p>
          <a:p>
            <a:r>
              <a:rPr lang="en-NG" dirty="0"/>
              <a:t>To address this issue, I applied a logarithmic transformation using </a:t>
            </a:r>
            <a:r>
              <a:rPr lang="en-NG" sz="1200" kern="1200" dirty="0">
                <a:solidFill>
                  <a:schemeClr val="tx1"/>
                </a:solidFill>
                <a:latin typeface="+mn-lt"/>
                <a:ea typeface="+mn-ea"/>
                <a:cs typeface="+mn-cs"/>
              </a:rPr>
              <a:t>log1p</a:t>
            </a:r>
            <a:r>
              <a:rPr lang="en-NG" dirty="0"/>
              <a:t>, creating the features </a:t>
            </a:r>
            <a:r>
              <a:rPr lang="en-NG" sz="1200" kern="1200" dirty="0">
                <a:solidFill>
                  <a:schemeClr val="tx1"/>
                </a:solidFill>
                <a:latin typeface="+mn-lt"/>
                <a:ea typeface="+mn-ea"/>
                <a:cs typeface="+mn-cs"/>
              </a:rPr>
              <a:t>capital-gain-log</a:t>
            </a:r>
            <a:r>
              <a:rPr lang="en-NG" dirty="0"/>
              <a:t> and </a:t>
            </a:r>
            <a:r>
              <a:rPr lang="en-NG" sz="1200" kern="1200" dirty="0">
                <a:solidFill>
                  <a:schemeClr val="tx1"/>
                </a:solidFill>
                <a:latin typeface="+mn-lt"/>
                <a:ea typeface="+mn-ea"/>
                <a:cs typeface="+mn-cs"/>
              </a:rPr>
              <a:t>capital-loss-log</a:t>
            </a:r>
            <a:r>
              <a:rPr lang="en-NG" dirty="0"/>
              <a:t>. This reduced skewness, improved the distribution of the variables, and ultimately produced some of the most important predictors in the final models.</a:t>
            </a:r>
          </a:p>
          <a:p>
            <a:endParaRPr lang="en-US" dirty="0"/>
          </a:p>
        </p:txBody>
      </p:sp>
      <p:sp>
        <p:nvSpPr>
          <p:cNvPr id="4" name="Slide Number Placeholder 3">
            <a:extLst>
              <a:ext uri="{FF2B5EF4-FFF2-40B4-BE49-F238E27FC236}">
                <a16:creationId xmlns:a16="http://schemas.microsoft.com/office/drawing/2014/main" id="{4C3ED79F-91A8-82A1-0895-4DA21648BEA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880729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154E5-3840-1E68-E775-D3E9ADC89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9881B-847F-2723-74BC-9DC823CA4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573B6-85D1-0E91-D22F-70DF5B87AF78}"/>
              </a:ext>
            </a:extLst>
          </p:cNvPr>
          <p:cNvSpPr>
            <a:spLocks noGrp="1"/>
          </p:cNvSpPr>
          <p:nvPr>
            <p:ph type="body" idx="1"/>
          </p:nvPr>
        </p:nvSpPr>
        <p:spPr/>
        <p:txBody>
          <a:bodyPr/>
          <a:lstStyle/>
          <a:p>
            <a:r>
              <a:rPr lang="en-NG" dirty="0"/>
              <a:t>During exploratory data analysis, I observed that both </a:t>
            </a:r>
            <a:r>
              <a:rPr lang="en-NG" sz="1200" kern="1200" dirty="0">
                <a:solidFill>
                  <a:schemeClr val="tx1"/>
                </a:solidFill>
                <a:latin typeface="+mn-lt"/>
                <a:ea typeface="+mn-ea"/>
                <a:cs typeface="+mn-cs"/>
              </a:rPr>
              <a:t>capital-gain</a:t>
            </a:r>
            <a:r>
              <a:rPr lang="en-NG" dirty="0"/>
              <a:t> and </a:t>
            </a:r>
            <a:r>
              <a:rPr lang="en-NG" sz="1200" kern="1200" dirty="0">
                <a:solidFill>
                  <a:schemeClr val="tx1"/>
                </a:solidFill>
                <a:latin typeface="+mn-lt"/>
                <a:ea typeface="+mn-ea"/>
                <a:cs typeface="+mn-cs"/>
              </a:rPr>
              <a:t>capital-loss</a:t>
            </a:r>
            <a:r>
              <a:rPr lang="en-NG" dirty="0"/>
              <a:t> were highly right-skewed. Most individuals had values equal to zero, while a small number of observations had very large values.</a:t>
            </a:r>
          </a:p>
          <a:p>
            <a:r>
              <a:rPr lang="en-NG" dirty="0"/>
              <a:t>Such skewed distributions can make it difficult for machine learning models to learn meaningful patterns because extreme values dominate the feature range.</a:t>
            </a:r>
          </a:p>
          <a:p>
            <a:r>
              <a:rPr lang="en-NG" dirty="0"/>
              <a:t>To address this issue, I applied a logarithmic transformation using </a:t>
            </a:r>
            <a:r>
              <a:rPr lang="en-NG" sz="1200" kern="1200" dirty="0">
                <a:solidFill>
                  <a:schemeClr val="tx1"/>
                </a:solidFill>
                <a:latin typeface="+mn-lt"/>
                <a:ea typeface="+mn-ea"/>
                <a:cs typeface="+mn-cs"/>
              </a:rPr>
              <a:t>log1p</a:t>
            </a:r>
            <a:r>
              <a:rPr lang="en-NG" dirty="0"/>
              <a:t>, creating the features </a:t>
            </a:r>
            <a:r>
              <a:rPr lang="en-NG" sz="1200" kern="1200" dirty="0">
                <a:solidFill>
                  <a:schemeClr val="tx1"/>
                </a:solidFill>
                <a:latin typeface="+mn-lt"/>
                <a:ea typeface="+mn-ea"/>
                <a:cs typeface="+mn-cs"/>
              </a:rPr>
              <a:t>capital-gain-log</a:t>
            </a:r>
            <a:r>
              <a:rPr lang="en-NG" dirty="0"/>
              <a:t> and </a:t>
            </a:r>
            <a:r>
              <a:rPr lang="en-NG" sz="1200" kern="1200" dirty="0">
                <a:solidFill>
                  <a:schemeClr val="tx1"/>
                </a:solidFill>
                <a:latin typeface="+mn-lt"/>
                <a:ea typeface="+mn-ea"/>
                <a:cs typeface="+mn-cs"/>
              </a:rPr>
              <a:t>capital-loss-log</a:t>
            </a:r>
            <a:r>
              <a:rPr lang="en-NG" dirty="0"/>
              <a:t>. This reduced skewness, improved the distribution of the variables, and ultimately produced some of the most important predictors in the final models.</a:t>
            </a:r>
          </a:p>
          <a:p>
            <a:endParaRPr lang="en-US" dirty="0"/>
          </a:p>
        </p:txBody>
      </p:sp>
      <p:sp>
        <p:nvSpPr>
          <p:cNvPr id="4" name="Slide Number Placeholder 3">
            <a:extLst>
              <a:ext uri="{FF2B5EF4-FFF2-40B4-BE49-F238E27FC236}">
                <a16:creationId xmlns:a16="http://schemas.microsoft.com/office/drawing/2014/main" id="{0FDCCCE5-692F-4974-1FA8-75C571324E4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65043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703C6-A652-2448-7C5A-3D7E833E6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5D9ED-D5AC-120A-FD86-DAF65B39E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4AAC2-0BF6-ECF7-1EC3-43B1E0C34704}"/>
              </a:ext>
            </a:extLst>
          </p:cNvPr>
          <p:cNvSpPr>
            <a:spLocks noGrp="1"/>
          </p:cNvSpPr>
          <p:nvPr>
            <p:ph type="body" idx="1"/>
          </p:nvPr>
        </p:nvSpPr>
        <p:spPr/>
        <p:txBody>
          <a:bodyPr/>
          <a:lstStyle/>
          <a:p>
            <a:r>
              <a:rPr lang="en-NG" dirty="0"/>
              <a:t>In this section, I transformed some raw variables into more meaningful features. The goal was to reduce complexity, improve model learning, and make the feature space more interpretable.</a:t>
            </a:r>
            <a:endParaRPr lang="en-US" dirty="0"/>
          </a:p>
        </p:txBody>
      </p:sp>
      <p:sp>
        <p:nvSpPr>
          <p:cNvPr id="4" name="Slide Number Placeholder 3">
            <a:extLst>
              <a:ext uri="{FF2B5EF4-FFF2-40B4-BE49-F238E27FC236}">
                <a16:creationId xmlns:a16="http://schemas.microsoft.com/office/drawing/2014/main" id="{9EC6AF07-3FD3-3F33-1AB9-6C54967D12B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943213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346D9-73F5-A74F-B744-596E8C39B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61045-1571-29C7-1043-D68DE803C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0EA13-C18D-3E7F-69C2-165D66440150}"/>
              </a:ext>
            </a:extLst>
          </p:cNvPr>
          <p:cNvSpPr>
            <a:spLocks noGrp="1"/>
          </p:cNvSpPr>
          <p:nvPr>
            <p:ph type="body" idx="1"/>
          </p:nvPr>
        </p:nvSpPr>
        <p:spPr/>
        <p:txBody>
          <a:bodyPr/>
          <a:lstStyle/>
          <a:p>
            <a:r>
              <a:rPr lang="en-NG" dirty="0"/>
              <a:t>I grouped detailed education categories into broader levels. This reduced sparsity and made the feature easier to interpret while still preserving the relationship between education and income.</a:t>
            </a:r>
            <a:endParaRPr lang="en-US" dirty="0"/>
          </a:p>
        </p:txBody>
      </p:sp>
      <p:sp>
        <p:nvSpPr>
          <p:cNvPr id="4" name="Slide Number Placeholder 3">
            <a:extLst>
              <a:ext uri="{FF2B5EF4-FFF2-40B4-BE49-F238E27FC236}">
                <a16:creationId xmlns:a16="http://schemas.microsoft.com/office/drawing/2014/main" id="{EA85E6CF-75F4-E72D-662D-C4523698874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851301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4C06E-D851-CB08-61E6-980D83F8D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0F151-265A-F8B7-BBC9-F53C22268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28D7F-0F02-B644-7427-9E3E1A9CF2F3}"/>
              </a:ext>
            </a:extLst>
          </p:cNvPr>
          <p:cNvSpPr>
            <a:spLocks noGrp="1"/>
          </p:cNvSpPr>
          <p:nvPr>
            <p:ph type="body" idx="1"/>
          </p:nvPr>
        </p:nvSpPr>
        <p:spPr/>
        <p:txBody>
          <a:bodyPr/>
          <a:lstStyle/>
          <a:p>
            <a:r>
              <a:rPr lang="en-NG" dirty="0"/>
              <a:t>Since most observations came from the United States, I grouped native country into United States and Other. This reduced high cardinality and helped avoid sparse one-hot encoded features.</a:t>
            </a:r>
            <a:endParaRPr lang="en-US" dirty="0"/>
          </a:p>
        </p:txBody>
      </p:sp>
      <p:sp>
        <p:nvSpPr>
          <p:cNvPr id="4" name="Slide Number Placeholder 3">
            <a:extLst>
              <a:ext uri="{FF2B5EF4-FFF2-40B4-BE49-F238E27FC236}">
                <a16:creationId xmlns:a16="http://schemas.microsoft.com/office/drawing/2014/main" id="{A7B4719D-5654-FCD2-CF46-C009A0C9FF4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764481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40D62-7065-00A3-E812-8B1034F27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5100E-4C22-99BE-C80F-3B59E921C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B3C74-EACB-8C96-A3C9-50A6BE251B91}"/>
              </a:ext>
            </a:extLst>
          </p:cNvPr>
          <p:cNvSpPr>
            <a:spLocks noGrp="1"/>
          </p:cNvSpPr>
          <p:nvPr>
            <p:ph type="body" idx="1"/>
          </p:nvPr>
        </p:nvSpPr>
        <p:spPr/>
        <p:txBody>
          <a:bodyPr/>
          <a:lstStyle/>
          <a:p>
            <a:r>
              <a:rPr lang="en-NG" dirty="0"/>
              <a:t>Most people had zero capital gain or loss. I created binary indicators to capture whether a person had any capital gain or loss at all. This gives the model a simple signal about investment activity.</a:t>
            </a:r>
            <a:endParaRPr lang="en-US" dirty="0"/>
          </a:p>
        </p:txBody>
      </p:sp>
      <p:sp>
        <p:nvSpPr>
          <p:cNvPr id="4" name="Slide Number Placeholder 3">
            <a:extLst>
              <a:ext uri="{FF2B5EF4-FFF2-40B4-BE49-F238E27FC236}">
                <a16:creationId xmlns:a16="http://schemas.microsoft.com/office/drawing/2014/main" id="{BB5215CA-B445-5184-B2AE-CADADE768A1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997209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A1D7-2898-6206-4504-A87C25B23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CB6D-728E-A069-BD3F-3D92C3192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74C9C-1225-67F9-506C-086B54E3E54D}"/>
              </a:ext>
            </a:extLst>
          </p:cNvPr>
          <p:cNvSpPr>
            <a:spLocks noGrp="1"/>
          </p:cNvSpPr>
          <p:nvPr>
            <p:ph type="body" idx="1"/>
          </p:nvPr>
        </p:nvSpPr>
        <p:spPr/>
        <p:txBody>
          <a:bodyPr/>
          <a:lstStyle/>
          <a:p>
            <a:r>
              <a:rPr lang="en-NG" dirty="0"/>
              <a:t>Capital gain and capital loss were extremely skewed. Instead of removing extreme values, I kept them because they are valid observations and applied log transformation to compress large values while preserving information.</a:t>
            </a:r>
            <a:endParaRPr lang="en-US" dirty="0"/>
          </a:p>
        </p:txBody>
      </p:sp>
      <p:sp>
        <p:nvSpPr>
          <p:cNvPr id="4" name="Slide Number Placeholder 3">
            <a:extLst>
              <a:ext uri="{FF2B5EF4-FFF2-40B4-BE49-F238E27FC236}">
                <a16:creationId xmlns:a16="http://schemas.microsoft.com/office/drawing/2014/main" id="{05A7744C-8EFF-54DF-3E15-FEE6708FED0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730630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SMOTE improved minority-class detection, but the original dataset achieved stronger overall generalization and was selected for the final modeling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CFB69-E4C0-14F4-74AC-8D9AF578A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79F18-FB6C-6D62-8C22-6841519CD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8B58DC-9597-1D7A-8ACA-9315FADC5B1A}"/>
              </a:ext>
            </a:extLst>
          </p:cNvPr>
          <p:cNvSpPr>
            <a:spLocks noGrp="1"/>
          </p:cNvSpPr>
          <p:nvPr>
            <p:ph type="body" idx="1"/>
          </p:nvPr>
        </p:nvSpPr>
        <p:spPr/>
        <p:txBody>
          <a:bodyPr/>
          <a:lstStyle/>
          <a:p>
            <a:r>
              <a:rPr lang="en-NG" dirty="0"/>
              <a:t>I first evaluated Logistic Regression and Decision Tree because they are highly interpretable models. Logistic Regression provides feature coefficients that show how variables influence income predictions, while Decision Trees provide explicit decision rules that can be visualized and explained. These models serve as strong baselines and help us understand the trade-off between interpretability and predictive performance.</a:t>
            </a:r>
            <a:endParaRPr lang="en-US" dirty="0"/>
          </a:p>
        </p:txBody>
      </p:sp>
      <p:sp>
        <p:nvSpPr>
          <p:cNvPr id="4" name="Slide Number Placeholder 3">
            <a:extLst>
              <a:ext uri="{FF2B5EF4-FFF2-40B4-BE49-F238E27FC236}">
                <a16:creationId xmlns:a16="http://schemas.microsoft.com/office/drawing/2014/main" id="{5110F715-ADBD-CF7E-1272-4CB751F0524F}"/>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17272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38FA7-7CDA-2832-3774-27E6F667B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3655D-A151-5759-5BC8-F28BD45B6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EBEDA-A566-5505-0840-D724CD98DA4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G" dirty="0"/>
              <a:t>I then evaluated Random Forest and Gradient Boosting, which are ensemble learning methods designed to improve predictive performance. Random Forest combines multiple decision trees to reduce overfitting and improve robustness, while Gradient Boosting sequentially corrects prediction errors to build a stronger model. These models allow us to compare the performance gains achieved by more complex ensemble approaches against simpler interpretable models.</a:t>
            </a:r>
          </a:p>
          <a:p>
            <a:endParaRPr lang="en-US" dirty="0"/>
          </a:p>
        </p:txBody>
      </p:sp>
      <p:sp>
        <p:nvSpPr>
          <p:cNvPr id="4" name="Slide Number Placeholder 3">
            <a:extLst>
              <a:ext uri="{FF2B5EF4-FFF2-40B4-BE49-F238E27FC236}">
                <a16:creationId xmlns:a16="http://schemas.microsoft.com/office/drawing/2014/main" id="{E39A949D-CAF9-9A91-4FB0-0DAF1A2CEF0A}"/>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851392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D0690-BA86-0664-AAB4-8AC07BE34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9D439-E1D1-6A82-5D9E-7661B18324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DD67A-7FB4-73F3-1B14-B82E6E1AF074}"/>
              </a:ext>
            </a:extLst>
          </p:cNvPr>
          <p:cNvSpPr>
            <a:spLocks noGrp="1"/>
          </p:cNvSpPr>
          <p:nvPr>
            <p:ph type="body" idx="1"/>
          </p:nvPr>
        </p:nvSpPr>
        <p:spPr/>
        <p:txBody>
          <a:bodyPr/>
          <a:lstStyle/>
          <a:p>
            <a:r>
              <a:rPr lang="en-NG" dirty="0"/>
              <a:t>After preprocessing and feature engineering, I trained four machine learning models. To ensure a fair comparison, all models used the same training and testing sets as well as the same preprocessing pipeline. Hyperparameters were optimized using GridSearchCV with 5-fold cross-validation before evaluating performance on the unseen test set.</a:t>
            </a:r>
            <a:endParaRPr lang="en-US" dirty="0"/>
          </a:p>
        </p:txBody>
      </p:sp>
      <p:sp>
        <p:nvSpPr>
          <p:cNvPr id="4" name="Slide Number Placeholder 3">
            <a:extLst>
              <a:ext uri="{FF2B5EF4-FFF2-40B4-BE49-F238E27FC236}">
                <a16:creationId xmlns:a16="http://schemas.microsoft.com/office/drawing/2014/main" id="{316EE94F-337A-53C3-AE4F-E0D0264D80A7}"/>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2821500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4F0F-862C-DED6-81F5-DCCC35BD8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D1DA6-1CCB-C59F-59F2-1E67CB73F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D8DCD-9154-1C4A-5639-CBD9D7859B3F}"/>
              </a:ext>
            </a:extLst>
          </p:cNvPr>
          <p:cNvSpPr>
            <a:spLocks noGrp="1"/>
          </p:cNvSpPr>
          <p:nvPr>
            <p:ph type="body" idx="1"/>
          </p:nvPr>
        </p:nvSpPr>
        <p:spPr/>
        <p:txBody>
          <a:bodyPr/>
          <a:lstStyle/>
          <a:p>
            <a:r>
              <a:rPr lang="en-NG" dirty="0"/>
              <a:t>This chart compares the performance of all tuned models. Ensemble learning methods clearly outperformed the individual models. Gradient Boosting consistently achieved the strongest results across nearly all evaluation metrics, while Random Forest achieved the highest Precision. Logistic Regression and Decision Tree provided lower performance but offered greater interpretability.</a:t>
            </a:r>
          </a:p>
        </p:txBody>
      </p:sp>
      <p:sp>
        <p:nvSpPr>
          <p:cNvPr id="4" name="Slide Number Placeholder 3">
            <a:extLst>
              <a:ext uri="{FF2B5EF4-FFF2-40B4-BE49-F238E27FC236}">
                <a16:creationId xmlns:a16="http://schemas.microsoft.com/office/drawing/2014/main" id="{36E69267-58A7-4DF6-9657-D5665482263F}"/>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916718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1170-0A74-0D79-95BD-8544D87C7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94F4F-3F58-5F97-8096-5C74F41DB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B0208-936F-0494-E6BB-0F4AADF2E74B}"/>
              </a:ext>
            </a:extLst>
          </p:cNvPr>
          <p:cNvSpPr>
            <a:spLocks noGrp="1"/>
          </p:cNvSpPr>
          <p:nvPr>
            <p:ph type="body" idx="1"/>
          </p:nvPr>
        </p:nvSpPr>
        <p:spPr/>
        <p:txBody>
          <a:bodyPr/>
          <a:lstStyle/>
          <a:p>
            <a:r>
              <a:rPr lang="en-NG" dirty="0"/>
              <a:t>This chart compares the performance of all tuned models. Ensemble learning methods clearly outperformed the individual models. Gradient Boosting consistently achieved the strongest results across nearly all evaluation metrics, while Random Forest achieved the highest Precision. Logistic Regression and Decision Tree provided lower performance but offered greater interpretability.</a:t>
            </a:r>
          </a:p>
        </p:txBody>
      </p:sp>
      <p:sp>
        <p:nvSpPr>
          <p:cNvPr id="4" name="Slide Number Placeholder 3">
            <a:extLst>
              <a:ext uri="{FF2B5EF4-FFF2-40B4-BE49-F238E27FC236}">
                <a16:creationId xmlns:a16="http://schemas.microsoft.com/office/drawing/2014/main" id="{8569CFA5-6FCB-9134-BF9E-FF7A4A3FC583}"/>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9123694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2D23C-6988-D5FC-75B5-A1F0326F7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86F64-29CF-6039-C923-2CB05559D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23D5D-83C7-AE04-B2B1-A6D55D7500F1}"/>
              </a:ext>
            </a:extLst>
          </p:cNvPr>
          <p:cNvSpPr>
            <a:spLocks noGrp="1"/>
          </p:cNvSpPr>
          <p:nvPr>
            <p:ph type="body" idx="1"/>
          </p:nvPr>
        </p:nvSpPr>
        <p:spPr/>
        <p:txBody>
          <a:bodyPr/>
          <a:lstStyle/>
          <a:p>
            <a:r>
              <a:rPr lang="en-NG" dirty="0"/>
              <a:t>This slide compares the ROC curves of all evaluated models.</a:t>
            </a:r>
          </a:p>
          <a:p>
            <a:r>
              <a:rPr lang="en-NG" dirty="0"/>
              <a:t>The ROC curve illustrates the trade-off between the True Positive Rate, or Recall, and the False Positive Rate across different classification thresholds.</a:t>
            </a:r>
          </a:p>
          <a:p>
            <a:r>
              <a:rPr lang="en-NG" dirty="0"/>
              <a:t>The Area Under the Curve, or ROC-AUC, summarizes the model's ability to distinguish between the two income classes regardless of the chosen threshold.</a:t>
            </a:r>
          </a:p>
          <a:p>
            <a:r>
              <a:rPr lang="en-NG" dirty="0"/>
              <a:t>Gradient Boosting achieved the highest ROC-AUC value of approximately 0.925, indicating the strongest class-separation capability among all evaluated models.</a:t>
            </a:r>
          </a:p>
          <a:p>
            <a:r>
              <a:rPr lang="en-NG" dirty="0"/>
              <a:t>Random Forest achieved the second-highest ROC-AUC and also demonstrated strong discrimination performance.</a:t>
            </a:r>
          </a:p>
          <a:p>
            <a:r>
              <a:rPr lang="en-NG" dirty="0"/>
              <a:t>Interestingly, all models achieved ROC-AUC values above 0.90, suggesting that the dataset contains meaningful predictive patterns that can be learned effectively.</a:t>
            </a:r>
          </a:p>
          <a:p>
            <a:r>
              <a:rPr lang="en-NG" dirty="0"/>
              <a:t>The superior ROC-AUC achieved by Gradient Boosting further supports its selection as the final model for this project.</a:t>
            </a:r>
          </a:p>
          <a:p>
            <a:endParaRPr lang="en-NG" dirty="0"/>
          </a:p>
        </p:txBody>
      </p:sp>
      <p:sp>
        <p:nvSpPr>
          <p:cNvPr id="4" name="Slide Number Placeholder 3">
            <a:extLst>
              <a:ext uri="{FF2B5EF4-FFF2-40B4-BE49-F238E27FC236}">
                <a16:creationId xmlns:a16="http://schemas.microsoft.com/office/drawing/2014/main" id="{FD181227-338D-0279-043E-B0E285BCFA19}"/>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871437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49C97-5187-B7FA-5ED7-1F989FDBC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15CB1-BE4C-D2F8-D229-EA5752219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295CD-952C-2596-FA69-0B91EC524B8B}"/>
              </a:ext>
            </a:extLst>
          </p:cNvPr>
          <p:cNvSpPr>
            <a:spLocks noGrp="1"/>
          </p:cNvSpPr>
          <p:nvPr>
            <p:ph type="body" idx="1"/>
          </p:nvPr>
        </p:nvSpPr>
        <p:spPr/>
        <p:txBody>
          <a:bodyPr/>
          <a:lstStyle/>
          <a:p>
            <a:r>
              <a:rPr lang="en-NG" dirty="0"/>
              <a:t>The model achieved a strong balance between correctly identifying high-income individuals and avoiding incorrect positive predictions.</a:t>
            </a:r>
          </a:p>
        </p:txBody>
      </p:sp>
      <p:sp>
        <p:nvSpPr>
          <p:cNvPr id="4" name="Slide Number Placeholder 3">
            <a:extLst>
              <a:ext uri="{FF2B5EF4-FFF2-40B4-BE49-F238E27FC236}">
                <a16:creationId xmlns:a16="http://schemas.microsoft.com/office/drawing/2014/main" id="{7A99B7A1-691B-F506-4D1F-63FFBF0597C7}"/>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0518038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FF874-D348-3BD8-4A73-822DE8EFD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1C1D9-7919-ACF1-3E6E-9621D678E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36989-B844-8DC2-43E3-FDB2F54F7D45}"/>
              </a:ext>
            </a:extLst>
          </p:cNvPr>
          <p:cNvSpPr>
            <a:spLocks noGrp="1"/>
          </p:cNvSpPr>
          <p:nvPr>
            <p:ph type="body" idx="1"/>
          </p:nvPr>
        </p:nvSpPr>
        <p:spPr/>
        <p:txBody>
          <a:bodyPr/>
          <a:lstStyle/>
          <a:p>
            <a:r>
              <a:rPr lang="en-NG" dirty="0"/>
              <a:t>To better understand the behavior of the final Gradient Boosting model, I used SHAP, which stands for SHapley Additive exPlanations.</a:t>
            </a:r>
          </a:p>
          <a:p>
            <a:r>
              <a:rPr lang="en-NG" dirty="0"/>
              <a:t>SHAP is a model-agnostic interpretability technique that explains how each feature contributes to predictions. Unlike traditional feature importance methods, SHAP not only shows which features are important but also whether they increase or decrease the likelihood of predicting the high-income class.</a:t>
            </a:r>
          </a:p>
          <a:p>
            <a:r>
              <a:rPr lang="en-NG" dirty="0"/>
              <a:t>The results show that marital status, age, education level, capital gain, and hours worked per week were among the most influential factors affecting income predictions.</a:t>
            </a:r>
          </a:p>
          <a:p>
            <a:r>
              <a:rPr lang="en-NG" dirty="0"/>
              <a:t>For example, being married, having higher educational attainment, higher capital gains, and working more hours generally increased the probability of belonging to the high-income class.</a:t>
            </a:r>
          </a:p>
          <a:p>
            <a:r>
              <a:rPr lang="en-NG" dirty="0"/>
              <a:t>The SHAP analysis provides transparency into the model's decision-making process and confirms that the model learned meaningful socioeconomic patterns rather than relying on arbitrary relationships.</a:t>
            </a:r>
          </a:p>
        </p:txBody>
      </p:sp>
      <p:sp>
        <p:nvSpPr>
          <p:cNvPr id="4" name="Slide Number Placeholder 3">
            <a:extLst>
              <a:ext uri="{FF2B5EF4-FFF2-40B4-BE49-F238E27FC236}">
                <a16:creationId xmlns:a16="http://schemas.microsoft.com/office/drawing/2014/main" id="{A75B5EFD-6605-7A10-DD6E-FE33DFB3E8B4}"/>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80583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34D29-500B-5099-B7DF-E7C4E170A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E705C-39BE-C5DE-F34B-3CBA2B2C3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F9C97-022A-8807-1299-4F1C2F3DC145}"/>
              </a:ext>
            </a:extLst>
          </p:cNvPr>
          <p:cNvSpPr>
            <a:spLocks noGrp="1"/>
          </p:cNvSpPr>
          <p:nvPr>
            <p:ph type="body" idx="1"/>
          </p:nvPr>
        </p:nvSpPr>
        <p:spPr/>
        <p:txBody>
          <a:bodyPr/>
          <a:lstStyle/>
          <a:p>
            <a:r>
              <a:rPr lang="en-NG" dirty="0"/>
              <a:t>This slide presents the feature importance analysis from the final Gradient Boosting model.</a:t>
            </a:r>
          </a:p>
          <a:p>
            <a:r>
              <a:rPr lang="en-NG" dirty="0"/>
              <a:t>Feature importance helps us understand which variables contributed most to the model's predictions.</a:t>
            </a:r>
          </a:p>
          <a:p>
            <a:r>
              <a:rPr lang="en-NG" dirty="0"/>
              <a:t>The results show that marital status was the most influential feature, followed by education level, capital gain, age, and hours worked per week.</a:t>
            </a:r>
          </a:p>
          <a:p>
            <a:r>
              <a:rPr lang="en-NG" dirty="0"/>
              <a:t>These findings are consistent with real-world socioeconomic patterns. Individuals with higher education, greater investment income, more work experience, and longer working hours are generally more likely to belong to the high-income category.</a:t>
            </a:r>
          </a:p>
          <a:p>
            <a:r>
              <a:rPr lang="en-NG" dirty="0"/>
              <a:t>It is also interesting to observe that both demographic and financial variables contributed significantly to the model's predictions, indicating that income is influenced by multiple interacting factors rather than a single characteristic.</a:t>
            </a:r>
          </a:p>
          <a:p>
            <a:r>
              <a:rPr lang="en-NG" dirty="0"/>
              <a:t>The fact that the most important features are intuitive and economically meaningful increases confidence in the validity of the model and its predictions.</a:t>
            </a:r>
          </a:p>
          <a:p>
            <a:endParaRPr lang="en-NG" dirty="0"/>
          </a:p>
        </p:txBody>
      </p:sp>
      <p:sp>
        <p:nvSpPr>
          <p:cNvPr id="4" name="Slide Number Placeholder 3">
            <a:extLst>
              <a:ext uri="{FF2B5EF4-FFF2-40B4-BE49-F238E27FC236}">
                <a16:creationId xmlns:a16="http://schemas.microsoft.com/office/drawing/2014/main" id="{862CD4C3-8628-A463-8DCE-C1C2B4C04436}"/>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876354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1409-6CF3-5977-9800-E028B9A6C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94BC3-4840-FF56-C7A4-CBE289AB8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5ABA7-5A20-81D1-4248-F11839F8E8F7}"/>
              </a:ext>
            </a:extLst>
          </p:cNvPr>
          <p:cNvSpPr>
            <a:spLocks noGrp="1"/>
          </p:cNvSpPr>
          <p:nvPr>
            <p:ph type="body" idx="1"/>
          </p:nvPr>
        </p:nvSpPr>
        <p:spPr/>
        <p:txBody>
          <a:bodyPr/>
          <a:lstStyle/>
          <a:p>
            <a:r>
              <a:rPr lang="en-NG" dirty="0"/>
              <a:t>To evaluate the fairness of the final model, I analyzed performance separately for male and female individuals.</a:t>
            </a:r>
          </a:p>
          <a:p>
            <a:r>
              <a:rPr lang="en-NG" dirty="0"/>
              <a:t>The results show that overall performance differed across groups. While the model achieved higher Accuracy for females, it achieved substantially higher Recall and F1-score for males.</a:t>
            </a:r>
          </a:p>
          <a:p>
            <a:r>
              <a:rPr lang="en-NG" dirty="0"/>
              <a:t>This indicates that the model was more effective at identifying high-income males than high-income females.</a:t>
            </a:r>
          </a:p>
          <a:p>
            <a:r>
              <a:rPr lang="en-NG" dirty="0"/>
              <a:t>Although these differences do not necessarily imply intentional discrimination, they demonstrate that predictive performance is not distributed equally across all demographic groups.</a:t>
            </a:r>
          </a:p>
          <a:p>
            <a:r>
              <a:rPr lang="en-NG" dirty="0"/>
              <a:t>This highlights the importance of fairness-aware evaluation when machine learning models are applied to socially sensitive problems.</a:t>
            </a:r>
          </a:p>
        </p:txBody>
      </p:sp>
      <p:sp>
        <p:nvSpPr>
          <p:cNvPr id="4" name="Slide Number Placeholder 3">
            <a:extLst>
              <a:ext uri="{FF2B5EF4-FFF2-40B4-BE49-F238E27FC236}">
                <a16:creationId xmlns:a16="http://schemas.microsoft.com/office/drawing/2014/main" id="{11810D59-B3C8-8BA2-6A79-E4BBA7DF5115}"/>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6091038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85EB6-200E-5657-4CE6-0B48F31AB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92941-AC90-5109-CBB9-F07226D2A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D9130-6D67-48AF-FE73-598A4BE9413C}"/>
              </a:ext>
            </a:extLst>
          </p:cNvPr>
          <p:cNvSpPr>
            <a:spLocks noGrp="1"/>
          </p:cNvSpPr>
          <p:nvPr>
            <p:ph type="body" idx="1"/>
          </p:nvPr>
        </p:nvSpPr>
        <p:spPr/>
        <p:txBody>
          <a:bodyPr/>
          <a:lstStyle/>
          <a:p>
            <a:r>
              <a:rPr lang="en-NG" dirty="0"/>
              <a:t>I also evaluated model performance across racial groups.</a:t>
            </a:r>
          </a:p>
          <a:p>
            <a:r>
              <a:rPr lang="en-NG" dirty="0"/>
              <a:t>The results show noticeable differences in Recall and F1-score among demographic groups. The White and Asian-Pac-Islander groups achieved the strongest overall performance, while the Amer-Indian-Eskimo group achieved the lowest Recall and F1-score.</a:t>
            </a:r>
          </a:p>
          <a:p>
            <a:r>
              <a:rPr lang="en-NG" dirty="0"/>
              <a:t>One important factor is sample size. Some groups contain far fewer observations than others, which can make performance estimates less stable and increase variability.</a:t>
            </a:r>
          </a:p>
          <a:p>
            <a:r>
              <a:rPr lang="en-NG" dirty="0"/>
              <a:t>These findings do not prove that the model is discriminatory. However, they demonstrate how machine learning systems can inherit patterns and imbalances present in historical data.</a:t>
            </a:r>
          </a:p>
          <a:p>
            <a:r>
              <a:rPr lang="en-NG" dirty="0"/>
              <a:t>This reinforces the importance of evaluating fairness alongside traditional performance metrics such as Accuracy and F1-score.</a:t>
            </a:r>
          </a:p>
        </p:txBody>
      </p:sp>
      <p:sp>
        <p:nvSpPr>
          <p:cNvPr id="4" name="Slide Number Placeholder 3">
            <a:extLst>
              <a:ext uri="{FF2B5EF4-FFF2-40B4-BE49-F238E27FC236}">
                <a16:creationId xmlns:a16="http://schemas.microsoft.com/office/drawing/2014/main" id="{E2546C85-98D7-C87D-C49A-BAEA62F98C7A}"/>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9190774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3DD22-8FF5-4AAE-6707-C446ED119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45DFB-1806-2798-A809-A0DE7F392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2EDBB-2BC7-9BBB-448B-A8DDF0631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04EBE-95B7-56F5-3824-20CD577A10C2}"/>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399929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87150-9FA0-1803-AFCD-18E980AD0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A7192-88D7-76F5-6928-77F5CA095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389E7-0643-4E6A-3315-8D31CD4AFC9D}"/>
              </a:ext>
            </a:extLst>
          </p:cNvPr>
          <p:cNvSpPr>
            <a:spLocks noGrp="1"/>
          </p:cNvSpPr>
          <p:nvPr>
            <p:ph type="body" idx="1"/>
          </p:nvPr>
        </p:nvSpPr>
        <p:spPr/>
        <p:txBody>
          <a:bodyPr/>
          <a:lstStyle/>
          <a:p>
            <a:r>
              <a:rPr lang="en-NG" dirty="0"/>
              <a:t>Although the project achieved strong predictive performance, several limitations should be acknowledged.</a:t>
            </a:r>
          </a:p>
          <a:p>
            <a:r>
              <a:rPr lang="en-NG" dirty="0"/>
              <a:t>First, the Adult Income dataset is based on the 1994 U.S. Census, meaning some relationships may not accurately represent today's labor market and socioeconomic conditions.</a:t>
            </a:r>
          </a:p>
          <a:p>
            <a:r>
              <a:rPr lang="en-NG" dirty="0"/>
              <a:t>Second, machine learning models identify patterns and correlations within the data, but they cannot establish causal relationships. Therefore, important features should not be interpreted as direct causes of income differences.</a:t>
            </a:r>
          </a:p>
          <a:p>
            <a:r>
              <a:rPr lang="en-NG" dirty="0"/>
              <a:t>Another limitation concerns fairness analysis. Some demographic groups contain relatively few observations, making performance estimates less stable and potentially less reliable.</a:t>
            </a:r>
          </a:p>
          <a:p>
            <a:r>
              <a:rPr lang="en-NG" dirty="0"/>
              <a:t>In addition, hyperparameter tuning was performed using GridSearchCV over a selected search space. While this improved performance significantly, broader optimization strategies could potentially identify even better model configurations.</a:t>
            </a:r>
          </a:p>
          <a:p>
            <a:r>
              <a:rPr lang="en-NG" dirty="0"/>
              <a:t>Finally, fairness evaluation could be expanded by incorporating additional fairness metrics and mitigation techniques.</a:t>
            </a:r>
          </a:p>
          <a:p>
            <a:r>
              <a:rPr lang="en-NG" dirty="0"/>
              <a:t>These limitations highlight opportunities for future work and reflect common challenges encountered in real-world machine learning projects.</a:t>
            </a:r>
          </a:p>
        </p:txBody>
      </p:sp>
      <p:sp>
        <p:nvSpPr>
          <p:cNvPr id="4" name="Slide Number Placeholder 3">
            <a:extLst>
              <a:ext uri="{FF2B5EF4-FFF2-40B4-BE49-F238E27FC236}">
                <a16:creationId xmlns:a16="http://schemas.microsoft.com/office/drawing/2014/main" id="{C3F751E3-A53E-5877-A4E9-401B06B1E31F}"/>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42844395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E2F63-FF7C-A6DF-A4CC-DF2FB1EEA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0CBFA-F0EB-83E9-80E5-EC1835FCD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B4CCE-B7E4-4276-C025-63B0E9D228DE}"/>
              </a:ext>
            </a:extLst>
          </p:cNvPr>
          <p:cNvSpPr>
            <a:spLocks noGrp="1"/>
          </p:cNvSpPr>
          <p:nvPr>
            <p:ph type="body" idx="1"/>
          </p:nvPr>
        </p:nvSpPr>
        <p:spPr/>
        <p:txBody>
          <a:bodyPr/>
          <a:lstStyle/>
          <a:p>
            <a:r>
              <a:rPr lang="en-NG" dirty="0"/>
              <a:t>Although the project achieved strong predictive performance, several limitations should be acknowledged.</a:t>
            </a:r>
          </a:p>
          <a:p>
            <a:r>
              <a:rPr lang="en-NG" dirty="0"/>
              <a:t>First, the Adult Income dataset is based on the 1994 U.S. Census, meaning some relationships may not accurately represent today's labor market and socioeconomic conditions.</a:t>
            </a:r>
          </a:p>
          <a:p>
            <a:r>
              <a:rPr lang="en-NG" dirty="0"/>
              <a:t>Second, machine learning models identify patterns and correlations within the data, but they cannot establish causal relationships. Therefore, important features should not be interpreted as direct causes of income differences.</a:t>
            </a:r>
          </a:p>
          <a:p>
            <a:r>
              <a:rPr lang="en-NG" dirty="0"/>
              <a:t>Another limitation concerns fairness analysis. Some demographic groups contain relatively few observations, making performance estimates less stable and potentially less reliable.</a:t>
            </a:r>
          </a:p>
          <a:p>
            <a:r>
              <a:rPr lang="en-NG" dirty="0"/>
              <a:t>In addition, hyperparameter tuning was performed using GridSearchCV over a selected search space. While this improved performance significantly, broader optimization strategies could potentially identify even better model configurations.</a:t>
            </a:r>
          </a:p>
          <a:p>
            <a:r>
              <a:rPr lang="en-NG" dirty="0"/>
              <a:t>Finally, fairness evaluation could be expanded by incorporating additional fairness metrics and mitigation techniques.</a:t>
            </a:r>
          </a:p>
          <a:p>
            <a:r>
              <a:rPr lang="en-NG" dirty="0"/>
              <a:t>These limitations highlight opportunities for future work and reflect common challenges encountered in real-world machine learning projects.</a:t>
            </a:r>
          </a:p>
        </p:txBody>
      </p:sp>
      <p:sp>
        <p:nvSpPr>
          <p:cNvPr id="4" name="Slide Number Placeholder 3">
            <a:extLst>
              <a:ext uri="{FF2B5EF4-FFF2-40B4-BE49-F238E27FC236}">
                <a16:creationId xmlns:a16="http://schemas.microsoft.com/office/drawing/2014/main" id="{02E8D109-4D0F-089A-4475-F9D4A418DE02}"/>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6337749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D58B8-F815-684A-1BEE-486495A74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263C5-6CE1-60AC-DFFD-A09C7B2A5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40A33-2D30-8FF9-4BB3-9C7C767D51E4}"/>
              </a:ext>
            </a:extLst>
          </p:cNvPr>
          <p:cNvSpPr>
            <a:spLocks noGrp="1"/>
          </p:cNvSpPr>
          <p:nvPr>
            <p:ph type="body" idx="1"/>
          </p:nvPr>
        </p:nvSpPr>
        <p:spPr/>
        <p:txBody>
          <a:bodyPr/>
          <a:lstStyle/>
          <a:p>
            <a:r>
              <a:rPr lang="en-NG" dirty="0"/>
              <a:t>In conclusion, this project successfully developed a complete machine learning pipeline for predicting whether an individual's income exceeds fifty thousand dollars per year.</a:t>
            </a:r>
          </a:p>
          <a:p>
            <a:r>
              <a:rPr lang="en-NG" dirty="0"/>
              <a:t>The project covered all major stages of the data science workflow, including exploratory data analysis, preprocessing, feature engineering, class imbalance analysis, model training, hyperparameter optimization, evaluation, interpretability analysis, and fairness assessment.</a:t>
            </a:r>
          </a:p>
          <a:p>
            <a:r>
              <a:rPr lang="en-NG" dirty="0"/>
              <a:t>Among the evaluated models, Gradient Boosting achieved the best overall performance, with an Accuracy of 86.9%, an F1-score of 70.1%, and a ROC-AUC of 92.5%.</a:t>
            </a:r>
          </a:p>
          <a:p>
            <a:r>
              <a:rPr lang="en-NG" dirty="0"/>
              <a:t>The interpretability analysis showed that marital status, education, capital gain, age, and hours worked per week were the most influential predictors of income. Additionally, the fairness evaluation demonstrated that strong overall performance does not necessarily imply equal performance across demographic groups.</a:t>
            </a:r>
          </a:p>
          <a:p>
            <a:r>
              <a:rPr lang="en-NG" dirty="0"/>
              <a:t>Overall, the project demonstrates how machine learning can effectively model complex socioeconomic patterns while highlighting the importance of interpretability, fairness, and responsible AI practices in real-world applications.</a:t>
            </a:r>
          </a:p>
          <a:p>
            <a:endParaRPr lang="en-NG" dirty="0"/>
          </a:p>
        </p:txBody>
      </p:sp>
      <p:sp>
        <p:nvSpPr>
          <p:cNvPr id="4" name="Slide Number Placeholder 3">
            <a:extLst>
              <a:ext uri="{FF2B5EF4-FFF2-40B4-BE49-F238E27FC236}">
                <a16:creationId xmlns:a16="http://schemas.microsoft.com/office/drawing/2014/main" id="{B849B179-12E3-7171-7AC3-CB59B2C2702B}"/>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328897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18288" y="3954"/>
            <a:ext cx="5029200" cy="5143500"/>
          </a:xfrm>
          <a:prstGeom prst="rect">
            <a:avLst/>
          </a:prstGeom>
          <a:solidFill>
            <a:srgbClr val="EBF4FB"/>
          </a:solidFill>
          <a:ln w="12700">
            <a:solidFill>
              <a:srgbClr val="EBF4FB"/>
            </a:solidFill>
            <a:prstDash val="solid"/>
          </a:ln>
        </p:spPr>
        <p:txBody>
          <a:bodyPr/>
          <a:lstStyle/>
          <a:p>
            <a:endParaRPr lang="en-NG"/>
          </a:p>
        </p:txBody>
      </p:sp>
      <p:sp>
        <p:nvSpPr>
          <p:cNvPr id="4" name="Text 2"/>
          <p:cNvSpPr/>
          <p:nvPr/>
        </p:nvSpPr>
        <p:spPr>
          <a:xfrm>
            <a:off x="283464" y="1770381"/>
            <a:ext cx="4553712" cy="1188720"/>
          </a:xfrm>
          <a:prstGeom prst="rect">
            <a:avLst/>
          </a:prstGeom>
          <a:noFill/>
          <a:ln/>
        </p:spPr>
        <p:txBody>
          <a:bodyPr wrap="square"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Adult Income Classification Using Machine Learning</a:t>
            </a:r>
            <a:endParaRPr lang="en-US" sz="3000" dirty="0"/>
          </a:p>
        </p:txBody>
      </p:sp>
      <p:sp>
        <p:nvSpPr>
          <p:cNvPr id="6" name="Shape 4"/>
          <p:cNvSpPr/>
          <p:nvPr/>
        </p:nvSpPr>
        <p:spPr>
          <a:xfrm>
            <a:off x="365760" y="3108960"/>
            <a:ext cx="4114800" cy="0"/>
          </a:xfrm>
          <a:prstGeom prst="line">
            <a:avLst/>
          </a:prstGeom>
          <a:noFill/>
          <a:ln w="25400">
            <a:solidFill>
              <a:srgbClr val="E8922A"/>
            </a:solidFill>
            <a:prstDash val="solid"/>
          </a:ln>
        </p:spPr>
        <p:txBody>
          <a:bodyPr/>
          <a:lstStyle/>
          <a:p>
            <a:endParaRPr lang="en-NG"/>
          </a:p>
        </p:txBody>
      </p:sp>
      <p:sp>
        <p:nvSpPr>
          <p:cNvPr id="7" name="Text 5"/>
          <p:cNvSpPr/>
          <p:nvPr/>
        </p:nvSpPr>
        <p:spPr>
          <a:xfrm>
            <a:off x="365760" y="3291840"/>
            <a:ext cx="4389120" cy="36576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Buhari Nasir Ahmad</a:t>
            </a:r>
            <a:endParaRPr lang="en-US" sz="1500" dirty="0"/>
          </a:p>
        </p:txBody>
      </p:sp>
      <p:sp>
        <p:nvSpPr>
          <p:cNvPr id="8" name="Text 6"/>
          <p:cNvSpPr/>
          <p:nvPr/>
        </p:nvSpPr>
        <p:spPr>
          <a:xfrm>
            <a:off x="365760" y="3703320"/>
            <a:ext cx="4389120" cy="59436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Topics on Machine Learning and its Applications</a:t>
            </a:r>
            <a:endParaRPr lang="en-US" sz="1200" dirty="0"/>
          </a:p>
        </p:txBody>
      </p:sp>
      <p:sp>
        <p:nvSpPr>
          <p:cNvPr id="9" name="Text 7"/>
          <p:cNvSpPr/>
          <p:nvPr/>
        </p:nvSpPr>
        <p:spPr>
          <a:xfrm>
            <a:off x="365760" y="4434840"/>
            <a:ext cx="4389120" cy="320040"/>
          </a:xfrm>
          <a:prstGeom prst="rect">
            <a:avLst/>
          </a:prstGeom>
          <a:noFill/>
          <a:ln/>
        </p:spPr>
        <p:txBody>
          <a:bodyPr wrap="square" rtlCol="0" anchor="ctr"/>
          <a:lstStyle/>
          <a:p>
            <a:pPr marL="0" indent="0">
              <a:buNone/>
            </a:pPr>
            <a:r>
              <a:rPr lang="en-US" sz="1100" i="1" dirty="0">
                <a:solidFill>
                  <a:srgbClr val="4A90C4"/>
                </a:solidFill>
                <a:latin typeface="Calibri" pitchFamily="34" charset="0"/>
                <a:ea typeface="Calibri" pitchFamily="34" charset="-122"/>
                <a:cs typeface="Calibri" pitchFamily="34" charset="-120"/>
              </a:rPr>
              <a:t>Data Science Project Presentation</a:t>
            </a:r>
            <a:endParaRPr lang="en-US" sz="1100" dirty="0"/>
          </a:p>
        </p:txBody>
      </p:sp>
      <p:sp>
        <p:nvSpPr>
          <p:cNvPr id="10" name="Shape 8"/>
          <p:cNvSpPr/>
          <p:nvPr/>
        </p:nvSpPr>
        <p:spPr>
          <a:xfrm>
            <a:off x="5029200" y="0"/>
            <a:ext cx="4114800" cy="5143500"/>
          </a:xfrm>
          <a:prstGeom prst="rect">
            <a:avLst/>
          </a:prstGeom>
          <a:solidFill>
            <a:srgbClr val="D8EAF5"/>
          </a:solidFill>
          <a:ln w="12700">
            <a:solidFill>
              <a:srgbClr val="D8EAF5"/>
            </a:solidFill>
            <a:prstDash val="solid"/>
          </a:ln>
        </p:spPr>
        <p:txBody>
          <a:bodyPr/>
          <a:lstStyle/>
          <a:p>
            <a:endParaRPr lang="en-NG"/>
          </a:p>
        </p:txBody>
      </p:sp>
      <p:sp>
        <p:nvSpPr>
          <p:cNvPr id="11" name="Shape 9"/>
          <p:cNvSpPr/>
          <p:nvPr/>
        </p:nvSpPr>
        <p:spPr>
          <a:xfrm>
            <a:off x="6108192" y="621792"/>
            <a:ext cx="219456" cy="219456"/>
          </a:xfrm>
          <a:prstGeom prst="ellipse">
            <a:avLst/>
          </a:prstGeom>
          <a:solidFill>
            <a:srgbClr val="4A90C4"/>
          </a:solidFill>
          <a:ln w="12700">
            <a:solidFill>
              <a:srgbClr val="4A90C4"/>
            </a:solidFill>
            <a:prstDash val="solid"/>
          </a:ln>
        </p:spPr>
        <p:txBody>
          <a:bodyPr/>
          <a:lstStyle/>
          <a:p>
            <a:endParaRPr lang="en-NG"/>
          </a:p>
        </p:txBody>
      </p:sp>
      <p:sp>
        <p:nvSpPr>
          <p:cNvPr id="12" name="Shape 10"/>
          <p:cNvSpPr/>
          <p:nvPr/>
        </p:nvSpPr>
        <p:spPr>
          <a:xfrm>
            <a:off x="7388352" y="987552"/>
            <a:ext cx="219456" cy="219456"/>
          </a:xfrm>
          <a:prstGeom prst="ellipse">
            <a:avLst/>
          </a:prstGeom>
          <a:solidFill>
            <a:srgbClr val="4A90C4"/>
          </a:solidFill>
          <a:ln w="12700">
            <a:solidFill>
              <a:srgbClr val="4A90C4"/>
            </a:solidFill>
            <a:prstDash val="solid"/>
          </a:ln>
        </p:spPr>
        <p:txBody>
          <a:bodyPr/>
          <a:lstStyle/>
          <a:p>
            <a:endParaRPr lang="en-NG"/>
          </a:p>
        </p:txBody>
      </p:sp>
      <p:sp>
        <p:nvSpPr>
          <p:cNvPr id="13" name="Shape 11"/>
          <p:cNvSpPr/>
          <p:nvPr/>
        </p:nvSpPr>
        <p:spPr>
          <a:xfrm>
            <a:off x="6748272" y="1810512"/>
            <a:ext cx="219456" cy="219456"/>
          </a:xfrm>
          <a:prstGeom prst="ellipse">
            <a:avLst/>
          </a:prstGeom>
          <a:solidFill>
            <a:srgbClr val="4A90C4"/>
          </a:solidFill>
          <a:ln w="12700">
            <a:solidFill>
              <a:srgbClr val="4A90C4"/>
            </a:solidFill>
            <a:prstDash val="solid"/>
          </a:ln>
        </p:spPr>
        <p:txBody>
          <a:bodyPr/>
          <a:lstStyle/>
          <a:p>
            <a:endParaRPr lang="en-NG"/>
          </a:p>
        </p:txBody>
      </p:sp>
      <p:sp>
        <p:nvSpPr>
          <p:cNvPr id="14" name="Shape 12"/>
          <p:cNvSpPr/>
          <p:nvPr/>
        </p:nvSpPr>
        <p:spPr>
          <a:xfrm>
            <a:off x="5559552" y="2450592"/>
            <a:ext cx="219456" cy="219456"/>
          </a:xfrm>
          <a:prstGeom prst="ellipse">
            <a:avLst/>
          </a:prstGeom>
          <a:solidFill>
            <a:srgbClr val="4A90C4"/>
          </a:solidFill>
          <a:ln w="12700">
            <a:solidFill>
              <a:srgbClr val="4A90C4"/>
            </a:solidFill>
            <a:prstDash val="solid"/>
          </a:ln>
        </p:spPr>
        <p:txBody>
          <a:bodyPr/>
          <a:lstStyle/>
          <a:p>
            <a:endParaRPr lang="en-NG"/>
          </a:p>
        </p:txBody>
      </p:sp>
      <p:sp>
        <p:nvSpPr>
          <p:cNvPr id="15" name="Shape 13"/>
          <p:cNvSpPr/>
          <p:nvPr/>
        </p:nvSpPr>
        <p:spPr>
          <a:xfrm>
            <a:off x="7936992" y="2176272"/>
            <a:ext cx="219456" cy="219456"/>
          </a:xfrm>
          <a:prstGeom prst="ellipse">
            <a:avLst/>
          </a:prstGeom>
          <a:solidFill>
            <a:srgbClr val="4A90C4"/>
          </a:solidFill>
          <a:ln w="12700">
            <a:solidFill>
              <a:srgbClr val="4A90C4"/>
            </a:solidFill>
            <a:prstDash val="solid"/>
          </a:ln>
        </p:spPr>
        <p:txBody>
          <a:bodyPr/>
          <a:lstStyle/>
          <a:p>
            <a:endParaRPr lang="en-NG"/>
          </a:p>
        </p:txBody>
      </p:sp>
      <p:sp>
        <p:nvSpPr>
          <p:cNvPr id="16" name="Shape 14"/>
          <p:cNvSpPr/>
          <p:nvPr/>
        </p:nvSpPr>
        <p:spPr>
          <a:xfrm>
            <a:off x="6291072" y="3182112"/>
            <a:ext cx="219456" cy="219456"/>
          </a:xfrm>
          <a:prstGeom prst="ellipse">
            <a:avLst/>
          </a:prstGeom>
          <a:solidFill>
            <a:srgbClr val="4A90C4"/>
          </a:solidFill>
          <a:ln w="12700">
            <a:solidFill>
              <a:srgbClr val="4A90C4"/>
            </a:solidFill>
            <a:prstDash val="solid"/>
          </a:ln>
        </p:spPr>
        <p:txBody>
          <a:bodyPr/>
          <a:lstStyle/>
          <a:p>
            <a:endParaRPr lang="en-NG"/>
          </a:p>
        </p:txBody>
      </p:sp>
      <p:sp>
        <p:nvSpPr>
          <p:cNvPr id="17" name="Shape 15"/>
          <p:cNvSpPr/>
          <p:nvPr/>
        </p:nvSpPr>
        <p:spPr>
          <a:xfrm>
            <a:off x="7571232" y="3547872"/>
            <a:ext cx="219456" cy="219456"/>
          </a:xfrm>
          <a:prstGeom prst="ellipse">
            <a:avLst/>
          </a:prstGeom>
          <a:solidFill>
            <a:srgbClr val="4A90C4"/>
          </a:solidFill>
          <a:ln w="12700">
            <a:solidFill>
              <a:srgbClr val="4A90C4"/>
            </a:solidFill>
            <a:prstDash val="solid"/>
          </a:ln>
        </p:spPr>
        <p:txBody>
          <a:bodyPr/>
          <a:lstStyle/>
          <a:p>
            <a:endParaRPr lang="en-NG"/>
          </a:p>
        </p:txBody>
      </p:sp>
      <p:sp>
        <p:nvSpPr>
          <p:cNvPr id="18" name="Shape 16"/>
          <p:cNvSpPr/>
          <p:nvPr/>
        </p:nvSpPr>
        <p:spPr>
          <a:xfrm>
            <a:off x="5833872" y="4005072"/>
            <a:ext cx="219456" cy="219456"/>
          </a:xfrm>
          <a:prstGeom prst="ellipse">
            <a:avLst/>
          </a:prstGeom>
          <a:solidFill>
            <a:srgbClr val="4A90C4"/>
          </a:solidFill>
          <a:ln w="12700">
            <a:solidFill>
              <a:srgbClr val="4A90C4"/>
            </a:solidFill>
            <a:prstDash val="solid"/>
          </a:ln>
        </p:spPr>
        <p:txBody>
          <a:bodyPr/>
          <a:lstStyle/>
          <a:p>
            <a:endParaRPr lang="en-NG"/>
          </a:p>
        </p:txBody>
      </p:sp>
      <p:sp>
        <p:nvSpPr>
          <p:cNvPr id="19" name="Shape 17"/>
          <p:cNvSpPr/>
          <p:nvPr/>
        </p:nvSpPr>
        <p:spPr>
          <a:xfrm>
            <a:off x="6217920" y="731520"/>
            <a:ext cx="640080" cy="1188720"/>
          </a:xfrm>
          <a:prstGeom prst="line">
            <a:avLst/>
          </a:prstGeom>
          <a:noFill/>
          <a:ln w="19050">
            <a:solidFill>
              <a:srgbClr val="4A90C4">
                <a:alpha val="60000"/>
              </a:srgbClr>
            </a:solidFill>
            <a:prstDash val="solid"/>
          </a:ln>
        </p:spPr>
        <p:txBody>
          <a:bodyPr/>
          <a:lstStyle/>
          <a:p>
            <a:endParaRPr lang="en-NG"/>
          </a:p>
        </p:txBody>
      </p:sp>
      <p:sp>
        <p:nvSpPr>
          <p:cNvPr id="20" name="Shape 18"/>
          <p:cNvSpPr/>
          <p:nvPr/>
        </p:nvSpPr>
        <p:spPr>
          <a:xfrm>
            <a:off x="7498080" y="1097280"/>
            <a:ext cx="0" cy="822960"/>
          </a:xfrm>
          <a:prstGeom prst="line">
            <a:avLst/>
          </a:prstGeom>
          <a:noFill/>
          <a:ln w="19050">
            <a:solidFill>
              <a:srgbClr val="4A90C4">
                <a:alpha val="60000"/>
              </a:srgbClr>
            </a:solidFill>
            <a:prstDash val="solid"/>
          </a:ln>
        </p:spPr>
        <p:txBody>
          <a:bodyPr/>
          <a:lstStyle/>
          <a:p>
            <a:endParaRPr lang="en-NG"/>
          </a:p>
        </p:txBody>
      </p:sp>
      <p:sp>
        <p:nvSpPr>
          <p:cNvPr id="21" name="Shape 19"/>
          <p:cNvSpPr/>
          <p:nvPr/>
        </p:nvSpPr>
        <p:spPr>
          <a:xfrm>
            <a:off x="6858000" y="1920240"/>
            <a:ext cx="0" cy="640080"/>
          </a:xfrm>
          <a:prstGeom prst="line">
            <a:avLst/>
          </a:prstGeom>
          <a:noFill/>
          <a:ln w="19050">
            <a:solidFill>
              <a:srgbClr val="4A90C4">
                <a:alpha val="60000"/>
              </a:srgbClr>
            </a:solidFill>
            <a:prstDash val="solid"/>
          </a:ln>
        </p:spPr>
        <p:txBody>
          <a:bodyPr/>
          <a:lstStyle/>
          <a:p>
            <a:endParaRPr lang="en-NG"/>
          </a:p>
        </p:txBody>
      </p:sp>
      <p:sp>
        <p:nvSpPr>
          <p:cNvPr id="22" name="Shape 20"/>
          <p:cNvSpPr/>
          <p:nvPr/>
        </p:nvSpPr>
        <p:spPr>
          <a:xfrm>
            <a:off x="6858000" y="1920240"/>
            <a:ext cx="1188720" cy="365760"/>
          </a:xfrm>
          <a:prstGeom prst="line">
            <a:avLst/>
          </a:prstGeom>
          <a:noFill/>
          <a:ln w="19050">
            <a:solidFill>
              <a:srgbClr val="4A90C4">
                <a:alpha val="60000"/>
              </a:srgbClr>
            </a:solidFill>
            <a:prstDash val="solid"/>
          </a:ln>
        </p:spPr>
        <p:txBody>
          <a:bodyPr/>
          <a:lstStyle/>
          <a:p>
            <a:endParaRPr lang="en-NG"/>
          </a:p>
        </p:txBody>
      </p:sp>
      <p:sp>
        <p:nvSpPr>
          <p:cNvPr id="23" name="Shape 21"/>
          <p:cNvSpPr/>
          <p:nvPr/>
        </p:nvSpPr>
        <p:spPr>
          <a:xfrm>
            <a:off x="6858000" y="1920240"/>
            <a:ext cx="0" cy="1371600"/>
          </a:xfrm>
          <a:prstGeom prst="line">
            <a:avLst/>
          </a:prstGeom>
          <a:noFill/>
          <a:ln w="19050">
            <a:solidFill>
              <a:srgbClr val="4A90C4">
                <a:alpha val="60000"/>
              </a:srgbClr>
            </a:solidFill>
            <a:prstDash val="solid"/>
          </a:ln>
        </p:spPr>
        <p:txBody>
          <a:bodyPr/>
          <a:lstStyle/>
          <a:p>
            <a:endParaRPr lang="en-NG"/>
          </a:p>
        </p:txBody>
      </p:sp>
      <p:sp>
        <p:nvSpPr>
          <p:cNvPr id="24" name="Shape 22"/>
          <p:cNvSpPr/>
          <p:nvPr/>
        </p:nvSpPr>
        <p:spPr>
          <a:xfrm>
            <a:off x="6400800" y="3291840"/>
            <a:ext cx="1280160" cy="365760"/>
          </a:xfrm>
          <a:prstGeom prst="line">
            <a:avLst/>
          </a:prstGeom>
          <a:noFill/>
          <a:ln w="19050">
            <a:solidFill>
              <a:srgbClr val="4A90C4">
                <a:alpha val="60000"/>
              </a:srgbClr>
            </a:solidFill>
            <a:prstDash val="solid"/>
          </a:ln>
        </p:spPr>
        <p:txBody>
          <a:bodyPr/>
          <a:lstStyle/>
          <a:p>
            <a:endParaRPr lang="en-NG"/>
          </a:p>
        </p:txBody>
      </p:sp>
      <p:sp>
        <p:nvSpPr>
          <p:cNvPr id="25" name="Shape 23"/>
          <p:cNvSpPr/>
          <p:nvPr/>
        </p:nvSpPr>
        <p:spPr>
          <a:xfrm>
            <a:off x="6400800" y="3291840"/>
            <a:ext cx="0" cy="822960"/>
          </a:xfrm>
          <a:prstGeom prst="line">
            <a:avLst/>
          </a:prstGeom>
          <a:noFill/>
          <a:ln w="19050">
            <a:solidFill>
              <a:srgbClr val="4A90C4">
                <a:alpha val="60000"/>
              </a:srgbClr>
            </a:solidFill>
            <a:prstDash val="solid"/>
          </a:ln>
        </p:spPr>
        <p:txBody>
          <a:bodyPr/>
          <a:lstStyle/>
          <a:p>
            <a:endParaRPr lang="en-NG"/>
          </a:p>
        </p:txBody>
      </p:sp>
      <p:sp>
        <p:nvSpPr>
          <p:cNvPr id="26" name="Text 24"/>
          <p:cNvSpPr/>
          <p:nvPr/>
        </p:nvSpPr>
        <p:spPr>
          <a:xfrm>
            <a:off x="5212080" y="4297680"/>
            <a:ext cx="3749040" cy="685800"/>
          </a:xfrm>
          <a:prstGeom prst="rect">
            <a:avLst/>
          </a:prstGeom>
          <a:noFill/>
          <a:ln/>
        </p:spPr>
        <p:txBody>
          <a:bodyPr wrap="square" rtlCol="0" anchor="ctr"/>
          <a:lstStyle/>
          <a:p>
            <a:pPr marL="0" indent="0" algn="ctr">
              <a:buNone/>
            </a:pPr>
            <a:r>
              <a:rPr lang="en-US" sz="1300" i="1" dirty="0">
                <a:solidFill>
                  <a:srgbClr val="4A90C4"/>
                </a:solidFill>
                <a:latin typeface="Calibri" pitchFamily="34" charset="0"/>
                <a:ea typeface="Calibri" pitchFamily="34" charset="-122"/>
                <a:cs typeface="Calibri" pitchFamily="34" charset="-120"/>
              </a:rPr>
              <a:t>Adult Census</a:t>
            </a:r>
            <a:endParaRPr lang="en-US" sz="1300" dirty="0"/>
          </a:p>
          <a:p>
            <a:pPr marL="0" indent="0" algn="ctr">
              <a:buNone/>
            </a:pPr>
            <a:r>
              <a:rPr lang="en-US" sz="1300" i="1" dirty="0">
                <a:solidFill>
                  <a:srgbClr val="4A90C4"/>
                </a:solidFill>
                <a:latin typeface="Calibri" pitchFamily="34" charset="0"/>
                <a:ea typeface="Calibri" pitchFamily="34" charset="-122"/>
                <a:cs typeface="Calibri" pitchFamily="34" charset="-120"/>
              </a:rPr>
              <a:t>Income Dataset</a:t>
            </a:r>
            <a:endParaRPr lang="en-US" sz="1300" dirty="0"/>
          </a:p>
        </p:txBody>
      </p:sp>
      <p:sp>
        <p:nvSpPr>
          <p:cNvPr id="27" name="Shape 25"/>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8" name="Text 26"/>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Shape 1"/>
          <p:cNvSpPr/>
          <p:nvPr/>
        </p:nvSpPr>
        <p:spPr>
          <a:xfrm>
            <a:off x="320040" y="1005840"/>
            <a:ext cx="3931920" cy="530352"/>
          </a:xfrm>
          <a:prstGeom prst="rect">
            <a:avLst/>
          </a:prstGeom>
          <a:solidFill>
            <a:srgbClr val="FFFFFF"/>
          </a:solidFill>
          <a:ln w="15240">
            <a:solidFill>
              <a:srgbClr val="4A90C4"/>
            </a:solidFill>
            <a:prstDash val="solid"/>
          </a:ln>
        </p:spPr>
        <p:txBody>
          <a:bodyPr/>
          <a:lstStyle/>
          <a:p>
            <a:endParaRPr lang="en-NG"/>
          </a:p>
        </p:txBody>
      </p:sp>
      <p:sp>
        <p:nvSpPr>
          <p:cNvPr id="4" name="Shape 2"/>
          <p:cNvSpPr/>
          <p:nvPr/>
        </p:nvSpPr>
        <p:spPr>
          <a:xfrm>
            <a:off x="320040" y="1005840"/>
            <a:ext cx="64008" cy="530352"/>
          </a:xfrm>
          <a:prstGeom prst="rect">
            <a:avLst/>
          </a:prstGeom>
          <a:solidFill>
            <a:srgbClr val="4A90C4"/>
          </a:solidFill>
          <a:ln w="12700">
            <a:solidFill>
              <a:srgbClr val="4A90C4"/>
            </a:solidFill>
            <a:prstDash val="solid"/>
          </a:ln>
        </p:spPr>
        <p:txBody>
          <a:bodyPr/>
          <a:lstStyle/>
          <a:p>
            <a:endParaRPr lang="en-NG"/>
          </a:p>
        </p:txBody>
      </p:sp>
      <p:sp>
        <p:nvSpPr>
          <p:cNvPr id="5" name="Text 3"/>
          <p:cNvSpPr/>
          <p:nvPr/>
        </p:nvSpPr>
        <p:spPr>
          <a:xfrm>
            <a:off x="457200" y="1005840"/>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1.  Problem Definition &amp; Dataset Selection</a:t>
            </a:r>
            <a:endParaRPr lang="en-US" sz="1400" dirty="0"/>
          </a:p>
        </p:txBody>
      </p:sp>
      <p:sp>
        <p:nvSpPr>
          <p:cNvPr id="6" name="Shape 4"/>
          <p:cNvSpPr/>
          <p:nvPr/>
        </p:nvSpPr>
        <p:spPr>
          <a:xfrm>
            <a:off x="320040" y="1627632"/>
            <a:ext cx="3931920" cy="530352"/>
          </a:xfrm>
          <a:prstGeom prst="rect">
            <a:avLst/>
          </a:prstGeom>
          <a:solidFill>
            <a:srgbClr val="FFFFFF"/>
          </a:solidFill>
          <a:ln w="15240">
            <a:solidFill>
              <a:srgbClr val="4A90C4"/>
            </a:solidFill>
            <a:prstDash val="solid"/>
          </a:ln>
        </p:spPr>
        <p:txBody>
          <a:bodyPr/>
          <a:lstStyle/>
          <a:p>
            <a:endParaRPr lang="en-NG"/>
          </a:p>
        </p:txBody>
      </p:sp>
      <p:sp>
        <p:nvSpPr>
          <p:cNvPr id="7" name="Shape 5"/>
          <p:cNvSpPr/>
          <p:nvPr/>
        </p:nvSpPr>
        <p:spPr>
          <a:xfrm>
            <a:off x="320040" y="1627632"/>
            <a:ext cx="64008" cy="530352"/>
          </a:xfrm>
          <a:prstGeom prst="rect">
            <a:avLst/>
          </a:prstGeom>
          <a:solidFill>
            <a:srgbClr val="4A90C4"/>
          </a:solidFill>
          <a:ln w="12700">
            <a:solidFill>
              <a:srgbClr val="4A90C4"/>
            </a:solidFill>
            <a:prstDash val="solid"/>
          </a:ln>
        </p:spPr>
        <p:txBody>
          <a:bodyPr/>
          <a:lstStyle/>
          <a:p>
            <a:endParaRPr lang="en-NG"/>
          </a:p>
        </p:txBody>
      </p:sp>
      <p:sp>
        <p:nvSpPr>
          <p:cNvPr id="8" name="Text 6"/>
          <p:cNvSpPr/>
          <p:nvPr/>
        </p:nvSpPr>
        <p:spPr>
          <a:xfrm>
            <a:off x="457200" y="1627632"/>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2.  Exploratory Data Analysis</a:t>
            </a:r>
            <a:endParaRPr lang="en-US" sz="1400" dirty="0"/>
          </a:p>
        </p:txBody>
      </p:sp>
      <p:sp>
        <p:nvSpPr>
          <p:cNvPr id="9" name="Shape 7"/>
          <p:cNvSpPr/>
          <p:nvPr/>
        </p:nvSpPr>
        <p:spPr>
          <a:xfrm>
            <a:off x="320040" y="2249424"/>
            <a:ext cx="3931920" cy="530352"/>
          </a:xfrm>
          <a:prstGeom prst="rect">
            <a:avLst/>
          </a:prstGeom>
          <a:solidFill>
            <a:srgbClr val="FFFFFF"/>
          </a:solidFill>
          <a:ln w="15240">
            <a:solidFill>
              <a:srgbClr val="4A90C4"/>
            </a:solidFill>
            <a:prstDash val="solid"/>
          </a:ln>
        </p:spPr>
        <p:txBody>
          <a:bodyPr/>
          <a:lstStyle/>
          <a:p>
            <a:endParaRPr lang="en-NG"/>
          </a:p>
        </p:txBody>
      </p:sp>
      <p:sp>
        <p:nvSpPr>
          <p:cNvPr id="10" name="Shape 8"/>
          <p:cNvSpPr/>
          <p:nvPr/>
        </p:nvSpPr>
        <p:spPr>
          <a:xfrm>
            <a:off x="320040" y="2249424"/>
            <a:ext cx="64008" cy="530352"/>
          </a:xfrm>
          <a:prstGeom prst="rect">
            <a:avLst/>
          </a:prstGeom>
          <a:solidFill>
            <a:srgbClr val="4A90C4"/>
          </a:solidFill>
          <a:ln w="12700">
            <a:solidFill>
              <a:srgbClr val="4A90C4"/>
            </a:solidFill>
            <a:prstDash val="solid"/>
          </a:ln>
        </p:spPr>
        <p:txBody>
          <a:bodyPr/>
          <a:lstStyle/>
          <a:p>
            <a:endParaRPr lang="en-NG"/>
          </a:p>
        </p:txBody>
      </p:sp>
      <p:sp>
        <p:nvSpPr>
          <p:cNvPr id="11" name="Text 9"/>
          <p:cNvSpPr/>
          <p:nvPr/>
        </p:nvSpPr>
        <p:spPr>
          <a:xfrm>
            <a:off x="457200" y="2249424"/>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3.  Data Preprocessing &amp; Feature Engineering</a:t>
            </a:r>
            <a:endParaRPr lang="en-US" sz="1400" dirty="0"/>
          </a:p>
        </p:txBody>
      </p:sp>
      <p:sp>
        <p:nvSpPr>
          <p:cNvPr id="12" name="Shape 10"/>
          <p:cNvSpPr/>
          <p:nvPr/>
        </p:nvSpPr>
        <p:spPr>
          <a:xfrm>
            <a:off x="320040" y="2871216"/>
            <a:ext cx="3931920" cy="530352"/>
          </a:xfrm>
          <a:prstGeom prst="rect">
            <a:avLst/>
          </a:prstGeom>
          <a:solidFill>
            <a:srgbClr val="FFFFFF"/>
          </a:solidFill>
          <a:ln w="15240">
            <a:solidFill>
              <a:srgbClr val="4A90C4"/>
            </a:solidFill>
            <a:prstDash val="solid"/>
          </a:ln>
        </p:spPr>
        <p:txBody>
          <a:bodyPr/>
          <a:lstStyle/>
          <a:p>
            <a:endParaRPr lang="en-NG"/>
          </a:p>
        </p:txBody>
      </p:sp>
      <p:sp>
        <p:nvSpPr>
          <p:cNvPr id="13" name="Shape 11"/>
          <p:cNvSpPr/>
          <p:nvPr/>
        </p:nvSpPr>
        <p:spPr>
          <a:xfrm>
            <a:off x="320040" y="2871216"/>
            <a:ext cx="64008" cy="530352"/>
          </a:xfrm>
          <a:prstGeom prst="rect">
            <a:avLst/>
          </a:prstGeom>
          <a:solidFill>
            <a:srgbClr val="4A90C4"/>
          </a:solidFill>
          <a:ln w="12700">
            <a:solidFill>
              <a:srgbClr val="4A90C4"/>
            </a:solidFill>
            <a:prstDash val="solid"/>
          </a:ln>
        </p:spPr>
        <p:txBody>
          <a:bodyPr/>
          <a:lstStyle/>
          <a:p>
            <a:endParaRPr lang="en-NG"/>
          </a:p>
        </p:txBody>
      </p:sp>
      <p:sp>
        <p:nvSpPr>
          <p:cNvPr id="14" name="Text 12"/>
          <p:cNvSpPr/>
          <p:nvPr/>
        </p:nvSpPr>
        <p:spPr>
          <a:xfrm>
            <a:off x="457200" y="2871216"/>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4.  Class Imbalance Handling (SMOTE)</a:t>
            </a:r>
            <a:endParaRPr lang="en-US" sz="1400" dirty="0"/>
          </a:p>
        </p:txBody>
      </p:sp>
      <p:sp>
        <p:nvSpPr>
          <p:cNvPr id="15" name="Shape 13"/>
          <p:cNvSpPr/>
          <p:nvPr/>
        </p:nvSpPr>
        <p:spPr>
          <a:xfrm>
            <a:off x="320040" y="3493008"/>
            <a:ext cx="3931920" cy="530352"/>
          </a:xfrm>
          <a:prstGeom prst="rect">
            <a:avLst/>
          </a:prstGeom>
          <a:solidFill>
            <a:srgbClr val="FFFFFF"/>
          </a:solidFill>
          <a:ln w="15240">
            <a:solidFill>
              <a:srgbClr val="4A90C4"/>
            </a:solidFill>
            <a:prstDash val="solid"/>
          </a:ln>
        </p:spPr>
        <p:txBody>
          <a:bodyPr/>
          <a:lstStyle/>
          <a:p>
            <a:endParaRPr lang="en-NG"/>
          </a:p>
        </p:txBody>
      </p:sp>
      <p:sp>
        <p:nvSpPr>
          <p:cNvPr id="16" name="Shape 14"/>
          <p:cNvSpPr/>
          <p:nvPr/>
        </p:nvSpPr>
        <p:spPr>
          <a:xfrm>
            <a:off x="320040" y="3493008"/>
            <a:ext cx="64008" cy="530352"/>
          </a:xfrm>
          <a:prstGeom prst="rect">
            <a:avLst/>
          </a:prstGeom>
          <a:solidFill>
            <a:srgbClr val="4A90C4"/>
          </a:solidFill>
          <a:ln w="12700">
            <a:solidFill>
              <a:srgbClr val="4A90C4"/>
            </a:solidFill>
            <a:prstDash val="solid"/>
          </a:ln>
        </p:spPr>
        <p:txBody>
          <a:bodyPr/>
          <a:lstStyle/>
          <a:p>
            <a:endParaRPr lang="en-NG"/>
          </a:p>
        </p:txBody>
      </p:sp>
      <p:sp>
        <p:nvSpPr>
          <p:cNvPr id="17" name="Text 15"/>
          <p:cNvSpPr/>
          <p:nvPr/>
        </p:nvSpPr>
        <p:spPr>
          <a:xfrm>
            <a:off x="457200" y="3493008"/>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5.  Model Selection &amp; Training</a:t>
            </a:r>
            <a:endParaRPr lang="en-US" sz="1400" dirty="0"/>
          </a:p>
        </p:txBody>
      </p:sp>
      <p:sp>
        <p:nvSpPr>
          <p:cNvPr id="18" name="Shape 16"/>
          <p:cNvSpPr/>
          <p:nvPr/>
        </p:nvSpPr>
        <p:spPr>
          <a:xfrm>
            <a:off x="4480560" y="1005840"/>
            <a:ext cx="3931920" cy="530352"/>
          </a:xfrm>
          <a:prstGeom prst="rect">
            <a:avLst/>
          </a:prstGeom>
          <a:solidFill>
            <a:srgbClr val="FFFFFF"/>
          </a:solidFill>
          <a:ln w="15240">
            <a:solidFill>
              <a:srgbClr val="4A90C4"/>
            </a:solidFill>
            <a:prstDash val="solid"/>
          </a:ln>
        </p:spPr>
        <p:txBody>
          <a:bodyPr/>
          <a:lstStyle/>
          <a:p>
            <a:endParaRPr lang="en-NG"/>
          </a:p>
        </p:txBody>
      </p:sp>
      <p:sp>
        <p:nvSpPr>
          <p:cNvPr id="19" name="Shape 17"/>
          <p:cNvSpPr/>
          <p:nvPr/>
        </p:nvSpPr>
        <p:spPr>
          <a:xfrm>
            <a:off x="4480560" y="1005840"/>
            <a:ext cx="64008" cy="530352"/>
          </a:xfrm>
          <a:prstGeom prst="rect">
            <a:avLst/>
          </a:prstGeom>
          <a:solidFill>
            <a:srgbClr val="4A90C4"/>
          </a:solidFill>
          <a:ln w="12700">
            <a:solidFill>
              <a:srgbClr val="4A90C4"/>
            </a:solidFill>
            <a:prstDash val="solid"/>
          </a:ln>
        </p:spPr>
        <p:txBody>
          <a:bodyPr/>
          <a:lstStyle/>
          <a:p>
            <a:endParaRPr lang="en-NG"/>
          </a:p>
        </p:txBody>
      </p:sp>
      <p:sp>
        <p:nvSpPr>
          <p:cNvPr id="20" name="Text 18"/>
          <p:cNvSpPr/>
          <p:nvPr/>
        </p:nvSpPr>
        <p:spPr>
          <a:xfrm>
            <a:off x="4617720" y="1005840"/>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6.  Hyperparameter Tuning</a:t>
            </a:r>
            <a:endParaRPr lang="en-US" sz="1400" dirty="0"/>
          </a:p>
        </p:txBody>
      </p:sp>
      <p:sp>
        <p:nvSpPr>
          <p:cNvPr id="21" name="Shape 19"/>
          <p:cNvSpPr/>
          <p:nvPr/>
        </p:nvSpPr>
        <p:spPr>
          <a:xfrm>
            <a:off x="4480560" y="1627632"/>
            <a:ext cx="3931920" cy="530352"/>
          </a:xfrm>
          <a:prstGeom prst="rect">
            <a:avLst/>
          </a:prstGeom>
          <a:solidFill>
            <a:srgbClr val="FFFFFF"/>
          </a:solidFill>
          <a:ln w="15240">
            <a:solidFill>
              <a:srgbClr val="4A90C4"/>
            </a:solidFill>
            <a:prstDash val="solid"/>
          </a:ln>
        </p:spPr>
        <p:txBody>
          <a:bodyPr/>
          <a:lstStyle/>
          <a:p>
            <a:endParaRPr lang="en-NG"/>
          </a:p>
        </p:txBody>
      </p:sp>
      <p:sp>
        <p:nvSpPr>
          <p:cNvPr id="22" name="Shape 20"/>
          <p:cNvSpPr/>
          <p:nvPr/>
        </p:nvSpPr>
        <p:spPr>
          <a:xfrm>
            <a:off x="4480560" y="1627632"/>
            <a:ext cx="64008" cy="530352"/>
          </a:xfrm>
          <a:prstGeom prst="rect">
            <a:avLst/>
          </a:prstGeom>
          <a:solidFill>
            <a:srgbClr val="4A90C4"/>
          </a:solidFill>
          <a:ln w="12700">
            <a:solidFill>
              <a:srgbClr val="4A90C4"/>
            </a:solidFill>
            <a:prstDash val="solid"/>
          </a:ln>
        </p:spPr>
        <p:txBody>
          <a:bodyPr/>
          <a:lstStyle/>
          <a:p>
            <a:endParaRPr lang="en-NG"/>
          </a:p>
        </p:txBody>
      </p:sp>
      <p:sp>
        <p:nvSpPr>
          <p:cNvPr id="23" name="Text 21"/>
          <p:cNvSpPr/>
          <p:nvPr/>
        </p:nvSpPr>
        <p:spPr>
          <a:xfrm>
            <a:off x="4617720" y="1627632"/>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7.  Final Model Evaluation &amp; Interpretability</a:t>
            </a:r>
            <a:endParaRPr lang="en-US" sz="1400" dirty="0"/>
          </a:p>
        </p:txBody>
      </p:sp>
      <p:sp>
        <p:nvSpPr>
          <p:cNvPr id="24" name="Shape 22"/>
          <p:cNvSpPr/>
          <p:nvPr/>
        </p:nvSpPr>
        <p:spPr>
          <a:xfrm>
            <a:off x="4480560" y="2249424"/>
            <a:ext cx="3931920" cy="530352"/>
          </a:xfrm>
          <a:prstGeom prst="rect">
            <a:avLst/>
          </a:prstGeom>
          <a:solidFill>
            <a:srgbClr val="FFFFFF"/>
          </a:solidFill>
          <a:ln w="15240">
            <a:solidFill>
              <a:srgbClr val="4A90C4"/>
            </a:solidFill>
            <a:prstDash val="solid"/>
          </a:ln>
        </p:spPr>
        <p:txBody>
          <a:bodyPr/>
          <a:lstStyle/>
          <a:p>
            <a:endParaRPr lang="en-NG"/>
          </a:p>
        </p:txBody>
      </p:sp>
      <p:sp>
        <p:nvSpPr>
          <p:cNvPr id="25" name="Shape 23"/>
          <p:cNvSpPr/>
          <p:nvPr/>
        </p:nvSpPr>
        <p:spPr>
          <a:xfrm>
            <a:off x="4480560" y="2249424"/>
            <a:ext cx="64008" cy="530352"/>
          </a:xfrm>
          <a:prstGeom prst="rect">
            <a:avLst/>
          </a:prstGeom>
          <a:solidFill>
            <a:srgbClr val="4A90C4"/>
          </a:solidFill>
          <a:ln w="12700">
            <a:solidFill>
              <a:srgbClr val="4A90C4"/>
            </a:solidFill>
            <a:prstDash val="solid"/>
          </a:ln>
        </p:spPr>
        <p:txBody>
          <a:bodyPr/>
          <a:lstStyle/>
          <a:p>
            <a:endParaRPr lang="en-NG"/>
          </a:p>
        </p:txBody>
      </p:sp>
      <p:sp>
        <p:nvSpPr>
          <p:cNvPr id="26" name="Text 24"/>
          <p:cNvSpPr/>
          <p:nvPr/>
        </p:nvSpPr>
        <p:spPr>
          <a:xfrm>
            <a:off x="4617720" y="2249424"/>
            <a:ext cx="3749040" cy="530352"/>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8.  Conclusion &amp; Ethical Considerations</a:t>
            </a:r>
            <a:endParaRPr lang="en-US" sz="1400" dirty="0"/>
          </a:p>
        </p:txBody>
      </p:sp>
      <p:sp>
        <p:nvSpPr>
          <p:cNvPr id="27" name="Shape 25"/>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8" name="Text 26"/>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pPr marL="0" indent="0">
              <a:buNone/>
            </a:pPr>
            <a:r>
              <a:rPr lang="en-US" sz="3600" b="1" dirty="0">
                <a:solidFill>
                  <a:srgbClr val="2D2D2D"/>
                </a:solidFill>
                <a:latin typeface="Calibri" pitchFamily="34" charset="0"/>
                <a:ea typeface="Calibri" pitchFamily="34" charset="-122"/>
                <a:cs typeface="Calibri" pitchFamily="34" charset="-120"/>
              </a:rPr>
              <a:t>1. Problem Definition &amp; Dataset</a:t>
            </a:r>
            <a:endParaRPr lang="en-US" sz="3600" dirty="0"/>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p:cNvSpPr/>
          <p:nvPr/>
        </p:nvSpPr>
        <p:spPr>
          <a:xfrm>
            <a:off x="365760" y="621792"/>
            <a:ext cx="8412480" cy="292608"/>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Problem Definition</a:t>
            </a:r>
            <a:endParaRPr lang="en-US" sz="1500" dirty="0"/>
          </a:p>
        </p:txBody>
      </p:sp>
      <p:sp>
        <p:nvSpPr>
          <p:cNvPr id="4" name="Shape 2"/>
          <p:cNvSpPr/>
          <p:nvPr/>
        </p:nvSpPr>
        <p:spPr>
          <a:xfrm>
            <a:off x="320040" y="1005840"/>
            <a:ext cx="4114800" cy="3749040"/>
          </a:xfrm>
          <a:prstGeom prst="rect">
            <a:avLst/>
          </a:prstGeom>
          <a:solidFill>
            <a:srgbClr val="F5F8FA"/>
          </a:solidFill>
          <a:ln w="8890">
            <a:solidFill>
              <a:srgbClr val="CCCCCC"/>
            </a:solidFill>
            <a:prstDash val="solid"/>
          </a:ln>
        </p:spPr>
        <p:txBody>
          <a:bodyPr/>
          <a:lstStyle/>
          <a:p>
            <a:endParaRPr lang="en-NG"/>
          </a:p>
        </p:txBody>
      </p:sp>
      <p:sp>
        <p:nvSpPr>
          <p:cNvPr id="5" name="Text 3"/>
          <p:cNvSpPr/>
          <p:nvPr/>
        </p:nvSpPr>
        <p:spPr>
          <a:xfrm>
            <a:off x="457200" y="1097280"/>
            <a:ext cx="3840480" cy="365760"/>
          </a:xfrm>
          <a:prstGeom prst="rect">
            <a:avLst/>
          </a:prstGeom>
          <a:noFill/>
          <a:ln/>
        </p:spPr>
        <p:txBody>
          <a:bodyPr wrap="square" rtlCol="0" anchor="ctr"/>
          <a:lstStyle/>
          <a:p>
            <a:pPr marL="0" indent="0">
              <a:buNone/>
            </a:pPr>
            <a:r>
              <a:rPr lang="en-US" sz="1500" b="1" dirty="0">
                <a:solidFill>
                  <a:srgbClr val="4A90C4"/>
                </a:solidFill>
                <a:latin typeface="Calibri" pitchFamily="34" charset="0"/>
                <a:ea typeface="Calibri" pitchFamily="34" charset="-122"/>
                <a:cs typeface="Calibri" pitchFamily="34" charset="-120"/>
              </a:rPr>
              <a:t>Problem Statement</a:t>
            </a:r>
            <a:endParaRPr lang="en-US" sz="1500" dirty="0"/>
          </a:p>
        </p:txBody>
      </p:sp>
      <p:sp>
        <p:nvSpPr>
          <p:cNvPr id="6" name="Text 4"/>
          <p:cNvSpPr/>
          <p:nvPr/>
        </p:nvSpPr>
        <p:spPr>
          <a:xfrm>
            <a:off x="457200" y="1508760"/>
            <a:ext cx="3840480" cy="3246120"/>
          </a:xfrm>
          <a:prstGeom prst="rect">
            <a:avLst/>
          </a:prstGeom>
          <a:noFill/>
          <a:ln/>
        </p:spPr>
        <p:txBody>
          <a:bodyPr wrap="square" rtlCol="0" anchor="t"/>
          <a:lstStyle/>
          <a:p>
            <a:r>
              <a:rPr lang="en-NG" sz="1400" b="1" dirty="0"/>
              <a:t>Problem Statement</a:t>
            </a:r>
          </a:p>
          <a:p>
            <a:r>
              <a:rPr lang="en-NG" sz="1400" dirty="0"/>
              <a:t>This is a binary classification problem. The objective is to predict whether a person's income exceeds $50,000 per year using demographic and socioeconomic information?</a:t>
            </a:r>
          </a:p>
          <a:p>
            <a:endParaRPr lang="en-NG" sz="1400" dirty="0"/>
          </a:p>
          <a:p>
            <a:endParaRPr lang="en-NG" sz="1400" dirty="0"/>
          </a:p>
          <a:p>
            <a:r>
              <a:rPr lang="en-NG" sz="1400" b="1" dirty="0"/>
              <a:t>Why is this important?</a:t>
            </a:r>
          </a:p>
          <a:p>
            <a:r>
              <a:rPr lang="en-NG" sz="1400" dirty="0"/>
              <a:t>Income prediction supports:</a:t>
            </a:r>
          </a:p>
          <a:p>
            <a:r>
              <a:rPr lang="en-NG" sz="1400" dirty="0"/>
              <a:t>- socioeconomic analysis </a:t>
            </a:r>
          </a:p>
          <a:p>
            <a:r>
              <a:rPr lang="en-NG" sz="1400" dirty="0"/>
              <a:t>- Useful for policy planning </a:t>
            </a:r>
          </a:p>
          <a:p>
            <a:r>
              <a:rPr lang="en-NG" sz="1400" dirty="0"/>
              <a:t>- Useful for labor market studies </a:t>
            </a:r>
          </a:p>
          <a:p>
            <a:r>
              <a:rPr lang="en-NG" sz="1400" dirty="0"/>
              <a:t>- Demonstrates real-world tabular classification</a:t>
            </a:r>
          </a:p>
          <a:p>
            <a:pPr>
              <a:buSzPct val="100000"/>
            </a:pPr>
            <a:endParaRPr lang="en-US" sz="1400" dirty="0"/>
          </a:p>
        </p:txBody>
      </p:sp>
      <p:sp>
        <p:nvSpPr>
          <p:cNvPr id="20" name="Shape 18"/>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1" name="Text 19"/>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pic>
        <p:nvPicPr>
          <p:cNvPr id="23" name="Picture 22">
            <a:extLst>
              <a:ext uri="{FF2B5EF4-FFF2-40B4-BE49-F238E27FC236}">
                <a16:creationId xmlns:a16="http://schemas.microsoft.com/office/drawing/2014/main" id="{6B25008E-B6B4-95E3-2258-3F937A1A260D}"/>
              </a:ext>
            </a:extLst>
          </p:cNvPr>
          <p:cNvPicPr>
            <a:picLocks noChangeAspect="1"/>
          </p:cNvPicPr>
          <p:nvPr/>
        </p:nvPicPr>
        <p:blipFill>
          <a:blip r:embed="rId3"/>
          <a:stretch>
            <a:fillRect/>
          </a:stretch>
        </p:blipFill>
        <p:spPr>
          <a:xfrm>
            <a:off x="4572000" y="1193165"/>
            <a:ext cx="4481343" cy="33743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D4A7A-2C52-02FF-CDC0-56EF006C52D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0893EF-AC25-F666-4A11-898963D91508}"/>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1E5166B4-8FB9-CDDD-C4AD-E724957527A6}"/>
              </a:ext>
            </a:extLst>
          </p:cNvPr>
          <p:cNvSpPr/>
          <p:nvPr/>
        </p:nvSpPr>
        <p:spPr>
          <a:xfrm>
            <a:off x="365760" y="621792"/>
            <a:ext cx="8412480" cy="292608"/>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Dataset Overview</a:t>
            </a:r>
            <a:endParaRPr lang="en-US" sz="1500" dirty="0"/>
          </a:p>
        </p:txBody>
      </p:sp>
      <p:sp>
        <p:nvSpPr>
          <p:cNvPr id="5" name="Text 3">
            <a:extLst>
              <a:ext uri="{FF2B5EF4-FFF2-40B4-BE49-F238E27FC236}">
                <a16:creationId xmlns:a16="http://schemas.microsoft.com/office/drawing/2014/main" id="{55974E8F-A14D-8456-6864-ED3DE2ECFA21}"/>
              </a:ext>
            </a:extLst>
          </p:cNvPr>
          <p:cNvSpPr/>
          <p:nvPr/>
        </p:nvSpPr>
        <p:spPr>
          <a:xfrm>
            <a:off x="457200" y="1097280"/>
            <a:ext cx="3840480" cy="365760"/>
          </a:xfrm>
          <a:prstGeom prst="rect">
            <a:avLst/>
          </a:prstGeom>
          <a:noFill/>
          <a:ln/>
        </p:spPr>
        <p:txBody>
          <a:bodyPr wrap="square" rtlCol="0" anchor="ctr"/>
          <a:lstStyle/>
          <a:p>
            <a:pPr marL="0" indent="0">
              <a:buNone/>
            </a:pPr>
            <a:r>
              <a:rPr lang="en-US" sz="1500" b="1" dirty="0">
                <a:solidFill>
                  <a:srgbClr val="4A90C4"/>
                </a:solidFill>
                <a:latin typeface="Calibri" pitchFamily="34" charset="0"/>
                <a:ea typeface="Calibri" pitchFamily="34" charset="-122"/>
                <a:cs typeface="Calibri" pitchFamily="34" charset="-120"/>
              </a:rPr>
              <a:t>Problem Statement</a:t>
            </a:r>
            <a:endParaRPr lang="en-US" sz="1500" dirty="0"/>
          </a:p>
        </p:txBody>
      </p:sp>
      <p:sp>
        <p:nvSpPr>
          <p:cNvPr id="6" name="Text 4">
            <a:extLst>
              <a:ext uri="{FF2B5EF4-FFF2-40B4-BE49-F238E27FC236}">
                <a16:creationId xmlns:a16="http://schemas.microsoft.com/office/drawing/2014/main" id="{13E854A3-F6F6-D93C-B6A5-EF891F2C677D}"/>
              </a:ext>
            </a:extLst>
          </p:cNvPr>
          <p:cNvSpPr/>
          <p:nvPr/>
        </p:nvSpPr>
        <p:spPr>
          <a:xfrm>
            <a:off x="457200" y="1508760"/>
            <a:ext cx="3840480" cy="3497580"/>
          </a:xfrm>
          <a:prstGeom prst="rect">
            <a:avLst/>
          </a:prstGeom>
          <a:noFill/>
          <a:ln/>
        </p:spPr>
        <p:txBody>
          <a:bodyPr wrap="square" rtlCol="0" anchor="t"/>
          <a:lstStyle/>
          <a:p>
            <a:r>
              <a:rPr lang="en-NG" sz="1400" b="1" dirty="0"/>
              <a:t>Adult Census Income Dataset</a:t>
            </a:r>
          </a:p>
          <a:p>
            <a:r>
              <a:rPr lang="en-NG" sz="1400" dirty="0"/>
              <a:t>Features include:</a:t>
            </a:r>
          </a:p>
          <a:p>
            <a:r>
              <a:rPr lang="en-NG" sz="1400" dirty="0"/>
              <a:t>Age </a:t>
            </a:r>
          </a:p>
          <a:p>
            <a:r>
              <a:rPr lang="en-NG" sz="1400" dirty="0"/>
              <a:t>Education </a:t>
            </a:r>
          </a:p>
          <a:p>
            <a:r>
              <a:rPr lang="en-NG" sz="1400" dirty="0"/>
              <a:t>Occupation </a:t>
            </a:r>
          </a:p>
          <a:p>
            <a:r>
              <a:rPr lang="en-NG" sz="1400" dirty="0"/>
              <a:t>Marital Status </a:t>
            </a:r>
          </a:p>
          <a:p>
            <a:r>
              <a:rPr lang="en-NG" sz="1400" dirty="0"/>
              <a:t>Workclass </a:t>
            </a:r>
          </a:p>
          <a:p>
            <a:r>
              <a:rPr lang="en-NG" sz="1400" dirty="0"/>
              <a:t>Hours per Week </a:t>
            </a:r>
          </a:p>
          <a:p>
            <a:r>
              <a:rPr lang="en-NG" sz="1400" dirty="0"/>
              <a:t>Capital Gain </a:t>
            </a:r>
          </a:p>
          <a:p>
            <a:r>
              <a:rPr lang="en-NG" sz="1400" dirty="0"/>
              <a:t>Capital Loss</a:t>
            </a:r>
          </a:p>
          <a:p>
            <a:endParaRPr lang="en-NG" sz="1400" dirty="0"/>
          </a:p>
          <a:p>
            <a:r>
              <a:rPr lang="en-NG" sz="1400" b="1" dirty="0"/>
              <a:t>Dataset Summary</a:t>
            </a:r>
          </a:p>
          <a:p>
            <a:r>
              <a:rPr lang="en-NG" sz="1400" dirty="0"/>
              <a:t>Number of observations : 48,790</a:t>
            </a:r>
          </a:p>
          <a:p>
            <a:r>
              <a:rPr lang="en-NG" sz="1400" dirty="0"/>
              <a:t>Number of features: : 19 </a:t>
            </a:r>
          </a:p>
          <a:p>
            <a:r>
              <a:rPr lang="en-NG" sz="1400" dirty="0"/>
              <a:t>Numerical features: 9</a:t>
            </a:r>
          </a:p>
          <a:p>
            <a:r>
              <a:rPr lang="en-NG" sz="1400" dirty="0"/>
              <a:t>Categorical features: 10</a:t>
            </a:r>
          </a:p>
          <a:p>
            <a:pPr>
              <a:buSzPct val="100000"/>
            </a:pPr>
            <a:endParaRPr lang="en-US" sz="1400" dirty="0"/>
          </a:p>
        </p:txBody>
      </p:sp>
      <p:sp>
        <p:nvSpPr>
          <p:cNvPr id="20" name="Shape 18">
            <a:extLst>
              <a:ext uri="{FF2B5EF4-FFF2-40B4-BE49-F238E27FC236}">
                <a16:creationId xmlns:a16="http://schemas.microsoft.com/office/drawing/2014/main" id="{AAD86562-E262-B3CC-3BDF-C14F2988934F}"/>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1" name="Text 19">
            <a:extLst>
              <a:ext uri="{FF2B5EF4-FFF2-40B4-BE49-F238E27FC236}">
                <a16:creationId xmlns:a16="http://schemas.microsoft.com/office/drawing/2014/main" id="{775FB8D9-8766-3BA3-B00B-4F63F06EEB57}"/>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pic>
        <p:nvPicPr>
          <p:cNvPr id="8" name="Picture 7">
            <a:extLst>
              <a:ext uri="{FF2B5EF4-FFF2-40B4-BE49-F238E27FC236}">
                <a16:creationId xmlns:a16="http://schemas.microsoft.com/office/drawing/2014/main" id="{BD74DD92-7883-BB78-C97D-ABBE4E2880AC}"/>
              </a:ext>
            </a:extLst>
          </p:cNvPr>
          <p:cNvPicPr>
            <a:picLocks noChangeAspect="1"/>
          </p:cNvPicPr>
          <p:nvPr/>
        </p:nvPicPr>
        <p:blipFill>
          <a:blip r:embed="rId3"/>
          <a:stretch>
            <a:fillRect/>
          </a:stretch>
        </p:blipFill>
        <p:spPr>
          <a:xfrm>
            <a:off x="3264535" y="960120"/>
            <a:ext cx="5513705" cy="3675803"/>
          </a:xfrm>
          <a:prstGeom prst="rect">
            <a:avLst/>
          </a:prstGeom>
        </p:spPr>
      </p:pic>
    </p:spTree>
    <p:extLst>
      <p:ext uri="{BB962C8B-B14F-4D97-AF65-F5344CB8AC3E}">
        <p14:creationId xmlns:p14="http://schemas.microsoft.com/office/powerpoint/2010/main" val="3517220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pPr marL="0" indent="0">
              <a:buNone/>
            </a:pPr>
            <a:r>
              <a:rPr lang="en-US" sz="3600" b="1" dirty="0">
                <a:solidFill>
                  <a:srgbClr val="2D2D2D"/>
                </a:solidFill>
                <a:latin typeface="Calibri" pitchFamily="34" charset="0"/>
                <a:ea typeface="Calibri" pitchFamily="34" charset="-122"/>
                <a:cs typeface="Calibri" pitchFamily="34" charset="-120"/>
              </a:rPr>
              <a:t>2. Exploratory Data Analysis</a:t>
            </a:r>
            <a:endParaRPr lang="en-US" sz="3600" dirty="0"/>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4D3ED70-6C9C-39CB-FA73-D24C73656F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655FA2-0F1B-1C75-4D60-F8AB27B064D7}"/>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8FB42CC6-1F87-194E-EE52-E8EE8CF1A076}"/>
              </a:ext>
            </a:extLst>
          </p:cNvPr>
          <p:cNvSpPr/>
          <p:nvPr/>
        </p:nvSpPr>
        <p:spPr>
          <a:xfrm>
            <a:off x="365760" y="621792"/>
            <a:ext cx="8412480" cy="292608"/>
          </a:xfrm>
          <a:prstGeom prst="rect">
            <a:avLst/>
          </a:prstGeom>
          <a:noFill/>
          <a:ln/>
        </p:spPr>
        <p:txBody>
          <a:bodyPr wrap="square" rtlCol="0" anchor="ctr"/>
          <a:lstStyle/>
          <a:p>
            <a:r>
              <a:rPr lang="en-US" sz="1500" dirty="0">
                <a:solidFill>
                  <a:srgbClr val="4A90C4"/>
                </a:solidFill>
                <a:latin typeface="Calibri" pitchFamily="34" charset="0"/>
                <a:ea typeface="Calibri" pitchFamily="34" charset="-122"/>
                <a:cs typeface="Calibri" pitchFamily="34" charset="-120"/>
              </a:rPr>
              <a:t>Exploratory Data Analysis</a:t>
            </a:r>
            <a:endParaRPr lang="en-US" sz="1500" dirty="0"/>
          </a:p>
        </p:txBody>
      </p:sp>
      <p:sp>
        <p:nvSpPr>
          <p:cNvPr id="4" name="Text 2">
            <a:extLst>
              <a:ext uri="{FF2B5EF4-FFF2-40B4-BE49-F238E27FC236}">
                <a16:creationId xmlns:a16="http://schemas.microsoft.com/office/drawing/2014/main" id="{953D3CDC-AA11-514A-B8B2-BE2E4E22453C}"/>
              </a:ext>
            </a:extLst>
          </p:cNvPr>
          <p:cNvSpPr/>
          <p:nvPr/>
        </p:nvSpPr>
        <p:spPr>
          <a:xfrm>
            <a:off x="365760" y="1050677"/>
            <a:ext cx="4118856" cy="3567925"/>
          </a:xfrm>
          <a:prstGeom prst="rect">
            <a:avLst/>
          </a:prstGeom>
          <a:noFill/>
          <a:ln/>
        </p:spPr>
        <p:txBody>
          <a:bodyPr wrap="square" rtlCol="0" anchor="t"/>
          <a:lstStyle/>
          <a:p>
            <a:r>
              <a:rPr lang="en-NG" sz="1400" b="1" dirty="0"/>
              <a:t>Income Class Distribution Key Findings </a:t>
            </a:r>
          </a:p>
          <a:p>
            <a:endParaRPr lang="en-NG" sz="1400" b="1" dirty="0"/>
          </a:p>
          <a:p>
            <a:pPr marL="285750" indent="-285750">
              <a:buFont typeface="Arial" panose="020B0604020202020204" pitchFamily="34" charset="0"/>
              <a:buChar char="•"/>
            </a:pPr>
            <a:r>
              <a:rPr lang="en-NG" sz="1400" dirty="0"/>
              <a:t>76% of samples belong to the &lt;=50K class</a:t>
            </a:r>
          </a:p>
          <a:p>
            <a:r>
              <a:rPr lang="en-NG" sz="1400" dirty="0"/>
              <a:t> </a:t>
            </a:r>
          </a:p>
          <a:p>
            <a:pPr marL="285750" indent="-285750">
              <a:buFont typeface="Arial" panose="020B0604020202020204" pitchFamily="34" charset="0"/>
              <a:buChar char="•"/>
            </a:pPr>
            <a:r>
              <a:rPr lang="en-NG" sz="1400" dirty="0"/>
              <a:t>24% of samples belong to the &gt;50K class </a:t>
            </a:r>
          </a:p>
          <a:p>
            <a:endParaRPr lang="en-NG" sz="1400" dirty="0"/>
          </a:p>
          <a:p>
            <a:pPr marL="285750" indent="-285750">
              <a:buFont typeface="Arial" panose="020B0604020202020204" pitchFamily="34" charset="0"/>
              <a:buChar char="•"/>
            </a:pPr>
            <a:r>
              <a:rPr lang="en-NG" sz="1400" dirty="0"/>
              <a:t>Majority class is approximately 3× larger </a:t>
            </a:r>
          </a:p>
          <a:p>
            <a:endParaRPr lang="en-NG" sz="1400" dirty="0"/>
          </a:p>
          <a:p>
            <a:pPr marL="285750" indent="-285750">
              <a:buFont typeface="Arial" panose="020B0604020202020204" pitchFamily="34" charset="0"/>
              <a:buChar char="•"/>
            </a:pPr>
            <a:r>
              <a:rPr lang="en-NG" sz="1400" dirty="0"/>
              <a:t>Dataset is moderately imbalanced </a:t>
            </a:r>
          </a:p>
          <a:p>
            <a:endParaRPr lang="en-NG" sz="1400" dirty="0"/>
          </a:p>
          <a:p>
            <a:pPr marL="285750" indent="-285750">
              <a:buFont typeface="Arial" panose="020B0604020202020204" pitchFamily="34" charset="0"/>
              <a:buChar char="•"/>
            </a:pPr>
            <a:r>
              <a:rPr lang="en-NG" sz="1400" dirty="0"/>
              <a:t>Accuracy alone may be misleading </a:t>
            </a:r>
          </a:p>
          <a:p>
            <a:endParaRPr lang="en-NG" sz="1400" dirty="0"/>
          </a:p>
          <a:p>
            <a:pPr marL="285750" indent="-285750">
              <a:buFont typeface="Arial" panose="020B0604020202020204" pitchFamily="34" charset="0"/>
              <a:buChar char="•"/>
            </a:pPr>
            <a:r>
              <a:rPr lang="en-NG" sz="1400" dirty="0"/>
              <a:t>Should be evaluated using Precision, Recall, F1-Score, MCC, and ROC-AUC </a:t>
            </a:r>
          </a:p>
          <a:p>
            <a:endParaRPr lang="en-NG" sz="1400" dirty="0"/>
          </a:p>
          <a:p>
            <a:pPr marL="285750" indent="-285750">
              <a:buFont typeface="Arial" panose="020B0604020202020204" pitchFamily="34" charset="0"/>
              <a:buChar char="•"/>
            </a:pPr>
            <a:r>
              <a:rPr lang="en-NG" sz="1400" dirty="0"/>
              <a:t>Explored SMOTE and class weighting </a:t>
            </a:r>
          </a:p>
          <a:p>
            <a:endParaRPr lang="en-US" sz="1400" dirty="0"/>
          </a:p>
        </p:txBody>
      </p:sp>
      <p:sp>
        <p:nvSpPr>
          <p:cNvPr id="26" name="Shape 24">
            <a:extLst>
              <a:ext uri="{FF2B5EF4-FFF2-40B4-BE49-F238E27FC236}">
                <a16:creationId xmlns:a16="http://schemas.microsoft.com/office/drawing/2014/main" id="{E6AB034D-AC29-3489-59D8-7877D286498A}"/>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5454806A-7046-F430-88B4-1DF1CFDEE5FF}"/>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28" name="Picture 27">
            <a:extLst>
              <a:ext uri="{FF2B5EF4-FFF2-40B4-BE49-F238E27FC236}">
                <a16:creationId xmlns:a16="http://schemas.microsoft.com/office/drawing/2014/main" id="{2A25D9E5-92D5-02D4-4ACE-7D8318533119}"/>
              </a:ext>
            </a:extLst>
          </p:cNvPr>
          <p:cNvPicPr>
            <a:picLocks noChangeAspect="1"/>
          </p:cNvPicPr>
          <p:nvPr/>
        </p:nvPicPr>
        <p:blipFill>
          <a:blip r:embed="rId3"/>
          <a:stretch>
            <a:fillRect/>
          </a:stretch>
        </p:blipFill>
        <p:spPr>
          <a:xfrm>
            <a:off x="4484616" y="1346975"/>
            <a:ext cx="4293624" cy="2975330"/>
          </a:xfrm>
          <a:prstGeom prst="rect">
            <a:avLst/>
          </a:prstGeom>
        </p:spPr>
      </p:pic>
    </p:spTree>
    <p:extLst>
      <p:ext uri="{BB962C8B-B14F-4D97-AF65-F5344CB8AC3E}">
        <p14:creationId xmlns:p14="http://schemas.microsoft.com/office/powerpoint/2010/main" val="4168220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9CD7D0-3002-A277-597A-012EDAAF72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9AF0C8-4CC0-779E-3B4C-4E6D5299A0D5}"/>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C717FECC-0C57-E80D-643C-055A3F773C27}"/>
              </a:ext>
            </a:extLst>
          </p:cNvPr>
          <p:cNvSpPr/>
          <p:nvPr/>
        </p:nvSpPr>
        <p:spPr>
          <a:xfrm>
            <a:off x="365760" y="621792"/>
            <a:ext cx="8412480" cy="292608"/>
          </a:xfrm>
          <a:prstGeom prst="rect">
            <a:avLst/>
          </a:prstGeom>
          <a:noFill/>
          <a:ln/>
        </p:spPr>
        <p:txBody>
          <a:bodyPr wrap="square" rtlCol="0" anchor="ctr"/>
          <a:lstStyle/>
          <a:p>
            <a:r>
              <a:rPr lang="en-US" sz="1500" dirty="0">
                <a:solidFill>
                  <a:srgbClr val="4A90C4"/>
                </a:solidFill>
                <a:latin typeface="Calibri" pitchFamily="34" charset="0"/>
                <a:ea typeface="Calibri" pitchFamily="34" charset="-122"/>
                <a:cs typeface="Calibri" pitchFamily="34" charset="-120"/>
              </a:rPr>
              <a:t>Exploratory Data Analysis</a:t>
            </a:r>
            <a:endParaRPr lang="en-US" sz="1500" dirty="0"/>
          </a:p>
        </p:txBody>
      </p:sp>
      <p:sp>
        <p:nvSpPr>
          <p:cNvPr id="4" name="Text 2">
            <a:extLst>
              <a:ext uri="{FF2B5EF4-FFF2-40B4-BE49-F238E27FC236}">
                <a16:creationId xmlns:a16="http://schemas.microsoft.com/office/drawing/2014/main" id="{F68AE040-A21E-D6A3-4AE9-BA4BB6C13366}"/>
              </a:ext>
            </a:extLst>
          </p:cNvPr>
          <p:cNvSpPr/>
          <p:nvPr/>
        </p:nvSpPr>
        <p:spPr>
          <a:xfrm>
            <a:off x="365760" y="914400"/>
            <a:ext cx="4118856" cy="3567925"/>
          </a:xfrm>
          <a:prstGeom prst="rect">
            <a:avLst/>
          </a:prstGeom>
          <a:noFill/>
          <a:ln/>
        </p:spPr>
        <p:txBody>
          <a:bodyPr wrap="square" rtlCol="0" anchor="t"/>
          <a:lstStyle/>
          <a:p>
            <a:r>
              <a:rPr lang="en-NG" sz="1400" b="1" dirty="0"/>
              <a:t>Missing Values Key Findings</a:t>
            </a:r>
          </a:p>
          <a:p>
            <a:pPr marL="285750" indent="-285750">
              <a:buFont typeface="Arial" panose="020B0604020202020204" pitchFamily="34" charset="0"/>
              <a:buChar char="•"/>
            </a:pPr>
            <a:r>
              <a:rPr lang="en-NG" sz="1400" dirty="0"/>
              <a:t>Missing values were represented as </a:t>
            </a:r>
            <a:r>
              <a:rPr lang="en-NG" sz="1400" b="1" dirty="0"/>
              <a:t>"?"</a:t>
            </a:r>
            <a:r>
              <a:rPr lang="en-NG" sz="1400" dirty="0"/>
              <a:t> rather than standard null values.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Missing data was concentrated in only </a:t>
            </a:r>
            <a:r>
              <a:rPr lang="en-NG" sz="1400" b="1" dirty="0"/>
              <a:t>three categorical features</a:t>
            </a:r>
            <a:r>
              <a:rPr lang="en-NG" sz="1400" dirty="0"/>
              <a:t>: occupation, workclass and native-country</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occupation contained approximately </a:t>
            </a:r>
            <a:r>
              <a:rPr lang="en-NG" sz="1400" b="1" dirty="0"/>
              <a:t>5.7%</a:t>
            </a:r>
            <a:r>
              <a:rPr lang="en-NG" sz="1400" dirty="0"/>
              <a:t> missing values.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workclass contained approximately </a:t>
            </a:r>
            <a:r>
              <a:rPr lang="en-NG" sz="1400" b="1" dirty="0"/>
              <a:t>5.6%</a:t>
            </a:r>
            <a:r>
              <a:rPr lang="en-NG" sz="1400" dirty="0"/>
              <a:t> missing values.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native-country contained approximately </a:t>
            </a:r>
            <a:r>
              <a:rPr lang="en-NG" sz="1400" b="1" dirty="0"/>
              <a:t>1.8%</a:t>
            </a:r>
            <a:r>
              <a:rPr lang="en-NG" sz="1400" dirty="0"/>
              <a:t> missing values.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All remaining features contained </a:t>
            </a:r>
            <a:r>
              <a:rPr lang="en-NG" sz="1400" b="1" dirty="0"/>
              <a:t>no missing values</a:t>
            </a:r>
            <a:endParaRPr lang="en-NG" sz="1400" dirty="0"/>
          </a:p>
        </p:txBody>
      </p:sp>
      <p:sp>
        <p:nvSpPr>
          <p:cNvPr id="26" name="Shape 24">
            <a:extLst>
              <a:ext uri="{FF2B5EF4-FFF2-40B4-BE49-F238E27FC236}">
                <a16:creationId xmlns:a16="http://schemas.microsoft.com/office/drawing/2014/main" id="{0FDE2867-0D94-58C0-5E5A-7A689F9E52F1}"/>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B85E9E1F-7379-8025-D9E3-CEEABDBB45A7}"/>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2DD257E4-C91F-5BA1-E51A-F86FD4526E92}"/>
              </a:ext>
            </a:extLst>
          </p:cNvPr>
          <p:cNvPicPr>
            <a:picLocks noChangeAspect="1"/>
          </p:cNvPicPr>
          <p:nvPr/>
        </p:nvPicPr>
        <p:blipFill>
          <a:blip r:embed="rId3"/>
          <a:stretch>
            <a:fillRect/>
          </a:stretch>
        </p:blipFill>
        <p:spPr>
          <a:xfrm>
            <a:off x="4484616" y="1261190"/>
            <a:ext cx="4481583" cy="3000192"/>
          </a:xfrm>
          <a:prstGeom prst="rect">
            <a:avLst/>
          </a:prstGeom>
        </p:spPr>
      </p:pic>
    </p:spTree>
    <p:extLst>
      <p:ext uri="{BB962C8B-B14F-4D97-AF65-F5344CB8AC3E}">
        <p14:creationId xmlns:p14="http://schemas.microsoft.com/office/powerpoint/2010/main" val="102781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3E1650-8950-6F55-C45E-9D43A22553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DD5D04-D0C8-FA6A-1C56-9E5A6B416119}"/>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C7575711-70A8-F2C7-C365-88AD8EC8D99A}"/>
              </a:ext>
            </a:extLst>
          </p:cNvPr>
          <p:cNvSpPr/>
          <p:nvPr/>
        </p:nvSpPr>
        <p:spPr>
          <a:xfrm>
            <a:off x="365760" y="621792"/>
            <a:ext cx="8412480" cy="292608"/>
          </a:xfrm>
          <a:prstGeom prst="rect">
            <a:avLst/>
          </a:prstGeom>
          <a:noFill/>
          <a:ln/>
        </p:spPr>
        <p:txBody>
          <a:bodyPr wrap="square" rtlCol="0" anchor="ctr"/>
          <a:lstStyle/>
          <a:p>
            <a:r>
              <a:rPr lang="en-US" sz="1500" dirty="0">
                <a:solidFill>
                  <a:srgbClr val="4A90C4"/>
                </a:solidFill>
                <a:latin typeface="Calibri" pitchFamily="34" charset="0"/>
                <a:ea typeface="Calibri" pitchFamily="34" charset="-122"/>
                <a:cs typeface="Calibri" pitchFamily="34" charset="-120"/>
              </a:rPr>
              <a:t>Exploratory Data Analysis</a:t>
            </a:r>
            <a:endParaRPr lang="en-US" sz="1500" dirty="0"/>
          </a:p>
        </p:txBody>
      </p:sp>
      <p:sp>
        <p:nvSpPr>
          <p:cNvPr id="4" name="Text 2">
            <a:extLst>
              <a:ext uri="{FF2B5EF4-FFF2-40B4-BE49-F238E27FC236}">
                <a16:creationId xmlns:a16="http://schemas.microsoft.com/office/drawing/2014/main" id="{90AFF2E6-BA5C-B3F4-70A4-8E54373DA900}"/>
              </a:ext>
            </a:extLst>
          </p:cNvPr>
          <p:cNvSpPr/>
          <p:nvPr/>
        </p:nvSpPr>
        <p:spPr>
          <a:xfrm>
            <a:off x="365760" y="1235790"/>
            <a:ext cx="4118856" cy="3567925"/>
          </a:xfrm>
          <a:prstGeom prst="rect">
            <a:avLst/>
          </a:prstGeom>
          <a:noFill/>
          <a:ln/>
        </p:spPr>
        <p:txBody>
          <a:bodyPr wrap="square" rtlCol="0" anchor="t"/>
          <a:lstStyle/>
          <a:p>
            <a:r>
              <a:rPr lang="en-NG" sz="1400" b="1" dirty="0"/>
              <a:t>Duplicate Records Key Findings</a:t>
            </a:r>
          </a:p>
          <a:p>
            <a:endParaRPr lang="en-NG" sz="1400" b="1" dirty="0"/>
          </a:p>
          <a:p>
            <a:pPr marL="285750" indent="-285750">
              <a:buFont typeface="Arial" panose="020B0604020202020204" pitchFamily="34" charset="0"/>
              <a:buChar char="•"/>
            </a:pPr>
            <a:r>
              <a:rPr lang="en-NG" sz="1400" b="1" dirty="0"/>
              <a:t>52 duplicate records</a:t>
            </a:r>
            <a:r>
              <a:rPr lang="en-NG" sz="1400" dirty="0"/>
              <a:t> were identified. </a:t>
            </a:r>
          </a:p>
          <a:p>
            <a:endParaRPr lang="en-NG" sz="1400" dirty="0"/>
          </a:p>
          <a:p>
            <a:pPr marL="285750" indent="-285750">
              <a:buFont typeface="Arial" panose="020B0604020202020204" pitchFamily="34" charset="0"/>
              <a:buChar char="•"/>
            </a:pPr>
            <a:r>
              <a:rPr lang="en-NG" sz="1400" dirty="0"/>
              <a:t>Duplicates represented approximately </a:t>
            </a:r>
            <a:r>
              <a:rPr lang="en-NG" sz="1400" b="1" dirty="0"/>
              <a:t>0.11%</a:t>
            </a:r>
            <a:r>
              <a:rPr lang="en-NG" sz="1400" dirty="0"/>
              <a:t> of the dataset. </a:t>
            </a:r>
          </a:p>
          <a:p>
            <a:endParaRPr lang="en-NG" sz="1400" dirty="0"/>
          </a:p>
          <a:p>
            <a:pPr marL="285750" indent="-285750">
              <a:buFont typeface="Arial" panose="020B0604020202020204" pitchFamily="34" charset="0"/>
              <a:buChar char="•"/>
            </a:pPr>
            <a:r>
              <a:rPr lang="en-NG" sz="1400" dirty="0"/>
              <a:t>Although the proportion was small, duplicates can introduce redundancy. </a:t>
            </a:r>
          </a:p>
          <a:p>
            <a:endParaRPr lang="en-NG" sz="1400" dirty="0"/>
          </a:p>
          <a:p>
            <a:pPr marL="285750" indent="-285750">
              <a:buFont typeface="Arial" panose="020B0604020202020204" pitchFamily="34" charset="0"/>
              <a:buChar char="•"/>
            </a:pPr>
            <a:r>
              <a:rPr lang="en-NG" sz="1400" dirty="0"/>
              <a:t>Duplicate records may bias model learning and evaluation. </a:t>
            </a:r>
          </a:p>
          <a:p>
            <a:endParaRPr lang="en-NG" sz="1400" dirty="0"/>
          </a:p>
          <a:p>
            <a:pPr marL="285750" indent="-285750">
              <a:buFont typeface="Arial" panose="020B0604020202020204" pitchFamily="34" charset="0"/>
              <a:buChar char="•"/>
            </a:pPr>
            <a:r>
              <a:rPr lang="en-NG" sz="1400" dirty="0"/>
              <a:t>All duplicates will be removed during data cleaning.</a:t>
            </a:r>
          </a:p>
        </p:txBody>
      </p:sp>
      <p:sp>
        <p:nvSpPr>
          <p:cNvPr id="26" name="Shape 24">
            <a:extLst>
              <a:ext uri="{FF2B5EF4-FFF2-40B4-BE49-F238E27FC236}">
                <a16:creationId xmlns:a16="http://schemas.microsoft.com/office/drawing/2014/main" id="{9A29BE98-FE96-476F-9458-23C4B71EEDA8}"/>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93AD649B-B30B-35B9-A595-7CF14B0C6901}"/>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A67DE44A-05FB-8215-67C2-A59BDB608861}"/>
              </a:ext>
            </a:extLst>
          </p:cNvPr>
          <p:cNvPicPr>
            <a:picLocks noChangeAspect="1"/>
          </p:cNvPicPr>
          <p:nvPr/>
        </p:nvPicPr>
        <p:blipFill>
          <a:blip r:embed="rId3"/>
          <a:stretch>
            <a:fillRect/>
          </a:stretch>
        </p:blipFill>
        <p:spPr>
          <a:xfrm>
            <a:off x="4484616" y="1333370"/>
            <a:ext cx="4503808" cy="3002539"/>
          </a:xfrm>
          <a:prstGeom prst="rect">
            <a:avLst/>
          </a:prstGeom>
        </p:spPr>
      </p:pic>
    </p:spTree>
    <p:extLst>
      <p:ext uri="{BB962C8B-B14F-4D97-AF65-F5344CB8AC3E}">
        <p14:creationId xmlns:p14="http://schemas.microsoft.com/office/powerpoint/2010/main" val="712221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A15F14-298A-AB22-8D67-85E2FCF5EF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6E6D88-0417-C8BB-5BA4-2243E3A03DE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929B6F31-110F-1638-C3F3-9BBA836E2B8D}"/>
              </a:ext>
            </a:extLst>
          </p:cNvPr>
          <p:cNvSpPr/>
          <p:nvPr/>
        </p:nvSpPr>
        <p:spPr>
          <a:xfrm>
            <a:off x="365760" y="621792"/>
            <a:ext cx="8412480" cy="292608"/>
          </a:xfrm>
          <a:prstGeom prst="rect">
            <a:avLst/>
          </a:prstGeom>
          <a:noFill/>
          <a:ln/>
        </p:spPr>
        <p:txBody>
          <a:bodyPr wrap="square" rtlCol="0" anchor="ctr"/>
          <a:lstStyle/>
          <a:p>
            <a:r>
              <a:rPr lang="en-US" sz="1600" dirty="0">
                <a:solidFill>
                  <a:srgbClr val="4A90C4"/>
                </a:solidFill>
                <a:latin typeface="Calibri" pitchFamily="34" charset="0"/>
                <a:ea typeface="Calibri" pitchFamily="34" charset="-122"/>
                <a:cs typeface="Calibri" pitchFamily="34" charset="-120"/>
              </a:rPr>
              <a:t>Exploratory Data Analysis</a:t>
            </a:r>
            <a:endParaRPr lang="en-US" sz="1600" dirty="0"/>
          </a:p>
        </p:txBody>
      </p:sp>
      <p:sp>
        <p:nvSpPr>
          <p:cNvPr id="4" name="Text 2">
            <a:extLst>
              <a:ext uri="{FF2B5EF4-FFF2-40B4-BE49-F238E27FC236}">
                <a16:creationId xmlns:a16="http://schemas.microsoft.com/office/drawing/2014/main" id="{8FEE717E-FC1A-1D65-E6A2-1A2F9FCE6A2F}"/>
              </a:ext>
            </a:extLst>
          </p:cNvPr>
          <p:cNvSpPr/>
          <p:nvPr/>
        </p:nvSpPr>
        <p:spPr>
          <a:xfrm>
            <a:off x="365760" y="1095515"/>
            <a:ext cx="3685539" cy="3659365"/>
          </a:xfrm>
          <a:prstGeom prst="rect">
            <a:avLst/>
          </a:prstGeom>
          <a:noFill/>
          <a:ln/>
        </p:spPr>
        <p:txBody>
          <a:bodyPr wrap="square" rtlCol="0" anchor="t"/>
          <a:lstStyle/>
          <a:p>
            <a:r>
              <a:rPr lang="en-NG" sz="1400" b="1" dirty="0"/>
              <a:t>Numerical Features Key Findings</a:t>
            </a:r>
          </a:p>
          <a:p>
            <a:pPr marL="285750" indent="-285750">
              <a:buFont typeface="Arial" panose="020B0604020202020204" pitchFamily="34" charset="0"/>
              <a:buChar char="•"/>
            </a:pPr>
            <a:r>
              <a:rPr lang="en-NG" sz="1400" dirty="0"/>
              <a:t>Age is concentrated between </a:t>
            </a:r>
            <a:r>
              <a:rPr lang="en-NG" sz="1400" b="1" dirty="0"/>
              <a:t>25–50 years</a:t>
            </a:r>
            <a:r>
              <a:rPr lang="en-NG" sz="1400" dirty="0"/>
              <a:t>.</a:t>
            </a:r>
          </a:p>
          <a:p>
            <a:r>
              <a:rPr lang="en-NG" sz="1400" dirty="0"/>
              <a:t> </a:t>
            </a:r>
          </a:p>
          <a:p>
            <a:pPr marL="285750" indent="-285750">
              <a:buFont typeface="Arial" panose="020B0604020202020204" pitchFamily="34" charset="0"/>
              <a:buChar char="•"/>
            </a:pPr>
            <a:r>
              <a:rPr lang="en-NG" sz="1400" dirty="0"/>
              <a:t>Most individuals work approximately </a:t>
            </a:r>
            <a:r>
              <a:rPr lang="en-NG" sz="1400" b="1" dirty="0"/>
              <a:t>40 hours per week</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capital-gain and capital-loss are highly right-skewed.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Most observations have zero capital gain and loss.</a:t>
            </a:r>
          </a:p>
          <a:p>
            <a:r>
              <a:rPr lang="en-NG" sz="1400" dirty="0"/>
              <a:t> </a:t>
            </a:r>
          </a:p>
          <a:p>
            <a:pPr marL="285750" indent="-285750">
              <a:buFont typeface="Arial" panose="020B0604020202020204" pitchFamily="34" charset="0"/>
              <a:buChar char="•"/>
            </a:pPr>
            <a:r>
              <a:rPr lang="en-NG" sz="1400" dirty="0"/>
              <a:t>fnlwgt exhibits a highly skewed distribution.</a:t>
            </a:r>
          </a:p>
          <a:p>
            <a:r>
              <a:rPr lang="en-NG" sz="1400" dirty="0"/>
              <a:t> </a:t>
            </a:r>
          </a:p>
          <a:p>
            <a:pPr marL="285750" indent="-285750">
              <a:buFont typeface="Arial" panose="020B0604020202020204" pitchFamily="34" charset="0"/>
              <a:buChar char="•"/>
            </a:pPr>
            <a:r>
              <a:rPr lang="en-NG" sz="1400" dirty="0"/>
              <a:t>Skewed variables may require transformation before modeling.</a:t>
            </a:r>
          </a:p>
        </p:txBody>
      </p:sp>
      <p:sp>
        <p:nvSpPr>
          <p:cNvPr id="26" name="Shape 24">
            <a:extLst>
              <a:ext uri="{FF2B5EF4-FFF2-40B4-BE49-F238E27FC236}">
                <a16:creationId xmlns:a16="http://schemas.microsoft.com/office/drawing/2014/main" id="{83699AAD-BC7A-4520-A416-00C411BCE92A}"/>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59977F5-5DF4-5716-0A7F-42CE30074CED}"/>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95F1D1D9-DB8F-CB68-9E6C-3DF20CDAE8A1}"/>
              </a:ext>
            </a:extLst>
          </p:cNvPr>
          <p:cNvPicPr>
            <a:picLocks noChangeAspect="1"/>
          </p:cNvPicPr>
          <p:nvPr/>
        </p:nvPicPr>
        <p:blipFill>
          <a:blip r:embed="rId3"/>
          <a:stretch>
            <a:fillRect/>
          </a:stretch>
        </p:blipFill>
        <p:spPr>
          <a:xfrm>
            <a:off x="4261355" y="940308"/>
            <a:ext cx="4562605" cy="3581400"/>
          </a:xfrm>
          <a:prstGeom prst="rect">
            <a:avLst/>
          </a:prstGeom>
        </p:spPr>
      </p:pic>
    </p:spTree>
    <p:extLst>
      <p:ext uri="{BB962C8B-B14F-4D97-AF65-F5344CB8AC3E}">
        <p14:creationId xmlns:p14="http://schemas.microsoft.com/office/powerpoint/2010/main" val="3138852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0736BB-ED97-4C26-E8F3-AC5C40D61A6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87DA8C8-979F-2F8E-AB0F-72A62E7B1B76}"/>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9FED549B-277A-327F-9192-CE875321DB02}"/>
              </a:ext>
            </a:extLst>
          </p:cNvPr>
          <p:cNvSpPr/>
          <p:nvPr/>
        </p:nvSpPr>
        <p:spPr>
          <a:xfrm>
            <a:off x="365760" y="621792"/>
            <a:ext cx="8412480" cy="292608"/>
          </a:xfrm>
          <a:prstGeom prst="rect">
            <a:avLst/>
          </a:prstGeom>
          <a:noFill/>
          <a:ln/>
        </p:spPr>
        <p:txBody>
          <a:bodyPr wrap="square" rtlCol="0" anchor="ctr"/>
          <a:lstStyle/>
          <a:p>
            <a:r>
              <a:rPr lang="en-US" sz="1600" dirty="0">
                <a:solidFill>
                  <a:srgbClr val="4A90C4"/>
                </a:solidFill>
                <a:latin typeface="Calibri" pitchFamily="34" charset="0"/>
                <a:ea typeface="Calibri" pitchFamily="34" charset="-122"/>
                <a:cs typeface="Calibri" pitchFamily="34" charset="-120"/>
              </a:rPr>
              <a:t>Exploratory Data Analysis</a:t>
            </a:r>
            <a:endParaRPr lang="en-US" sz="1600" dirty="0"/>
          </a:p>
        </p:txBody>
      </p:sp>
      <p:sp>
        <p:nvSpPr>
          <p:cNvPr id="4" name="Text 2">
            <a:extLst>
              <a:ext uri="{FF2B5EF4-FFF2-40B4-BE49-F238E27FC236}">
                <a16:creationId xmlns:a16="http://schemas.microsoft.com/office/drawing/2014/main" id="{BBCC5442-526D-E514-DDEF-50776E62CAB0}"/>
              </a:ext>
            </a:extLst>
          </p:cNvPr>
          <p:cNvSpPr/>
          <p:nvPr/>
        </p:nvSpPr>
        <p:spPr>
          <a:xfrm>
            <a:off x="365760" y="914401"/>
            <a:ext cx="3685539" cy="4091940"/>
          </a:xfrm>
          <a:prstGeom prst="rect">
            <a:avLst/>
          </a:prstGeom>
          <a:noFill/>
          <a:ln/>
        </p:spPr>
        <p:txBody>
          <a:bodyPr wrap="square" rtlCol="0" anchor="t"/>
          <a:lstStyle/>
          <a:p>
            <a:r>
              <a:rPr lang="en-NG" sz="1400" b="1" dirty="0"/>
              <a:t>Outliers and extreme values</a:t>
            </a:r>
          </a:p>
          <a:p>
            <a:pPr marL="285750" indent="-285750">
              <a:buFont typeface="Arial" panose="020B0604020202020204" pitchFamily="34" charset="0"/>
              <a:buChar char="•"/>
            </a:pPr>
            <a:r>
              <a:rPr lang="en-NG" sz="1400" dirty="0"/>
              <a:t>Outliers are present in several numerical variables. </a:t>
            </a:r>
          </a:p>
          <a:p>
            <a:endParaRPr lang="en-NG" sz="1400" dirty="0"/>
          </a:p>
          <a:p>
            <a:pPr marL="285750" indent="-285750">
              <a:buFont typeface="Arial" panose="020B0604020202020204" pitchFamily="34" charset="0"/>
              <a:buChar char="•"/>
            </a:pPr>
            <a:r>
              <a:rPr lang="en-NG" sz="1400" dirty="0"/>
              <a:t>Capital-gain contains extreme high-value observations. </a:t>
            </a:r>
          </a:p>
          <a:p>
            <a:endParaRPr lang="en-NG" sz="1400" dirty="0"/>
          </a:p>
          <a:p>
            <a:pPr marL="285750" indent="-285750">
              <a:buFont typeface="Arial" panose="020B0604020202020204" pitchFamily="34" charset="0"/>
              <a:buChar char="•"/>
            </a:pPr>
            <a:r>
              <a:rPr lang="en-NG" sz="1400" dirty="0"/>
              <a:t>Capital-loss contains extreme high-value observations. </a:t>
            </a:r>
          </a:p>
          <a:p>
            <a:endParaRPr lang="en-NG" sz="1400" dirty="0"/>
          </a:p>
          <a:p>
            <a:pPr marL="285750" indent="-285750">
              <a:buFont typeface="Arial" panose="020B0604020202020204" pitchFamily="34" charset="0"/>
              <a:buChar char="•"/>
            </a:pPr>
            <a:r>
              <a:rPr lang="en-NG" sz="1400" dirty="0"/>
              <a:t>Hours-per-week includes unusually low and high working hours. </a:t>
            </a:r>
          </a:p>
          <a:p>
            <a:endParaRPr lang="en-NG" sz="1400" dirty="0"/>
          </a:p>
          <a:p>
            <a:pPr marL="285750" indent="-285750">
              <a:buFont typeface="Arial" panose="020B0604020202020204" pitchFamily="34" charset="0"/>
              <a:buChar char="•"/>
            </a:pPr>
            <a:r>
              <a:rPr lang="en-NG" sz="1400" dirty="0"/>
              <a:t>Outliers reflect real socioeconomic variation rather than data-entry errors. </a:t>
            </a:r>
          </a:p>
          <a:p>
            <a:endParaRPr lang="en-NG" sz="1400" dirty="0"/>
          </a:p>
          <a:p>
            <a:pPr marL="285750" indent="-285750">
              <a:buFont typeface="Arial" panose="020B0604020202020204" pitchFamily="34" charset="0"/>
              <a:buChar char="•"/>
            </a:pPr>
            <a:r>
              <a:rPr lang="en-NG" sz="1400" dirty="0"/>
              <a:t>Log transformations will be applied to highly skewed financial variables. </a:t>
            </a:r>
          </a:p>
        </p:txBody>
      </p:sp>
      <p:sp>
        <p:nvSpPr>
          <p:cNvPr id="26" name="Shape 24">
            <a:extLst>
              <a:ext uri="{FF2B5EF4-FFF2-40B4-BE49-F238E27FC236}">
                <a16:creationId xmlns:a16="http://schemas.microsoft.com/office/drawing/2014/main" id="{1AF6BC50-6847-227D-8AE5-4470A57D6CBE}"/>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A83335A8-B1D4-AC13-1BE6-B940722EF8DA}"/>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1CB37C55-70FD-A602-B263-6C5C7B942BBB}"/>
              </a:ext>
            </a:extLst>
          </p:cNvPr>
          <p:cNvPicPr>
            <a:picLocks noChangeAspect="1"/>
          </p:cNvPicPr>
          <p:nvPr/>
        </p:nvPicPr>
        <p:blipFill>
          <a:blip r:embed="rId3"/>
          <a:stretch>
            <a:fillRect/>
          </a:stretch>
        </p:blipFill>
        <p:spPr>
          <a:xfrm>
            <a:off x="4315244" y="1124712"/>
            <a:ext cx="4508716" cy="3192171"/>
          </a:xfrm>
          <a:prstGeom prst="rect">
            <a:avLst/>
          </a:prstGeom>
        </p:spPr>
      </p:pic>
    </p:spTree>
    <p:extLst>
      <p:ext uri="{BB962C8B-B14F-4D97-AF65-F5344CB8AC3E}">
        <p14:creationId xmlns:p14="http://schemas.microsoft.com/office/powerpoint/2010/main" val="1919730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E12CFF7-141B-9A7E-7B3B-24B3651939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ABF856-3EB9-4117-0855-6F6BCFE0787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982F20FC-C0FC-E7A8-98C6-019362A90A14}"/>
              </a:ext>
            </a:extLst>
          </p:cNvPr>
          <p:cNvSpPr/>
          <p:nvPr/>
        </p:nvSpPr>
        <p:spPr>
          <a:xfrm>
            <a:off x="365759" y="715268"/>
            <a:ext cx="2085341" cy="364232"/>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Exploratory Data Analysis</a:t>
            </a:r>
            <a:endParaRPr lang="en-US" sz="1400" dirty="0"/>
          </a:p>
        </p:txBody>
      </p:sp>
      <p:sp>
        <p:nvSpPr>
          <p:cNvPr id="4" name="Text 2">
            <a:extLst>
              <a:ext uri="{FF2B5EF4-FFF2-40B4-BE49-F238E27FC236}">
                <a16:creationId xmlns:a16="http://schemas.microsoft.com/office/drawing/2014/main" id="{8A717F9A-6C2E-9614-D1BA-273DBC78D64C}"/>
              </a:ext>
            </a:extLst>
          </p:cNvPr>
          <p:cNvSpPr/>
          <p:nvPr/>
        </p:nvSpPr>
        <p:spPr>
          <a:xfrm>
            <a:off x="365761" y="1346975"/>
            <a:ext cx="3685539" cy="2221725"/>
          </a:xfrm>
          <a:prstGeom prst="rect">
            <a:avLst/>
          </a:prstGeom>
          <a:noFill/>
          <a:ln/>
        </p:spPr>
        <p:txBody>
          <a:bodyPr wrap="square" rtlCol="0" anchor="t"/>
          <a:lstStyle/>
          <a:p>
            <a:r>
              <a:rPr lang="en-NG" sz="1400" b="1" dirty="0"/>
              <a:t>Categorical Features Key Findings</a:t>
            </a:r>
          </a:p>
          <a:p>
            <a:endParaRPr lang="en-NG" sz="1400" b="1" dirty="0"/>
          </a:p>
          <a:p>
            <a:pPr marL="285750" indent="-285750">
              <a:buFont typeface="Arial" panose="020B0604020202020204" pitchFamily="34" charset="0"/>
              <a:buChar char="•"/>
            </a:pPr>
            <a:r>
              <a:rPr lang="en-NG" sz="1400" dirty="0"/>
              <a:t>Higher education levels are strongly associated with higher income. </a:t>
            </a:r>
          </a:p>
          <a:p>
            <a:endParaRPr lang="en-NG" sz="1400" dirty="0"/>
          </a:p>
          <a:p>
            <a:pPr marL="285750" indent="-285750">
              <a:buFont typeface="Arial" panose="020B0604020202020204" pitchFamily="34" charset="0"/>
              <a:buChar char="•"/>
            </a:pPr>
            <a:r>
              <a:rPr lang="en-NG" sz="1400" dirty="0"/>
              <a:t>Married individuals have a substantially higher proportion of </a:t>
            </a:r>
            <a:r>
              <a:rPr lang="en-NG" sz="1400" b="1" dirty="0"/>
              <a:t>&gt;50K</a:t>
            </a:r>
            <a:r>
              <a:rPr lang="en-NG" sz="1400" dirty="0"/>
              <a:t> earners. </a:t>
            </a:r>
          </a:p>
          <a:p>
            <a:endParaRPr lang="en-NG" sz="1400" dirty="0"/>
          </a:p>
          <a:p>
            <a:pPr marL="285750" indent="-285750">
              <a:buFont typeface="Arial" panose="020B0604020202020204" pitchFamily="34" charset="0"/>
              <a:buChar char="•"/>
            </a:pPr>
            <a:r>
              <a:rPr lang="en-NG" sz="1400" dirty="0"/>
              <a:t>Executive and professional occupations show the highest income levels. </a:t>
            </a:r>
          </a:p>
          <a:p>
            <a:pPr marL="285750" indent="-285750">
              <a:buFont typeface="Arial" panose="020B0604020202020204" pitchFamily="34" charset="0"/>
              <a:buChar char="•"/>
            </a:pPr>
            <a:endParaRPr lang="en-NG" sz="1400" dirty="0"/>
          </a:p>
          <a:p>
            <a:endParaRPr lang="en-US" sz="1400" dirty="0"/>
          </a:p>
        </p:txBody>
      </p:sp>
      <p:sp>
        <p:nvSpPr>
          <p:cNvPr id="26" name="Shape 24">
            <a:extLst>
              <a:ext uri="{FF2B5EF4-FFF2-40B4-BE49-F238E27FC236}">
                <a16:creationId xmlns:a16="http://schemas.microsoft.com/office/drawing/2014/main" id="{21D03E4B-AB6E-2EE6-060D-240CA67FABB1}"/>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66345790-6DAF-563E-B815-57E365309AE7}"/>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7C16A68B-0831-45EE-38CD-612AADD8A0CE}"/>
              </a:ext>
            </a:extLst>
          </p:cNvPr>
          <p:cNvPicPr>
            <a:picLocks noChangeAspect="1"/>
          </p:cNvPicPr>
          <p:nvPr/>
        </p:nvPicPr>
        <p:blipFill>
          <a:blip r:embed="rId3"/>
          <a:stretch>
            <a:fillRect/>
          </a:stretch>
        </p:blipFill>
        <p:spPr>
          <a:xfrm>
            <a:off x="4219955" y="630936"/>
            <a:ext cx="4558284" cy="3881628"/>
          </a:xfrm>
          <a:prstGeom prst="rect">
            <a:avLst/>
          </a:prstGeom>
        </p:spPr>
      </p:pic>
    </p:spTree>
    <p:extLst>
      <p:ext uri="{BB962C8B-B14F-4D97-AF65-F5344CB8AC3E}">
        <p14:creationId xmlns:p14="http://schemas.microsoft.com/office/powerpoint/2010/main" val="3084196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5035AD-CB3D-E563-BBDE-B0F311AAC64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8FC343-C5D3-26B3-543C-2A3B1846560A}"/>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DF21FEF7-174C-3EBF-9367-EFBDA2DFE120}"/>
              </a:ext>
            </a:extLst>
          </p:cNvPr>
          <p:cNvSpPr/>
          <p:nvPr/>
        </p:nvSpPr>
        <p:spPr>
          <a:xfrm>
            <a:off x="365759" y="715268"/>
            <a:ext cx="2085341" cy="364232"/>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Exploratory Data Analysis</a:t>
            </a:r>
            <a:endParaRPr lang="en-US" sz="1400" dirty="0"/>
          </a:p>
        </p:txBody>
      </p:sp>
      <p:sp>
        <p:nvSpPr>
          <p:cNvPr id="4" name="Text 2">
            <a:extLst>
              <a:ext uri="{FF2B5EF4-FFF2-40B4-BE49-F238E27FC236}">
                <a16:creationId xmlns:a16="http://schemas.microsoft.com/office/drawing/2014/main" id="{A3ADD862-8D90-AFF3-29B2-6748BD2D8A79}"/>
              </a:ext>
            </a:extLst>
          </p:cNvPr>
          <p:cNvSpPr/>
          <p:nvPr/>
        </p:nvSpPr>
        <p:spPr>
          <a:xfrm>
            <a:off x="365761" y="1346975"/>
            <a:ext cx="3685539" cy="2221725"/>
          </a:xfrm>
          <a:prstGeom prst="rect">
            <a:avLst/>
          </a:prstGeom>
          <a:noFill/>
          <a:ln/>
        </p:spPr>
        <p:txBody>
          <a:bodyPr wrap="square" rtlCol="0" anchor="t"/>
          <a:lstStyle/>
          <a:p>
            <a:r>
              <a:rPr lang="en-NG" sz="1400" b="1" dirty="0"/>
              <a:t>Categorical Features Key Findings</a:t>
            </a:r>
          </a:p>
          <a:p>
            <a:endParaRPr lang="en-NG" sz="1400" b="1" dirty="0"/>
          </a:p>
          <a:p>
            <a:pPr marL="285750" indent="-285750">
              <a:buFont typeface="Arial" panose="020B0604020202020204" pitchFamily="34" charset="0"/>
              <a:buChar char="•"/>
            </a:pPr>
            <a:r>
              <a:rPr lang="en-NG" sz="1400" dirty="0"/>
              <a:t>Males have a higher proportion of </a:t>
            </a:r>
            <a:r>
              <a:rPr lang="en-NG" sz="1400" b="1" dirty="0"/>
              <a:t>&gt;50K</a:t>
            </a:r>
            <a:r>
              <a:rPr lang="en-NG" sz="1400" dirty="0"/>
              <a:t> income observations than females.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Self-employed and private-sector workers tend to have higher income proportions.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Income distribution varies across demographic groups, indicating potential fairness considerations.</a:t>
            </a:r>
          </a:p>
          <a:p>
            <a:pPr marL="285750" indent="-285750">
              <a:buFont typeface="Arial" panose="020B0604020202020204" pitchFamily="34" charset="0"/>
              <a:buChar char="•"/>
            </a:pPr>
            <a:endParaRPr lang="en-NG" sz="1400" dirty="0"/>
          </a:p>
          <a:p>
            <a:endParaRPr lang="en-US" sz="1400" dirty="0"/>
          </a:p>
        </p:txBody>
      </p:sp>
      <p:sp>
        <p:nvSpPr>
          <p:cNvPr id="26" name="Shape 24">
            <a:extLst>
              <a:ext uri="{FF2B5EF4-FFF2-40B4-BE49-F238E27FC236}">
                <a16:creationId xmlns:a16="http://schemas.microsoft.com/office/drawing/2014/main" id="{752E365D-23D6-2743-6E50-3E1BD6222AD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578F1F2-E602-217A-0101-EA48C74A9422}"/>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B05A5708-342C-FC59-86EC-9F1724399661}"/>
              </a:ext>
            </a:extLst>
          </p:cNvPr>
          <p:cNvPicPr>
            <a:picLocks noChangeAspect="1"/>
          </p:cNvPicPr>
          <p:nvPr/>
        </p:nvPicPr>
        <p:blipFill>
          <a:blip r:embed="rId3"/>
          <a:stretch>
            <a:fillRect/>
          </a:stretch>
        </p:blipFill>
        <p:spPr>
          <a:xfrm>
            <a:off x="3945636" y="630936"/>
            <a:ext cx="4558284" cy="3881628"/>
          </a:xfrm>
          <a:prstGeom prst="rect">
            <a:avLst/>
          </a:prstGeom>
        </p:spPr>
      </p:pic>
    </p:spTree>
    <p:extLst>
      <p:ext uri="{BB962C8B-B14F-4D97-AF65-F5344CB8AC3E}">
        <p14:creationId xmlns:p14="http://schemas.microsoft.com/office/powerpoint/2010/main" val="3662511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89583B-FF85-6610-B2FB-F3BECAA0D1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F2F04B-DC0C-D638-6D98-F128F3FD8D0F}"/>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7F41358D-8843-9B99-0067-5C2E22F359AD}"/>
              </a:ext>
            </a:extLst>
          </p:cNvPr>
          <p:cNvSpPr/>
          <p:nvPr/>
        </p:nvSpPr>
        <p:spPr>
          <a:xfrm>
            <a:off x="365759" y="715268"/>
            <a:ext cx="2999741" cy="364232"/>
          </a:xfrm>
          <a:prstGeom prst="rect">
            <a:avLst/>
          </a:prstGeom>
          <a:noFill/>
          <a:ln/>
        </p:spPr>
        <p:txBody>
          <a:bodyPr wrap="square" rtlCol="0" anchor="ctr"/>
          <a:lstStyle/>
          <a:p>
            <a:r>
              <a:rPr lang="en-US" sz="1600" dirty="0">
                <a:solidFill>
                  <a:srgbClr val="4A90C4"/>
                </a:solidFill>
                <a:latin typeface="Calibri" pitchFamily="34" charset="0"/>
                <a:ea typeface="Calibri" pitchFamily="34" charset="-122"/>
                <a:cs typeface="Calibri" pitchFamily="34" charset="-120"/>
              </a:rPr>
              <a:t>Exploratory Data Analysis</a:t>
            </a:r>
            <a:endParaRPr lang="en-US" sz="1600" dirty="0"/>
          </a:p>
        </p:txBody>
      </p:sp>
      <p:sp>
        <p:nvSpPr>
          <p:cNvPr id="4" name="Text 2">
            <a:extLst>
              <a:ext uri="{FF2B5EF4-FFF2-40B4-BE49-F238E27FC236}">
                <a16:creationId xmlns:a16="http://schemas.microsoft.com/office/drawing/2014/main" id="{6DC29992-81B5-C020-86D0-BEBE5139C096}"/>
              </a:ext>
            </a:extLst>
          </p:cNvPr>
          <p:cNvSpPr/>
          <p:nvPr/>
        </p:nvSpPr>
        <p:spPr>
          <a:xfrm>
            <a:off x="320040" y="1251337"/>
            <a:ext cx="3685539" cy="2640825"/>
          </a:xfrm>
          <a:prstGeom prst="rect">
            <a:avLst/>
          </a:prstGeom>
          <a:noFill/>
          <a:ln/>
        </p:spPr>
        <p:txBody>
          <a:bodyPr wrap="square" rtlCol="0" anchor="t"/>
          <a:lstStyle/>
          <a:p>
            <a:r>
              <a:rPr lang="en-NG" sz="1400" b="1" dirty="0"/>
              <a:t>Correlation Analysis Key Findings</a:t>
            </a:r>
          </a:p>
          <a:p>
            <a:endParaRPr lang="en-NG" sz="1400" b="1" dirty="0"/>
          </a:p>
          <a:p>
            <a:pPr marL="285750" indent="-285750">
              <a:buFont typeface="Arial" panose="020B0604020202020204" pitchFamily="34" charset="0"/>
              <a:buChar char="•"/>
            </a:pPr>
            <a:r>
              <a:rPr lang="en-NG" sz="1400" dirty="0"/>
              <a:t>Most numerical features show </a:t>
            </a:r>
            <a:r>
              <a:rPr lang="en-NG" sz="1400" b="1" dirty="0"/>
              <a:t>weak-to-moderate correlations</a:t>
            </a:r>
            <a:r>
              <a:rPr lang="en-NG" sz="1400" dirty="0"/>
              <a:t> with income. </a:t>
            </a:r>
          </a:p>
          <a:p>
            <a:endParaRPr lang="en-NG" sz="1400" dirty="0"/>
          </a:p>
          <a:p>
            <a:pPr marL="285750" indent="-285750">
              <a:buFont typeface="Arial" panose="020B0604020202020204" pitchFamily="34" charset="0"/>
              <a:buChar char="•"/>
            </a:pPr>
            <a:r>
              <a:rPr lang="en-NG" sz="1400" b="1" dirty="0"/>
              <a:t>Educational level</a:t>
            </a:r>
            <a:r>
              <a:rPr lang="en-NG" sz="1400" dirty="0"/>
              <a:t> (educational-num) has the strongest correlation with income (</a:t>
            </a:r>
            <a:r>
              <a:rPr lang="en-NG" sz="1400" b="1" dirty="0"/>
              <a:t>r = 0.33)</a:t>
            </a:r>
          </a:p>
          <a:p>
            <a:r>
              <a:rPr lang="en-NG" sz="1400" dirty="0"/>
              <a:t> </a:t>
            </a:r>
          </a:p>
          <a:p>
            <a:pPr marL="285750" indent="-285750">
              <a:buFont typeface="Arial" panose="020B0604020202020204" pitchFamily="34" charset="0"/>
              <a:buChar char="•"/>
            </a:pPr>
            <a:r>
              <a:rPr lang="en-NG" sz="1400" b="1" dirty="0"/>
              <a:t>Age</a:t>
            </a:r>
            <a:r>
              <a:rPr lang="en-NG" sz="1400" dirty="0"/>
              <a:t> and </a:t>
            </a:r>
            <a:r>
              <a:rPr lang="en-NG" sz="1400" b="1" dirty="0"/>
              <a:t>hours-per-week</a:t>
            </a:r>
            <a:r>
              <a:rPr lang="en-NG" sz="1400" dirty="0"/>
              <a:t> show moderate positive correlations (</a:t>
            </a:r>
            <a:r>
              <a:rPr lang="en-NG" sz="1400" b="1" dirty="0"/>
              <a:t>r = 0.23</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Capital-gain</a:t>
            </a:r>
            <a:r>
              <a:rPr lang="en-NG" sz="1400" dirty="0"/>
              <a:t> is positively associated with income (</a:t>
            </a:r>
            <a:r>
              <a:rPr lang="en-NG" sz="1400" b="1" dirty="0"/>
              <a:t>r = 0.22</a:t>
            </a:r>
            <a:r>
              <a:rPr lang="en-NG" sz="1400" dirty="0"/>
              <a:t>). </a:t>
            </a:r>
          </a:p>
        </p:txBody>
      </p:sp>
      <p:sp>
        <p:nvSpPr>
          <p:cNvPr id="26" name="Shape 24">
            <a:extLst>
              <a:ext uri="{FF2B5EF4-FFF2-40B4-BE49-F238E27FC236}">
                <a16:creationId xmlns:a16="http://schemas.microsoft.com/office/drawing/2014/main" id="{D70E41AA-35B3-5DED-8F92-36ED9F20CC6E}"/>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F6C0C7FA-9FC4-6C26-B8A5-6D56069BD67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0B719F7F-A36B-89CA-4517-7237A13DE9EF}"/>
              </a:ext>
            </a:extLst>
          </p:cNvPr>
          <p:cNvPicPr>
            <a:picLocks noChangeAspect="1"/>
          </p:cNvPicPr>
          <p:nvPr/>
        </p:nvPicPr>
        <p:blipFill>
          <a:blip r:embed="rId3"/>
          <a:stretch>
            <a:fillRect/>
          </a:stretch>
        </p:blipFill>
        <p:spPr>
          <a:xfrm>
            <a:off x="4063087" y="1113097"/>
            <a:ext cx="4760873" cy="3168766"/>
          </a:xfrm>
          <a:prstGeom prst="rect">
            <a:avLst/>
          </a:prstGeom>
        </p:spPr>
      </p:pic>
    </p:spTree>
    <p:extLst>
      <p:ext uri="{BB962C8B-B14F-4D97-AF65-F5344CB8AC3E}">
        <p14:creationId xmlns:p14="http://schemas.microsoft.com/office/powerpoint/2010/main" val="336112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D5C0D5F-4F85-69E1-D5A0-004BFA9666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0B671B-8DE4-EA14-39B7-8FEBF382253C}"/>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B57CB067-7F80-FFA5-C455-D3CB84C50E9F}"/>
              </a:ext>
            </a:extLst>
          </p:cNvPr>
          <p:cNvSpPr/>
          <p:nvPr/>
        </p:nvSpPr>
        <p:spPr>
          <a:xfrm>
            <a:off x="365759" y="715268"/>
            <a:ext cx="2987041" cy="364232"/>
          </a:xfrm>
          <a:prstGeom prst="rect">
            <a:avLst/>
          </a:prstGeom>
          <a:noFill/>
          <a:ln/>
        </p:spPr>
        <p:txBody>
          <a:bodyPr wrap="square" rtlCol="0" anchor="ctr"/>
          <a:lstStyle/>
          <a:p>
            <a:r>
              <a:rPr lang="en-US" sz="1600" dirty="0">
                <a:solidFill>
                  <a:srgbClr val="4A90C4"/>
                </a:solidFill>
                <a:latin typeface="Calibri" pitchFamily="34" charset="0"/>
                <a:ea typeface="Calibri" pitchFamily="34" charset="-122"/>
                <a:cs typeface="Calibri" pitchFamily="34" charset="-120"/>
              </a:rPr>
              <a:t>Exploratory Data Analysis</a:t>
            </a:r>
            <a:endParaRPr lang="en-US" sz="1600" dirty="0"/>
          </a:p>
        </p:txBody>
      </p:sp>
      <p:sp>
        <p:nvSpPr>
          <p:cNvPr id="4" name="Text 2">
            <a:extLst>
              <a:ext uri="{FF2B5EF4-FFF2-40B4-BE49-F238E27FC236}">
                <a16:creationId xmlns:a16="http://schemas.microsoft.com/office/drawing/2014/main" id="{D6581A92-C3C8-716F-4266-F9AD379134E9}"/>
              </a:ext>
            </a:extLst>
          </p:cNvPr>
          <p:cNvSpPr/>
          <p:nvPr/>
        </p:nvSpPr>
        <p:spPr>
          <a:xfrm>
            <a:off x="320040" y="1251337"/>
            <a:ext cx="3685539" cy="2640825"/>
          </a:xfrm>
          <a:prstGeom prst="rect">
            <a:avLst/>
          </a:prstGeom>
          <a:noFill/>
          <a:ln/>
        </p:spPr>
        <p:txBody>
          <a:bodyPr wrap="square" rtlCol="0" anchor="t"/>
          <a:lstStyle/>
          <a:p>
            <a:r>
              <a:rPr lang="en-NG" sz="1400" b="1" dirty="0"/>
              <a:t>Correlation Analysis Key Findings</a:t>
            </a:r>
          </a:p>
          <a:p>
            <a:pPr marL="285750" indent="-285750">
              <a:buFont typeface="Arial" panose="020B0604020202020204" pitchFamily="34" charset="0"/>
              <a:buChar char="•"/>
            </a:pPr>
            <a:r>
              <a:rPr lang="en-NG" sz="1400" b="1" dirty="0"/>
              <a:t>Capital-loss</a:t>
            </a:r>
            <a:r>
              <a:rPr lang="en-NG" sz="1400" dirty="0"/>
              <a:t> shows a weaker positive relationship (</a:t>
            </a:r>
            <a:r>
              <a:rPr lang="en-NG" sz="1400" b="1" dirty="0"/>
              <a:t>r = 0.15</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fnlwgt</a:t>
            </a:r>
            <a:r>
              <a:rPr lang="en-NG" sz="1400" dirty="0"/>
              <a:t> has virtually no correlation with income (</a:t>
            </a:r>
            <a:r>
              <a:rPr lang="en-NG" sz="1400" b="1" dirty="0"/>
              <a:t>r = -0.01</a:t>
            </a:r>
            <a:r>
              <a:rPr lang="en-NG" sz="1400" dirty="0"/>
              <a:t>). </a:t>
            </a:r>
          </a:p>
          <a:p>
            <a:endParaRPr lang="en-NG" sz="1400" dirty="0"/>
          </a:p>
          <a:p>
            <a:pPr marL="285750" indent="-285750">
              <a:buFont typeface="Arial" panose="020B0604020202020204" pitchFamily="34" charset="0"/>
              <a:buChar char="•"/>
            </a:pPr>
            <a:r>
              <a:rPr lang="en-NG" sz="1400" dirty="0"/>
              <a:t>No evidence of severe multicollinearity among the retained numerical features.</a:t>
            </a:r>
          </a:p>
          <a:p>
            <a:endParaRPr lang="en-NG" sz="1400" dirty="0"/>
          </a:p>
        </p:txBody>
      </p:sp>
      <p:sp>
        <p:nvSpPr>
          <p:cNvPr id="26" name="Shape 24">
            <a:extLst>
              <a:ext uri="{FF2B5EF4-FFF2-40B4-BE49-F238E27FC236}">
                <a16:creationId xmlns:a16="http://schemas.microsoft.com/office/drawing/2014/main" id="{8905C016-199C-5D7B-11A2-4C8A8CAB19FA}"/>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FA6B52C3-BD05-26C6-933C-672A6D5F0FE1}"/>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96E17D44-5450-989A-98C7-811D1DF85A2B}"/>
              </a:ext>
            </a:extLst>
          </p:cNvPr>
          <p:cNvPicPr>
            <a:picLocks noChangeAspect="1"/>
          </p:cNvPicPr>
          <p:nvPr/>
        </p:nvPicPr>
        <p:blipFill>
          <a:blip r:embed="rId3"/>
          <a:stretch>
            <a:fillRect/>
          </a:stretch>
        </p:blipFill>
        <p:spPr>
          <a:xfrm>
            <a:off x="4063087" y="1113097"/>
            <a:ext cx="4760873" cy="3168766"/>
          </a:xfrm>
          <a:prstGeom prst="rect">
            <a:avLst/>
          </a:prstGeom>
        </p:spPr>
      </p:pic>
    </p:spTree>
    <p:extLst>
      <p:ext uri="{BB962C8B-B14F-4D97-AF65-F5344CB8AC3E}">
        <p14:creationId xmlns:p14="http://schemas.microsoft.com/office/powerpoint/2010/main" val="2051370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F43F05-4C89-B74E-484E-0C1132CBC2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CCCCB6-1537-3E4C-7E8B-2D70A53408FB}"/>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26" name="Shape 24">
            <a:extLst>
              <a:ext uri="{FF2B5EF4-FFF2-40B4-BE49-F238E27FC236}">
                <a16:creationId xmlns:a16="http://schemas.microsoft.com/office/drawing/2014/main" id="{62B5ABB6-A55E-DF8A-9327-5D1260DEBD87}"/>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23F3A71-3C9C-04F7-379A-85C27A2419FC}"/>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BB4C6A8A-0F5C-3C53-59A4-C8E9F60E4503}"/>
              </a:ext>
            </a:extLst>
          </p:cNvPr>
          <p:cNvPicPr>
            <a:picLocks noChangeAspect="1"/>
          </p:cNvPicPr>
          <p:nvPr/>
        </p:nvPicPr>
        <p:blipFill>
          <a:blip r:embed="rId3"/>
          <a:srcRect t="-860" b="8932"/>
          <a:stretch>
            <a:fillRect/>
          </a:stretch>
        </p:blipFill>
        <p:spPr>
          <a:xfrm>
            <a:off x="1158875" y="650240"/>
            <a:ext cx="6270625" cy="3843019"/>
          </a:xfrm>
          <a:prstGeom prst="rect">
            <a:avLst/>
          </a:prstGeom>
        </p:spPr>
      </p:pic>
    </p:spTree>
    <p:extLst>
      <p:ext uri="{BB962C8B-B14F-4D97-AF65-F5344CB8AC3E}">
        <p14:creationId xmlns:p14="http://schemas.microsoft.com/office/powerpoint/2010/main" val="7545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pPr marL="0" indent="0">
              <a:buNone/>
            </a:pPr>
            <a:r>
              <a:rPr lang="en-US" sz="3600" b="1" dirty="0">
                <a:solidFill>
                  <a:srgbClr val="2D2D2D"/>
                </a:solidFill>
                <a:latin typeface="Calibri" pitchFamily="34" charset="0"/>
                <a:ea typeface="Calibri" pitchFamily="34" charset="-122"/>
                <a:cs typeface="Calibri" pitchFamily="34" charset="-120"/>
              </a:rPr>
              <a:t>3. Data Preprocessing &amp; Feature Engineering</a:t>
            </a:r>
            <a:endParaRPr lang="en-US" sz="3600"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C171AB-904D-4E39-1527-FE302A03F8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60E57A-E7ED-ECFE-25D1-1B29416C1625}"/>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F712BA82-10C5-95BE-385E-75F3792E9A82}"/>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4" name="Text 2">
            <a:extLst>
              <a:ext uri="{FF2B5EF4-FFF2-40B4-BE49-F238E27FC236}">
                <a16:creationId xmlns:a16="http://schemas.microsoft.com/office/drawing/2014/main" id="{860B37BB-24DB-9BFF-81A8-8C9960B6DD32}"/>
              </a:ext>
            </a:extLst>
          </p:cNvPr>
          <p:cNvSpPr/>
          <p:nvPr/>
        </p:nvSpPr>
        <p:spPr>
          <a:xfrm>
            <a:off x="320040" y="1251337"/>
            <a:ext cx="3685539" cy="2640825"/>
          </a:xfrm>
          <a:prstGeom prst="rect">
            <a:avLst/>
          </a:prstGeom>
          <a:noFill/>
          <a:ln/>
        </p:spPr>
        <p:txBody>
          <a:bodyPr wrap="square" rtlCol="0" anchor="t"/>
          <a:lstStyle/>
          <a:p>
            <a:r>
              <a:rPr lang="en-NG" sz="1400" b="1" dirty="0"/>
              <a:t>Missing Value Handling</a:t>
            </a:r>
          </a:p>
          <a:p>
            <a:pPr marL="285750" indent="-285750">
              <a:buFont typeface="Arial" panose="020B0604020202020204" pitchFamily="34" charset="0"/>
              <a:buChar char="•"/>
            </a:pPr>
            <a:r>
              <a:rPr lang="en-NG" sz="1400" dirty="0"/>
              <a:t>Missing values represented by "?" were converted to NaN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Numerical features imputed using </a:t>
            </a:r>
            <a:r>
              <a:rPr lang="en-NG" sz="1400" b="1" dirty="0"/>
              <a:t>Median</a:t>
            </a:r>
          </a:p>
          <a:p>
            <a:r>
              <a:rPr lang="en-NG" sz="1400" dirty="0"/>
              <a:t> </a:t>
            </a:r>
          </a:p>
          <a:p>
            <a:pPr marL="285750" indent="-285750">
              <a:buFont typeface="Arial" panose="020B0604020202020204" pitchFamily="34" charset="0"/>
              <a:buChar char="•"/>
            </a:pPr>
            <a:r>
              <a:rPr lang="en-NG" sz="1400" dirty="0"/>
              <a:t>Categorical features imputed using </a:t>
            </a:r>
            <a:r>
              <a:rPr lang="en-NG" sz="1400" b="1" dirty="0"/>
              <a:t>Most Frequent Value</a:t>
            </a:r>
            <a:r>
              <a:rPr lang="en-NG" sz="1400" dirty="0"/>
              <a:t> </a:t>
            </a:r>
          </a:p>
          <a:p>
            <a:endParaRPr lang="en-NG" sz="1400" dirty="0"/>
          </a:p>
          <a:p>
            <a:pPr marL="285750" indent="-285750">
              <a:buFont typeface="Arial" panose="020B0604020202020204" pitchFamily="34" charset="0"/>
              <a:buChar char="•"/>
            </a:pPr>
            <a:r>
              <a:rPr lang="en-NG" sz="1400" dirty="0"/>
              <a:t>Applied within a preprocessing pipeline to prevent data leakage </a:t>
            </a:r>
          </a:p>
        </p:txBody>
      </p:sp>
      <p:sp>
        <p:nvSpPr>
          <p:cNvPr id="26" name="Shape 24">
            <a:extLst>
              <a:ext uri="{FF2B5EF4-FFF2-40B4-BE49-F238E27FC236}">
                <a16:creationId xmlns:a16="http://schemas.microsoft.com/office/drawing/2014/main" id="{02B544F2-3554-16A4-43BF-C615EF586906}"/>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82C73E3F-0630-6DBD-860E-79DB4321C71E}"/>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5" name="Text 2">
            <a:extLst>
              <a:ext uri="{FF2B5EF4-FFF2-40B4-BE49-F238E27FC236}">
                <a16:creationId xmlns:a16="http://schemas.microsoft.com/office/drawing/2014/main" id="{98B5E00F-E2C9-13C7-DA9A-E4DC35EB6766}"/>
              </a:ext>
            </a:extLst>
          </p:cNvPr>
          <p:cNvSpPr/>
          <p:nvPr/>
        </p:nvSpPr>
        <p:spPr>
          <a:xfrm>
            <a:off x="4572000" y="1251337"/>
            <a:ext cx="3685539" cy="2640825"/>
          </a:xfrm>
          <a:prstGeom prst="rect">
            <a:avLst/>
          </a:prstGeom>
          <a:noFill/>
          <a:ln/>
        </p:spPr>
        <p:txBody>
          <a:bodyPr wrap="square" rtlCol="0" anchor="t"/>
          <a:lstStyle/>
          <a:p>
            <a:r>
              <a:rPr lang="en-NG" sz="1400" b="1" dirty="0"/>
              <a:t>Duplicate Record Removal</a:t>
            </a:r>
          </a:p>
          <a:p>
            <a:pPr marL="285750" indent="-285750">
              <a:buFont typeface="Arial" panose="020B0604020202020204" pitchFamily="34" charset="0"/>
              <a:buChar char="•"/>
            </a:pPr>
            <a:r>
              <a:rPr lang="en-NG" sz="1400" dirty="0"/>
              <a:t>Identified and removed duplicate observations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52 duplicate records removed</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Reduced redundancy and potential bias in model training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Final dataset contained only unique records</a:t>
            </a:r>
          </a:p>
        </p:txBody>
      </p:sp>
    </p:spTree>
    <p:extLst>
      <p:ext uri="{BB962C8B-B14F-4D97-AF65-F5344CB8AC3E}">
        <p14:creationId xmlns:p14="http://schemas.microsoft.com/office/powerpoint/2010/main" val="3968948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85A93AF-6499-74E1-F66A-2D72DD2BA24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3EDE7F3-05CD-C09E-CDF1-127CBABA5E7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6BFC2F7D-444E-AFD2-C2F9-D10B860C899D}"/>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4" name="Text 2">
            <a:extLst>
              <a:ext uri="{FF2B5EF4-FFF2-40B4-BE49-F238E27FC236}">
                <a16:creationId xmlns:a16="http://schemas.microsoft.com/office/drawing/2014/main" id="{1A0D1E10-8A92-0D18-1A35-379F8FAD4887}"/>
              </a:ext>
            </a:extLst>
          </p:cNvPr>
          <p:cNvSpPr/>
          <p:nvPr/>
        </p:nvSpPr>
        <p:spPr>
          <a:xfrm>
            <a:off x="320040" y="1123455"/>
            <a:ext cx="3685539" cy="2356346"/>
          </a:xfrm>
          <a:prstGeom prst="rect">
            <a:avLst/>
          </a:prstGeom>
          <a:noFill/>
          <a:ln/>
        </p:spPr>
        <p:txBody>
          <a:bodyPr wrap="square" rtlCol="0" anchor="t"/>
          <a:lstStyle/>
          <a:p>
            <a:r>
              <a:rPr lang="en-NG" sz="1400" b="1" dirty="0"/>
              <a:t>Feature Engineering Overview</a:t>
            </a:r>
          </a:p>
          <a:p>
            <a:pPr marL="285750" indent="-285750">
              <a:buFont typeface="Arial" panose="020B0604020202020204" pitchFamily="34" charset="0"/>
              <a:buChar char="•"/>
            </a:pPr>
            <a:r>
              <a:rPr lang="en-NG" sz="1400" dirty="0"/>
              <a:t>Improved raw features before modeling</a:t>
            </a:r>
          </a:p>
          <a:p>
            <a:r>
              <a:rPr lang="en-NG" sz="1400" dirty="0"/>
              <a:t> </a:t>
            </a:r>
          </a:p>
          <a:p>
            <a:pPr marL="285750" indent="-285750">
              <a:buFont typeface="Arial" panose="020B0604020202020204" pitchFamily="34" charset="0"/>
              <a:buChar char="•"/>
            </a:pPr>
            <a:r>
              <a:rPr lang="en-NG" sz="1400" dirty="0"/>
              <a:t>Reduced category sparsity </a:t>
            </a:r>
          </a:p>
          <a:p>
            <a:endParaRPr lang="en-NG" sz="1400" dirty="0"/>
          </a:p>
          <a:p>
            <a:pPr marL="285750" indent="-285750">
              <a:buFont typeface="Arial" panose="020B0604020202020204" pitchFamily="34" charset="0"/>
              <a:buChar char="•"/>
            </a:pPr>
            <a:r>
              <a:rPr lang="en-NG" sz="1400" dirty="0"/>
              <a:t>Created meaningful financial indicators </a:t>
            </a:r>
          </a:p>
          <a:p>
            <a:endParaRPr lang="en-NG" sz="1400" dirty="0"/>
          </a:p>
          <a:p>
            <a:pPr marL="285750" indent="-285750">
              <a:buFont typeface="Arial" panose="020B0604020202020204" pitchFamily="34" charset="0"/>
              <a:buChar char="•"/>
            </a:pPr>
            <a:r>
              <a:rPr lang="en-NG" sz="1400" dirty="0"/>
              <a:t>Reduced skewness in capital variables </a:t>
            </a:r>
          </a:p>
          <a:p>
            <a:endParaRPr lang="en-NG" sz="1400" dirty="0"/>
          </a:p>
          <a:p>
            <a:pPr marL="285750" indent="-285750">
              <a:buFont typeface="Arial" panose="020B0604020202020204" pitchFamily="34" charset="0"/>
              <a:buChar char="•"/>
            </a:pPr>
            <a:r>
              <a:rPr lang="en-NG" sz="1400" dirty="0"/>
              <a:t>Dropped low-interpretability feature: fnlwgt</a:t>
            </a:r>
          </a:p>
        </p:txBody>
      </p:sp>
      <p:sp>
        <p:nvSpPr>
          <p:cNvPr id="26" name="Shape 24">
            <a:extLst>
              <a:ext uri="{FF2B5EF4-FFF2-40B4-BE49-F238E27FC236}">
                <a16:creationId xmlns:a16="http://schemas.microsoft.com/office/drawing/2014/main" id="{F41460ED-6CBF-D19E-31A4-A8FEF1E77772}"/>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D471942A-38EF-7133-8FD6-296A96363540}"/>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Tree>
    <p:extLst>
      <p:ext uri="{BB962C8B-B14F-4D97-AF65-F5344CB8AC3E}">
        <p14:creationId xmlns:p14="http://schemas.microsoft.com/office/powerpoint/2010/main" val="2215859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262E23-FE0E-FE15-5550-72B694C1197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CB4C60-1E03-F8F4-C700-ED5A2FDEBB99}"/>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BC5EB768-433C-AC55-255D-5BCAC41696DB}"/>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55D3E7C6-A0C1-09F1-89BB-19AB2D563EF3}"/>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FD6C329-C5E3-F145-25D0-221AB2768E96}"/>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FC864125-7B69-6DA7-772C-C33C9C0C9427}"/>
              </a:ext>
            </a:extLst>
          </p:cNvPr>
          <p:cNvPicPr>
            <a:picLocks noChangeAspect="1"/>
          </p:cNvPicPr>
          <p:nvPr/>
        </p:nvPicPr>
        <p:blipFill>
          <a:blip r:embed="rId3"/>
          <a:stretch>
            <a:fillRect/>
          </a:stretch>
        </p:blipFill>
        <p:spPr>
          <a:xfrm>
            <a:off x="365759" y="1079500"/>
            <a:ext cx="7772400" cy="2755081"/>
          </a:xfrm>
          <a:prstGeom prst="rect">
            <a:avLst/>
          </a:prstGeom>
        </p:spPr>
      </p:pic>
      <p:sp>
        <p:nvSpPr>
          <p:cNvPr id="7" name="Text 2">
            <a:extLst>
              <a:ext uri="{FF2B5EF4-FFF2-40B4-BE49-F238E27FC236}">
                <a16:creationId xmlns:a16="http://schemas.microsoft.com/office/drawing/2014/main" id="{CA5025BD-3512-0DAA-218E-5E6E9AB9CDD8}"/>
              </a:ext>
            </a:extLst>
          </p:cNvPr>
          <p:cNvSpPr/>
          <p:nvPr/>
        </p:nvSpPr>
        <p:spPr>
          <a:xfrm>
            <a:off x="459740" y="3834580"/>
            <a:ext cx="3685539" cy="1171759"/>
          </a:xfrm>
          <a:prstGeom prst="rect">
            <a:avLst/>
          </a:prstGeom>
          <a:noFill/>
          <a:ln/>
        </p:spPr>
        <p:txBody>
          <a:bodyPr wrap="square" rtlCol="0" anchor="t"/>
          <a:lstStyle/>
          <a:p>
            <a:r>
              <a:rPr lang="en-NG" sz="1400" b="1" dirty="0"/>
              <a:t>Education Grouping</a:t>
            </a:r>
          </a:p>
          <a:p>
            <a:pPr marL="285750" indent="-285750">
              <a:buFont typeface="Arial" panose="020B0604020202020204" pitchFamily="34" charset="0"/>
              <a:buChar char="•"/>
            </a:pPr>
            <a:r>
              <a:rPr lang="en-NG" sz="1400" dirty="0"/>
              <a:t>Original education had many detailed categories </a:t>
            </a:r>
          </a:p>
          <a:p>
            <a:endParaRPr lang="en-NG" sz="1400" dirty="0"/>
          </a:p>
          <a:p>
            <a:pPr marL="285750" indent="-285750">
              <a:buFont typeface="Arial" panose="020B0604020202020204" pitchFamily="34" charset="0"/>
              <a:buChar char="•"/>
            </a:pPr>
            <a:r>
              <a:rPr lang="en-NG" sz="1400" dirty="0"/>
              <a:t>Grouped into broader education levels </a:t>
            </a:r>
          </a:p>
        </p:txBody>
      </p:sp>
      <p:sp>
        <p:nvSpPr>
          <p:cNvPr id="8" name="Text 2">
            <a:extLst>
              <a:ext uri="{FF2B5EF4-FFF2-40B4-BE49-F238E27FC236}">
                <a16:creationId xmlns:a16="http://schemas.microsoft.com/office/drawing/2014/main" id="{7025305F-ED68-3D2D-6EA0-E7C363623ECA}"/>
              </a:ext>
            </a:extLst>
          </p:cNvPr>
          <p:cNvSpPr/>
          <p:nvPr/>
        </p:nvSpPr>
        <p:spPr>
          <a:xfrm>
            <a:off x="4606290" y="3779717"/>
            <a:ext cx="3685539" cy="1171759"/>
          </a:xfrm>
          <a:prstGeom prst="rect">
            <a:avLst/>
          </a:prstGeom>
          <a:noFill/>
          <a:ln/>
        </p:spPr>
        <p:txBody>
          <a:bodyPr wrap="square" rtlCol="0" anchor="t"/>
          <a:lstStyle/>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Examples: High School, Bachelor, Postgraduate </a:t>
            </a:r>
          </a:p>
          <a:p>
            <a:endParaRPr lang="en-NG" sz="1400" dirty="0"/>
          </a:p>
          <a:p>
            <a:pPr marL="285750" indent="-285750">
              <a:buFont typeface="Arial" panose="020B0604020202020204" pitchFamily="34" charset="0"/>
              <a:buChar char="•"/>
            </a:pPr>
            <a:r>
              <a:rPr lang="en-NG" sz="1400" dirty="0"/>
              <a:t>Reduced sparsity while preserving meaning</a:t>
            </a:r>
          </a:p>
          <a:p>
            <a:endParaRPr lang="en-NG" sz="1400" dirty="0"/>
          </a:p>
        </p:txBody>
      </p:sp>
    </p:spTree>
    <p:extLst>
      <p:ext uri="{BB962C8B-B14F-4D97-AF65-F5344CB8AC3E}">
        <p14:creationId xmlns:p14="http://schemas.microsoft.com/office/powerpoint/2010/main" val="1554379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AADE0E-5B2C-CBD5-4CF7-6E4902D4B5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67F98A-C349-667B-F4E1-03790D71E52A}"/>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30A8B8A1-AC17-FF86-DB05-62506DB6F603}"/>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82C4989C-1CF0-FC4A-75D9-C9577B66B5E0}"/>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8AF59795-FC46-AFC4-345C-93F430BB1F7E}"/>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7" name="Text 2">
            <a:extLst>
              <a:ext uri="{FF2B5EF4-FFF2-40B4-BE49-F238E27FC236}">
                <a16:creationId xmlns:a16="http://schemas.microsoft.com/office/drawing/2014/main" id="{45082063-9717-D328-714B-B2EC87441F17}"/>
              </a:ext>
            </a:extLst>
          </p:cNvPr>
          <p:cNvSpPr/>
          <p:nvPr/>
        </p:nvSpPr>
        <p:spPr>
          <a:xfrm>
            <a:off x="459740" y="3834580"/>
            <a:ext cx="3992880" cy="1171759"/>
          </a:xfrm>
          <a:prstGeom prst="rect">
            <a:avLst/>
          </a:prstGeom>
          <a:noFill/>
          <a:ln/>
        </p:spPr>
        <p:txBody>
          <a:bodyPr wrap="square" rtlCol="0" anchor="t"/>
          <a:lstStyle/>
          <a:p>
            <a:r>
              <a:rPr lang="en-NG" sz="1400" b="1" dirty="0"/>
              <a:t>Native Country Grouping</a:t>
            </a:r>
          </a:p>
          <a:p>
            <a:pPr marL="285750" indent="-285750">
              <a:buFont typeface="Arial" panose="020B0604020202020204" pitchFamily="34" charset="0"/>
              <a:buChar char="•"/>
            </a:pPr>
            <a:r>
              <a:rPr lang="en-NG" sz="1400" dirty="0"/>
              <a:t>Original native-country had many country categories </a:t>
            </a:r>
          </a:p>
          <a:p>
            <a:endParaRPr lang="en-NG" sz="1400" dirty="0"/>
          </a:p>
          <a:p>
            <a:pPr marL="285750" indent="-285750">
              <a:buFont typeface="Arial" panose="020B0604020202020204" pitchFamily="34" charset="0"/>
              <a:buChar char="•"/>
            </a:pPr>
            <a:r>
              <a:rPr lang="en-NG" sz="1400" dirty="0"/>
              <a:t>Most observations were from the United States</a:t>
            </a:r>
          </a:p>
        </p:txBody>
      </p:sp>
      <p:sp>
        <p:nvSpPr>
          <p:cNvPr id="8" name="Text 2">
            <a:extLst>
              <a:ext uri="{FF2B5EF4-FFF2-40B4-BE49-F238E27FC236}">
                <a16:creationId xmlns:a16="http://schemas.microsoft.com/office/drawing/2014/main" id="{108C8CB0-9F83-A65B-6A2A-5598EE441C70}"/>
              </a:ext>
            </a:extLst>
          </p:cNvPr>
          <p:cNvSpPr/>
          <p:nvPr/>
        </p:nvSpPr>
        <p:spPr>
          <a:xfrm>
            <a:off x="4606290" y="3779717"/>
            <a:ext cx="3685539" cy="1171759"/>
          </a:xfrm>
          <a:prstGeom prst="rect">
            <a:avLst/>
          </a:prstGeom>
          <a:noFill/>
          <a:ln/>
        </p:spPr>
        <p:txBody>
          <a:bodyPr wrap="square" rtlCol="0" anchor="t"/>
          <a:lstStyle/>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Created native-country-group </a:t>
            </a:r>
          </a:p>
          <a:p>
            <a:endParaRPr lang="en-NG" sz="1400" dirty="0"/>
          </a:p>
          <a:p>
            <a:pPr marL="285750" indent="-285750">
              <a:buFont typeface="Arial" panose="020B0604020202020204" pitchFamily="34" charset="0"/>
              <a:buChar char="•"/>
            </a:pPr>
            <a:r>
              <a:rPr lang="en-NG" sz="1400" dirty="0"/>
              <a:t>Categories: United States / Other</a:t>
            </a:r>
          </a:p>
        </p:txBody>
      </p:sp>
      <p:pic>
        <p:nvPicPr>
          <p:cNvPr id="5" name="Picture 4">
            <a:extLst>
              <a:ext uri="{FF2B5EF4-FFF2-40B4-BE49-F238E27FC236}">
                <a16:creationId xmlns:a16="http://schemas.microsoft.com/office/drawing/2014/main" id="{91D9141E-4536-98BF-1992-6324971A3BFB}"/>
              </a:ext>
            </a:extLst>
          </p:cNvPr>
          <p:cNvPicPr>
            <a:picLocks noChangeAspect="1"/>
          </p:cNvPicPr>
          <p:nvPr/>
        </p:nvPicPr>
        <p:blipFill>
          <a:blip r:embed="rId3"/>
          <a:stretch>
            <a:fillRect/>
          </a:stretch>
        </p:blipFill>
        <p:spPr>
          <a:xfrm>
            <a:off x="459740" y="1047750"/>
            <a:ext cx="7772400" cy="2810268"/>
          </a:xfrm>
          <a:prstGeom prst="rect">
            <a:avLst/>
          </a:prstGeom>
        </p:spPr>
      </p:pic>
    </p:spTree>
    <p:extLst>
      <p:ext uri="{BB962C8B-B14F-4D97-AF65-F5344CB8AC3E}">
        <p14:creationId xmlns:p14="http://schemas.microsoft.com/office/powerpoint/2010/main" val="3948674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A9E8B69-F5B8-BAA4-55BF-89D5BC554D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868565-16A3-87B5-931C-9BEA64E00A5F}"/>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388744E2-4B31-186B-C521-FFDBEB28CF12}"/>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66FCD98E-3A37-C30C-B151-EDEDECABB360}"/>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AE368153-B5EF-896C-3078-FF99CA3AB043}"/>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7" name="Text 2">
            <a:extLst>
              <a:ext uri="{FF2B5EF4-FFF2-40B4-BE49-F238E27FC236}">
                <a16:creationId xmlns:a16="http://schemas.microsoft.com/office/drawing/2014/main" id="{31D66364-F13D-6C84-DECD-6368765EB745}"/>
              </a:ext>
            </a:extLst>
          </p:cNvPr>
          <p:cNvSpPr/>
          <p:nvPr/>
        </p:nvSpPr>
        <p:spPr>
          <a:xfrm>
            <a:off x="459740" y="3834580"/>
            <a:ext cx="3992880" cy="1171759"/>
          </a:xfrm>
          <a:prstGeom prst="rect">
            <a:avLst/>
          </a:prstGeom>
          <a:noFill/>
          <a:ln/>
        </p:spPr>
        <p:txBody>
          <a:bodyPr wrap="square" rtlCol="0" anchor="t"/>
          <a:lstStyle/>
          <a:p>
            <a:r>
              <a:rPr lang="en-NG" sz="1400" b="1" dirty="0"/>
              <a:t>Capital Gain and Capital Loss Indicators</a:t>
            </a:r>
          </a:p>
          <a:p>
            <a:endParaRPr lang="en-NG" sz="1400" b="1" dirty="0"/>
          </a:p>
          <a:p>
            <a:r>
              <a:rPr lang="en-NG" sz="1400" dirty="0"/>
              <a:t>Created binary indicators: </a:t>
            </a:r>
          </a:p>
          <a:p>
            <a:pPr lvl="1"/>
            <a:r>
              <a:rPr lang="en-NG" sz="1400" dirty="0"/>
              <a:t>has-capital-gain </a:t>
            </a:r>
          </a:p>
          <a:p>
            <a:pPr lvl="1"/>
            <a:r>
              <a:rPr lang="en-NG" sz="1400" dirty="0"/>
              <a:t>has-capital-loss </a:t>
            </a:r>
          </a:p>
        </p:txBody>
      </p:sp>
      <p:sp>
        <p:nvSpPr>
          <p:cNvPr id="8" name="Text 2">
            <a:extLst>
              <a:ext uri="{FF2B5EF4-FFF2-40B4-BE49-F238E27FC236}">
                <a16:creationId xmlns:a16="http://schemas.microsoft.com/office/drawing/2014/main" id="{89D674A0-A91A-9A4C-B6DF-E859D4588719}"/>
              </a:ext>
            </a:extLst>
          </p:cNvPr>
          <p:cNvSpPr/>
          <p:nvPr/>
        </p:nvSpPr>
        <p:spPr>
          <a:xfrm>
            <a:off x="4606290" y="3779717"/>
            <a:ext cx="3685539" cy="1171759"/>
          </a:xfrm>
          <a:prstGeom prst="rect">
            <a:avLst/>
          </a:prstGeom>
          <a:noFill/>
          <a:ln/>
        </p:spPr>
        <p:txBody>
          <a:bodyPr wrap="square" rtlCol="0" anchor="t"/>
          <a:lstStyle/>
          <a:p>
            <a:endParaRPr lang="en-NG" sz="1400" dirty="0"/>
          </a:p>
          <a:p>
            <a:r>
              <a:rPr lang="en-NG" sz="1400" dirty="0"/>
              <a:t>Captures whether investment-related income/loss exists </a:t>
            </a:r>
          </a:p>
          <a:p>
            <a:endParaRPr lang="en-NG" sz="1400" dirty="0"/>
          </a:p>
          <a:p>
            <a:r>
              <a:rPr lang="en-NG" sz="1400" dirty="0"/>
              <a:t>Separates “presence” from “amount”</a:t>
            </a:r>
          </a:p>
        </p:txBody>
      </p:sp>
      <p:pic>
        <p:nvPicPr>
          <p:cNvPr id="9" name="Picture 8">
            <a:extLst>
              <a:ext uri="{FF2B5EF4-FFF2-40B4-BE49-F238E27FC236}">
                <a16:creationId xmlns:a16="http://schemas.microsoft.com/office/drawing/2014/main" id="{3ECD9516-2C3A-8BE9-8E3F-6DCB3F5657A5}"/>
              </a:ext>
            </a:extLst>
          </p:cNvPr>
          <p:cNvPicPr>
            <a:picLocks noChangeAspect="1"/>
          </p:cNvPicPr>
          <p:nvPr/>
        </p:nvPicPr>
        <p:blipFill>
          <a:blip r:embed="rId3"/>
          <a:stretch>
            <a:fillRect/>
          </a:stretch>
        </p:blipFill>
        <p:spPr>
          <a:xfrm>
            <a:off x="1302532" y="1182308"/>
            <a:ext cx="6300175" cy="2549463"/>
          </a:xfrm>
          <a:prstGeom prst="rect">
            <a:avLst/>
          </a:prstGeom>
        </p:spPr>
      </p:pic>
    </p:spTree>
    <p:extLst>
      <p:ext uri="{BB962C8B-B14F-4D97-AF65-F5344CB8AC3E}">
        <p14:creationId xmlns:p14="http://schemas.microsoft.com/office/powerpoint/2010/main" val="4208618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407CA54-EBB5-B44D-4C80-2C9160D9BC3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927CCD-AE3E-3437-4A82-05D1FD80843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19F4E236-925D-73A7-F4C8-9E84228AF213}"/>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8C920AB7-390F-C58C-15B0-71BB67BBF35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F8452FA6-6BD2-CE99-C49F-39D6F6B85030}"/>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7" name="Text 2">
            <a:extLst>
              <a:ext uri="{FF2B5EF4-FFF2-40B4-BE49-F238E27FC236}">
                <a16:creationId xmlns:a16="http://schemas.microsoft.com/office/drawing/2014/main" id="{81687553-21D0-3D3F-60A8-799A7315C7A2}"/>
              </a:ext>
            </a:extLst>
          </p:cNvPr>
          <p:cNvSpPr/>
          <p:nvPr/>
        </p:nvSpPr>
        <p:spPr>
          <a:xfrm>
            <a:off x="459740" y="3834580"/>
            <a:ext cx="3992880" cy="1171759"/>
          </a:xfrm>
          <a:prstGeom prst="rect">
            <a:avLst/>
          </a:prstGeom>
          <a:noFill/>
          <a:ln/>
        </p:spPr>
        <p:txBody>
          <a:bodyPr wrap="square" rtlCol="0" anchor="t"/>
          <a:lstStyle/>
          <a:p>
            <a:r>
              <a:rPr lang="en-NG" sz="1400" b="1" dirty="0"/>
              <a:t>Log Transformation of Skewed Variables</a:t>
            </a:r>
          </a:p>
          <a:p>
            <a:pPr marL="285750" indent="-285750">
              <a:buFont typeface="Arial" panose="020B0604020202020204" pitchFamily="34" charset="0"/>
              <a:buChar char="•"/>
            </a:pPr>
            <a:r>
              <a:rPr lang="en-NG" sz="1400" dirty="0"/>
              <a:t>capital-gain and capital-loss were highly right-skewed </a:t>
            </a:r>
          </a:p>
          <a:p>
            <a:endParaRPr lang="en-NG" sz="1400" dirty="0"/>
          </a:p>
          <a:p>
            <a:pPr marL="285750" indent="-285750">
              <a:buFont typeface="Arial" panose="020B0604020202020204" pitchFamily="34" charset="0"/>
              <a:buChar char="•"/>
            </a:pPr>
            <a:r>
              <a:rPr lang="en-NG" sz="1400" dirty="0"/>
              <a:t>Most values were zero</a:t>
            </a:r>
          </a:p>
        </p:txBody>
      </p:sp>
      <p:sp>
        <p:nvSpPr>
          <p:cNvPr id="8" name="Text 2">
            <a:extLst>
              <a:ext uri="{FF2B5EF4-FFF2-40B4-BE49-F238E27FC236}">
                <a16:creationId xmlns:a16="http://schemas.microsoft.com/office/drawing/2014/main" id="{441A41F5-7D0B-D941-91F0-84CCE8455F8F}"/>
              </a:ext>
            </a:extLst>
          </p:cNvPr>
          <p:cNvSpPr/>
          <p:nvPr/>
        </p:nvSpPr>
        <p:spPr>
          <a:xfrm>
            <a:off x="4635500" y="3892692"/>
            <a:ext cx="3685539" cy="1171759"/>
          </a:xfrm>
          <a:prstGeom prst="rect">
            <a:avLst/>
          </a:prstGeom>
          <a:noFill/>
          <a:ln/>
        </p:spPr>
        <p:txBody>
          <a:bodyPr wrap="square" rtlCol="0" anchor="t"/>
          <a:lstStyle/>
          <a:p>
            <a:pPr marL="285750" indent="-285750">
              <a:buFont typeface="Arial" panose="020B0604020202020204" pitchFamily="34" charset="0"/>
              <a:buChar char="•"/>
            </a:pPr>
            <a:r>
              <a:rPr lang="en-NG" sz="1400" dirty="0"/>
              <a:t>Few observations had very large values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Applied log1p transformation Created: </a:t>
            </a:r>
          </a:p>
          <a:p>
            <a:pPr marL="742950" lvl="1" indent="-285750">
              <a:buFont typeface="Arial" panose="020B0604020202020204" pitchFamily="34" charset="0"/>
              <a:buChar char="•"/>
            </a:pPr>
            <a:r>
              <a:rPr lang="en-NG" sz="1400" dirty="0"/>
              <a:t>capital-gain-log </a:t>
            </a:r>
          </a:p>
          <a:p>
            <a:pPr marL="742950" lvl="1" indent="-285750">
              <a:buFont typeface="Arial" panose="020B0604020202020204" pitchFamily="34" charset="0"/>
              <a:buChar char="•"/>
            </a:pPr>
            <a:r>
              <a:rPr lang="en-NG" sz="1400" dirty="0"/>
              <a:t>capital-loss-log </a:t>
            </a:r>
          </a:p>
        </p:txBody>
      </p:sp>
      <p:pic>
        <p:nvPicPr>
          <p:cNvPr id="5" name="Picture 4">
            <a:extLst>
              <a:ext uri="{FF2B5EF4-FFF2-40B4-BE49-F238E27FC236}">
                <a16:creationId xmlns:a16="http://schemas.microsoft.com/office/drawing/2014/main" id="{8F1D6ABD-3A24-92CE-E17C-2AC6D3B798AC}"/>
              </a:ext>
            </a:extLst>
          </p:cNvPr>
          <p:cNvPicPr>
            <a:picLocks noChangeAspect="1"/>
          </p:cNvPicPr>
          <p:nvPr/>
        </p:nvPicPr>
        <p:blipFill>
          <a:blip r:embed="rId3"/>
          <a:stretch>
            <a:fillRect/>
          </a:stretch>
        </p:blipFill>
        <p:spPr>
          <a:xfrm>
            <a:off x="617218" y="1154688"/>
            <a:ext cx="7772400" cy="2738004"/>
          </a:xfrm>
          <a:prstGeom prst="rect">
            <a:avLst/>
          </a:prstGeom>
        </p:spPr>
      </p:pic>
    </p:spTree>
    <p:extLst>
      <p:ext uri="{BB962C8B-B14F-4D97-AF65-F5344CB8AC3E}">
        <p14:creationId xmlns:p14="http://schemas.microsoft.com/office/powerpoint/2010/main" val="481458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pPr marL="0" indent="0">
              <a:buNone/>
            </a:pPr>
            <a:r>
              <a:rPr lang="en-US" sz="3600" b="1" dirty="0">
                <a:solidFill>
                  <a:srgbClr val="2D2D2D"/>
                </a:solidFill>
                <a:latin typeface="Calibri" pitchFamily="34" charset="0"/>
                <a:ea typeface="Calibri" pitchFamily="34" charset="-122"/>
                <a:cs typeface="Calibri" pitchFamily="34" charset="-120"/>
              </a:rPr>
              <a:t>4. Class Imbalance Handling (SMOTE)</a:t>
            </a:r>
            <a:endParaRPr lang="en-US" sz="3600"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p:cNvSpPr/>
          <p:nvPr/>
        </p:nvSpPr>
        <p:spPr>
          <a:xfrm>
            <a:off x="365760" y="621792"/>
            <a:ext cx="8412480" cy="292608"/>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Class Imbalance Handling</a:t>
            </a:r>
            <a:endParaRPr lang="en-US" sz="1500" dirty="0"/>
          </a:p>
        </p:txBody>
      </p:sp>
      <p:sp>
        <p:nvSpPr>
          <p:cNvPr id="9" name="Text 7"/>
          <p:cNvSpPr/>
          <p:nvPr/>
        </p:nvSpPr>
        <p:spPr>
          <a:xfrm>
            <a:off x="594360" y="2148840"/>
            <a:ext cx="86868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&gt;50  24%</a:t>
            </a:r>
            <a:endParaRPr lang="en-US" sz="1300" dirty="0"/>
          </a:p>
        </p:txBody>
      </p:sp>
      <p:sp>
        <p:nvSpPr>
          <p:cNvPr id="14" name="Text 12"/>
          <p:cNvSpPr/>
          <p:nvPr/>
        </p:nvSpPr>
        <p:spPr>
          <a:xfrm>
            <a:off x="4846320" y="1554480"/>
            <a:ext cx="13716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≤50K  50%</a:t>
            </a:r>
            <a:endParaRPr lang="en-US" sz="1300" dirty="0"/>
          </a:p>
        </p:txBody>
      </p:sp>
      <p:sp>
        <p:nvSpPr>
          <p:cNvPr id="16" name="Text 14"/>
          <p:cNvSpPr/>
          <p:nvPr/>
        </p:nvSpPr>
        <p:spPr>
          <a:xfrm>
            <a:off x="4846320" y="2148840"/>
            <a:ext cx="13716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&gt;50K  50%</a:t>
            </a:r>
            <a:endParaRPr lang="en-US" sz="1300" dirty="0"/>
          </a:p>
        </p:txBody>
      </p:sp>
      <p:sp>
        <p:nvSpPr>
          <p:cNvPr id="20" name="Text 18"/>
          <p:cNvSpPr/>
          <p:nvPr/>
        </p:nvSpPr>
        <p:spPr>
          <a:xfrm>
            <a:off x="5054600" y="3327401"/>
            <a:ext cx="4058920" cy="1427480"/>
          </a:xfrm>
          <a:prstGeom prst="rect">
            <a:avLst/>
          </a:prstGeom>
          <a:noFill/>
          <a:ln/>
        </p:spPr>
        <p:txBody>
          <a:bodyPr wrap="square" rtlCol="0" anchor="ctr"/>
          <a:lstStyle/>
          <a:p>
            <a:endParaRPr lang="en-NG" sz="1400" dirty="0"/>
          </a:p>
        </p:txBody>
      </p:sp>
      <p:sp>
        <p:nvSpPr>
          <p:cNvPr id="21" name="Shape 19"/>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2" name="Text 20"/>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pic>
        <p:nvPicPr>
          <p:cNvPr id="24" name="Picture 23">
            <a:extLst>
              <a:ext uri="{FF2B5EF4-FFF2-40B4-BE49-F238E27FC236}">
                <a16:creationId xmlns:a16="http://schemas.microsoft.com/office/drawing/2014/main" id="{F6295BDB-D33C-A5DB-32EC-905DDA1C5053}"/>
              </a:ext>
            </a:extLst>
          </p:cNvPr>
          <p:cNvPicPr>
            <a:picLocks noChangeAspect="1"/>
          </p:cNvPicPr>
          <p:nvPr/>
        </p:nvPicPr>
        <p:blipFill>
          <a:blip r:embed="rId3"/>
          <a:stretch>
            <a:fillRect/>
          </a:stretch>
        </p:blipFill>
        <p:spPr>
          <a:xfrm>
            <a:off x="4215130" y="1432488"/>
            <a:ext cx="4608830" cy="2278523"/>
          </a:xfrm>
          <a:prstGeom prst="rect">
            <a:avLst/>
          </a:prstGeom>
        </p:spPr>
      </p:pic>
      <p:sp>
        <p:nvSpPr>
          <p:cNvPr id="29" name="TextBox 28">
            <a:extLst>
              <a:ext uri="{FF2B5EF4-FFF2-40B4-BE49-F238E27FC236}">
                <a16:creationId xmlns:a16="http://schemas.microsoft.com/office/drawing/2014/main" id="{AD0E31B5-9373-D020-7CA9-30F2290CA5BA}"/>
              </a:ext>
            </a:extLst>
          </p:cNvPr>
          <p:cNvSpPr txBox="1"/>
          <p:nvPr/>
        </p:nvSpPr>
        <p:spPr>
          <a:xfrm>
            <a:off x="127000" y="914400"/>
            <a:ext cx="3962401" cy="4401205"/>
          </a:xfrm>
          <a:prstGeom prst="rect">
            <a:avLst/>
          </a:prstGeom>
          <a:noFill/>
        </p:spPr>
        <p:txBody>
          <a:bodyPr wrap="square">
            <a:spAutoFit/>
          </a:bodyPr>
          <a:lstStyle/>
          <a:p>
            <a:r>
              <a:rPr lang="en-NG" sz="1400" b="1" dirty="0"/>
              <a:t>Class Imbalance Findings:</a:t>
            </a:r>
          </a:p>
          <a:p>
            <a:pPr marL="285750" indent="-285750">
              <a:buFont typeface="Arial" panose="020B0604020202020204" pitchFamily="34" charset="0"/>
              <a:buChar char="•"/>
            </a:pPr>
            <a:r>
              <a:rPr lang="en-NG" sz="1400" dirty="0"/>
              <a:t>SMOTE was evaluated to improve minority-class detection. </a:t>
            </a:r>
          </a:p>
          <a:p>
            <a:endParaRPr lang="en-NG" sz="1400" dirty="0"/>
          </a:p>
          <a:p>
            <a:pPr marL="285750" indent="-285750">
              <a:buFont typeface="Arial" panose="020B0604020202020204" pitchFamily="34" charset="0"/>
              <a:buChar char="•"/>
            </a:pPr>
            <a:r>
              <a:rPr lang="en-NG" sz="1400" dirty="0"/>
              <a:t>SMOTE significantly increased </a:t>
            </a:r>
            <a:r>
              <a:rPr lang="en-NG" sz="1400" b="1" dirty="0"/>
              <a:t>Recall</a:t>
            </a:r>
            <a:r>
              <a:rPr lang="en-NG" sz="1400" dirty="0"/>
              <a:t> (≈ 0.60 → 0.85).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F1-score</a:t>
            </a:r>
            <a:r>
              <a:rPr lang="en-NG" sz="1400" dirty="0"/>
              <a:t> improved slightly (≈ 0.66 → 0.68).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Precision and overall Accuracy decreased due to more false positives.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ROC-AUC remained largely unchanged.</a:t>
            </a:r>
          </a:p>
          <a:p>
            <a:pPr marL="285750" indent="-285750">
              <a:buFont typeface="Arial" panose="020B0604020202020204" pitchFamily="34" charset="0"/>
              <a:buChar char="•"/>
            </a:pPr>
            <a:r>
              <a:rPr lang="en-NG" sz="1400" dirty="0"/>
              <a:t> </a:t>
            </a:r>
          </a:p>
          <a:p>
            <a:pPr marL="285750" indent="-285750">
              <a:buFont typeface="Arial" panose="020B0604020202020204" pitchFamily="34" charset="0"/>
              <a:buChar char="•"/>
            </a:pPr>
            <a:r>
              <a:rPr lang="en-NG" sz="1400" dirty="0"/>
              <a:t>Final models were trained on the </a:t>
            </a:r>
            <a:r>
              <a:rPr lang="en-NG" sz="1400" b="1" dirty="0"/>
              <a:t>original stratified dataset</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The original dataset provided the best balance between performance and generalization.</a:t>
            </a:r>
          </a:p>
          <a:p>
            <a:endParaRPr lang="en-NG"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pPr marL="0" indent="0">
              <a:buNone/>
            </a:pPr>
            <a:r>
              <a:rPr lang="en-US" sz="3600" b="1" dirty="0">
                <a:solidFill>
                  <a:srgbClr val="2D2D2D"/>
                </a:solidFill>
                <a:latin typeface="Calibri" pitchFamily="34" charset="0"/>
                <a:ea typeface="Calibri" pitchFamily="34" charset="-122"/>
                <a:cs typeface="Calibri" pitchFamily="34" charset="-120"/>
              </a:rPr>
              <a:t>5. Model Selection</a:t>
            </a:r>
            <a:endParaRPr lang="en-US" sz="3600"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93DDE72-2748-010A-6E3D-2821A5C34E1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E37F42-279E-DC0C-6FE0-A05FBCB3CD5A}"/>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4CA4F7B9-F762-33B4-C320-6635B705CA39}"/>
              </a:ext>
            </a:extLst>
          </p:cNvPr>
          <p:cNvSpPr/>
          <p:nvPr/>
        </p:nvSpPr>
        <p:spPr>
          <a:xfrm>
            <a:off x="365760" y="621792"/>
            <a:ext cx="8412480" cy="292608"/>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Model Selection &amp; Training</a:t>
            </a:r>
            <a:endParaRPr lang="en-US" sz="1500" dirty="0"/>
          </a:p>
        </p:txBody>
      </p:sp>
      <p:sp>
        <p:nvSpPr>
          <p:cNvPr id="4" name="Shape 2">
            <a:extLst>
              <a:ext uri="{FF2B5EF4-FFF2-40B4-BE49-F238E27FC236}">
                <a16:creationId xmlns:a16="http://schemas.microsoft.com/office/drawing/2014/main" id="{502CBE25-542F-F641-7B55-8149511DDF4D}"/>
              </a:ext>
            </a:extLst>
          </p:cNvPr>
          <p:cNvSpPr/>
          <p:nvPr/>
        </p:nvSpPr>
        <p:spPr>
          <a:xfrm>
            <a:off x="2085340" y="914400"/>
            <a:ext cx="2743200" cy="438912"/>
          </a:xfrm>
          <a:prstGeom prst="rect">
            <a:avLst/>
          </a:prstGeom>
          <a:solidFill>
            <a:srgbClr val="4A90C4"/>
          </a:solidFill>
          <a:ln w="12700">
            <a:solidFill>
              <a:srgbClr val="4A90C4"/>
            </a:solidFill>
            <a:prstDash val="solid"/>
          </a:ln>
        </p:spPr>
        <p:txBody>
          <a:bodyPr/>
          <a:lstStyle/>
          <a:p>
            <a:endParaRPr lang="en-NG"/>
          </a:p>
        </p:txBody>
      </p:sp>
      <p:sp>
        <p:nvSpPr>
          <p:cNvPr id="5" name="Text 3">
            <a:extLst>
              <a:ext uri="{FF2B5EF4-FFF2-40B4-BE49-F238E27FC236}">
                <a16:creationId xmlns:a16="http://schemas.microsoft.com/office/drawing/2014/main" id="{5C75710F-C781-EFFD-91F0-8CF6A8C903F3}"/>
              </a:ext>
            </a:extLst>
          </p:cNvPr>
          <p:cNvSpPr/>
          <p:nvPr/>
        </p:nvSpPr>
        <p:spPr>
          <a:xfrm>
            <a:off x="2085340" y="914400"/>
            <a:ext cx="2743200" cy="438912"/>
          </a:xfrm>
          <a:prstGeom prst="rect">
            <a:avLst/>
          </a:prstGeom>
          <a:noFill/>
          <a:ln/>
        </p:spPr>
        <p:txBody>
          <a:bodyPr wrap="square" rtlCol="0" anchor="ctr"/>
          <a:lstStyle/>
          <a:p>
            <a:pPr algn="ctr"/>
            <a:r>
              <a:rPr lang="en-NG" sz="1400" dirty="0">
                <a:solidFill>
                  <a:schemeClr val="bg1"/>
                </a:solidFill>
              </a:rPr>
              <a:t>Random Forest</a:t>
            </a:r>
            <a:endParaRPr lang="en-US" sz="1350" dirty="0">
              <a:solidFill>
                <a:schemeClr val="bg1"/>
              </a:solidFill>
            </a:endParaRPr>
          </a:p>
        </p:txBody>
      </p:sp>
      <p:sp>
        <p:nvSpPr>
          <p:cNvPr id="6" name="Shape 4">
            <a:extLst>
              <a:ext uri="{FF2B5EF4-FFF2-40B4-BE49-F238E27FC236}">
                <a16:creationId xmlns:a16="http://schemas.microsoft.com/office/drawing/2014/main" id="{D67C3456-D790-042D-EB4D-75792328E06D}"/>
              </a:ext>
            </a:extLst>
          </p:cNvPr>
          <p:cNvSpPr/>
          <p:nvPr/>
        </p:nvSpPr>
        <p:spPr>
          <a:xfrm>
            <a:off x="2085340" y="1353312"/>
            <a:ext cx="2743200" cy="2743200"/>
          </a:xfrm>
          <a:prstGeom prst="rect">
            <a:avLst/>
          </a:prstGeom>
          <a:solidFill>
            <a:srgbClr val="F5F8FA"/>
          </a:solidFill>
          <a:ln w="10160">
            <a:solidFill>
              <a:srgbClr val="4A90C4"/>
            </a:solidFill>
            <a:prstDash val="solid"/>
          </a:ln>
        </p:spPr>
        <p:txBody>
          <a:bodyPr/>
          <a:lstStyle/>
          <a:p>
            <a:endParaRPr lang="en-NG"/>
          </a:p>
        </p:txBody>
      </p:sp>
      <p:sp>
        <p:nvSpPr>
          <p:cNvPr id="7" name="Text 5">
            <a:extLst>
              <a:ext uri="{FF2B5EF4-FFF2-40B4-BE49-F238E27FC236}">
                <a16:creationId xmlns:a16="http://schemas.microsoft.com/office/drawing/2014/main" id="{3A553832-D669-C5EC-D4BE-86EE72D1EB07}"/>
              </a:ext>
            </a:extLst>
          </p:cNvPr>
          <p:cNvSpPr/>
          <p:nvPr/>
        </p:nvSpPr>
        <p:spPr>
          <a:xfrm>
            <a:off x="2195068" y="1417320"/>
            <a:ext cx="2523744" cy="530352"/>
          </a:xfrm>
          <a:prstGeom prst="rect">
            <a:avLst/>
          </a:prstGeom>
          <a:noFill/>
          <a:ln/>
        </p:spPr>
        <p:txBody>
          <a:bodyPr wrap="square" rtlCol="0" anchor="t"/>
          <a:lstStyle/>
          <a:p>
            <a:r>
              <a:rPr lang="en-US" sz="1300" b="1" dirty="0">
                <a:solidFill>
                  <a:srgbClr val="4A90C4"/>
                </a:solidFill>
                <a:latin typeface="Calibri" pitchFamily="34" charset="0"/>
                <a:ea typeface="Calibri" pitchFamily="34" charset="-122"/>
                <a:cs typeface="Calibri" pitchFamily="34" charset="-120"/>
              </a:rPr>
              <a:t>▪  </a:t>
            </a:r>
            <a:r>
              <a:rPr lang="en-NG" sz="1400" dirty="0"/>
              <a:t>Ensemble of multiple decision trees</a:t>
            </a:r>
            <a:endParaRPr lang="en-US" sz="1300" dirty="0"/>
          </a:p>
        </p:txBody>
      </p:sp>
      <p:sp>
        <p:nvSpPr>
          <p:cNvPr id="8" name="Text 6">
            <a:extLst>
              <a:ext uri="{FF2B5EF4-FFF2-40B4-BE49-F238E27FC236}">
                <a16:creationId xmlns:a16="http://schemas.microsoft.com/office/drawing/2014/main" id="{2EC91720-7E54-DA37-9851-0A38C9AEDD2D}"/>
              </a:ext>
            </a:extLst>
          </p:cNvPr>
          <p:cNvSpPr/>
          <p:nvPr/>
        </p:nvSpPr>
        <p:spPr>
          <a:xfrm>
            <a:off x="2195068" y="2002536"/>
            <a:ext cx="2523744" cy="530352"/>
          </a:xfrm>
          <a:prstGeom prst="rect">
            <a:avLst/>
          </a:prstGeom>
          <a:noFill/>
          <a:ln/>
        </p:spPr>
        <p:txBody>
          <a:bodyPr wrap="square" rtlCol="0" anchor="t"/>
          <a:lstStyle/>
          <a:p>
            <a:r>
              <a:rPr lang="en-US" sz="1300" b="1" dirty="0">
                <a:solidFill>
                  <a:srgbClr val="4A90C4"/>
                </a:solidFill>
                <a:latin typeface="Calibri" pitchFamily="34" charset="0"/>
                <a:ea typeface="Calibri" pitchFamily="34" charset="-122"/>
                <a:cs typeface="Calibri" pitchFamily="34" charset="-120"/>
              </a:rPr>
              <a:t>▪  </a:t>
            </a:r>
            <a:r>
              <a:rPr lang="en-NG" sz="1400" dirty="0"/>
              <a:t>Reduces overfitting through bagging</a:t>
            </a:r>
            <a:endParaRPr lang="en-US" sz="1300" dirty="0"/>
          </a:p>
        </p:txBody>
      </p:sp>
      <p:sp>
        <p:nvSpPr>
          <p:cNvPr id="9" name="Text 7">
            <a:extLst>
              <a:ext uri="{FF2B5EF4-FFF2-40B4-BE49-F238E27FC236}">
                <a16:creationId xmlns:a16="http://schemas.microsoft.com/office/drawing/2014/main" id="{00513FF4-BC89-8A7F-473A-375FF45339B4}"/>
              </a:ext>
            </a:extLst>
          </p:cNvPr>
          <p:cNvSpPr/>
          <p:nvPr/>
        </p:nvSpPr>
        <p:spPr>
          <a:xfrm>
            <a:off x="2195068" y="2587752"/>
            <a:ext cx="2523744" cy="530352"/>
          </a:xfrm>
          <a:prstGeom prst="rect">
            <a:avLst/>
          </a:prstGeom>
          <a:noFill/>
          <a:ln/>
        </p:spPr>
        <p:txBody>
          <a:bodyPr wrap="square" rtlCol="0" anchor="t"/>
          <a:lstStyle/>
          <a:p>
            <a:r>
              <a:rPr lang="en-US" sz="1300" b="1" dirty="0">
                <a:solidFill>
                  <a:srgbClr val="4A90C4"/>
                </a:solidFill>
                <a:latin typeface="Calibri" pitchFamily="34" charset="0"/>
                <a:ea typeface="Calibri" pitchFamily="34" charset="-122"/>
                <a:cs typeface="Calibri" pitchFamily="34" charset="-120"/>
              </a:rPr>
              <a:t>▪ </a:t>
            </a:r>
            <a:r>
              <a:rPr lang="en-NG" sz="1400" dirty="0"/>
              <a:t>Robust to noise and feature interactions</a:t>
            </a:r>
            <a:endParaRPr lang="en-US" sz="1300" dirty="0"/>
          </a:p>
        </p:txBody>
      </p:sp>
      <p:sp>
        <p:nvSpPr>
          <p:cNvPr id="10" name="Text 8">
            <a:extLst>
              <a:ext uri="{FF2B5EF4-FFF2-40B4-BE49-F238E27FC236}">
                <a16:creationId xmlns:a16="http://schemas.microsoft.com/office/drawing/2014/main" id="{C38F0C19-CC73-CEAE-1809-6FF3BD885B76}"/>
              </a:ext>
            </a:extLst>
          </p:cNvPr>
          <p:cNvSpPr/>
          <p:nvPr/>
        </p:nvSpPr>
        <p:spPr>
          <a:xfrm>
            <a:off x="2195068" y="3172968"/>
            <a:ext cx="2523744" cy="530352"/>
          </a:xfrm>
          <a:prstGeom prst="rect">
            <a:avLst/>
          </a:prstGeom>
          <a:noFill/>
          <a:ln/>
        </p:spPr>
        <p:txBody>
          <a:bodyPr wrap="square" rtlCol="0" anchor="t"/>
          <a:lstStyle/>
          <a:p>
            <a:r>
              <a:rPr lang="en-US" sz="1300" b="1" dirty="0">
                <a:solidFill>
                  <a:srgbClr val="4A90C4"/>
                </a:solidFill>
                <a:latin typeface="Calibri" pitchFamily="34" charset="0"/>
                <a:ea typeface="Calibri" pitchFamily="34" charset="-122"/>
                <a:cs typeface="Calibri" pitchFamily="34" charset="-120"/>
              </a:rPr>
              <a:t>▪ </a:t>
            </a:r>
            <a:r>
              <a:rPr lang="en-NG" sz="1400" dirty="0"/>
              <a:t>Provides feature importance estimates</a:t>
            </a:r>
            <a:endParaRPr lang="en-US" sz="1300" dirty="0"/>
          </a:p>
        </p:txBody>
      </p:sp>
      <p:sp>
        <p:nvSpPr>
          <p:cNvPr id="11" name="Shape 9">
            <a:extLst>
              <a:ext uri="{FF2B5EF4-FFF2-40B4-BE49-F238E27FC236}">
                <a16:creationId xmlns:a16="http://schemas.microsoft.com/office/drawing/2014/main" id="{B16FE9F3-D7BA-A400-F8C1-CFAC5B48D09B}"/>
              </a:ext>
            </a:extLst>
          </p:cNvPr>
          <p:cNvSpPr/>
          <p:nvPr/>
        </p:nvSpPr>
        <p:spPr>
          <a:xfrm>
            <a:off x="2085340" y="4096512"/>
            <a:ext cx="2743200" cy="384048"/>
          </a:xfrm>
          <a:prstGeom prst="rect">
            <a:avLst/>
          </a:prstGeom>
          <a:solidFill>
            <a:srgbClr val="4A90C4">
              <a:alpha val="20000"/>
            </a:srgbClr>
          </a:solidFill>
          <a:ln w="7620">
            <a:solidFill>
              <a:srgbClr val="4A90C4"/>
            </a:solidFill>
            <a:prstDash val="solid"/>
          </a:ln>
        </p:spPr>
        <p:txBody>
          <a:bodyPr/>
          <a:lstStyle/>
          <a:p>
            <a:endParaRPr lang="en-NG"/>
          </a:p>
        </p:txBody>
      </p:sp>
      <p:sp>
        <p:nvSpPr>
          <p:cNvPr id="12" name="Text 10">
            <a:extLst>
              <a:ext uri="{FF2B5EF4-FFF2-40B4-BE49-F238E27FC236}">
                <a16:creationId xmlns:a16="http://schemas.microsoft.com/office/drawing/2014/main" id="{2D26857C-1265-F1F2-4DC3-87E80F34D4C4}"/>
              </a:ext>
            </a:extLst>
          </p:cNvPr>
          <p:cNvSpPr/>
          <p:nvPr/>
        </p:nvSpPr>
        <p:spPr>
          <a:xfrm>
            <a:off x="2085340" y="4096512"/>
            <a:ext cx="2743200" cy="384048"/>
          </a:xfrm>
          <a:prstGeom prst="rect">
            <a:avLst/>
          </a:prstGeom>
          <a:noFill/>
          <a:ln/>
        </p:spPr>
        <p:txBody>
          <a:bodyPr wrap="square" rtlCol="0" anchor="ctr"/>
          <a:lstStyle/>
          <a:p>
            <a:pPr algn="ctr"/>
            <a:r>
              <a:rPr lang="en-US" sz="1100" b="1" dirty="0">
                <a:solidFill>
                  <a:srgbClr val="4A90C4"/>
                </a:solidFill>
                <a:latin typeface="Calibri" pitchFamily="34" charset="0"/>
                <a:ea typeface="Calibri" pitchFamily="34" charset="-122"/>
                <a:cs typeface="Calibri" pitchFamily="34" charset="-120"/>
              </a:rPr>
              <a:t>Tuned: </a:t>
            </a:r>
            <a:r>
              <a:rPr lang="en-NG" sz="1100" dirty="0">
                <a:solidFill>
                  <a:schemeClr val="accent1"/>
                </a:solidFill>
              </a:rPr>
              <a:t>n_estimators, max_depth, min_samples_split</a:t>
            </a:r>
            <a:endParaRPr lang="en-US" sz="1100" dirty="0">
              <a:solidFill>
                <a:schemeClr val="accent1"/>
              </a:solidFill>
            </a:endParaRPr>
          </a:p>
        </p:txBody>
      </p:sp>
      <p:sp>
        <p:nvSpPr>
          <p:cNvPr id="13" name="Shape 11">
            <a:extLst>
              <a:ext uri="{FF2B5EF4-FFF2-40B4-BE49-F238E27FC236}">
                <a16:creationId xmlns:a16="http://schemas.microsoft.com/office/drawing/2014/main" id="{7F704224-54A4-4953-87F3-2576CF7B1AE5}"/>
              </a:ext>
            </a:extLst>
          </p:cNvPr>
          <p:cNvSpPr/>
          <p:nvPr/>
        </p:nvSpPr>
        <p:spPr>
          <a:xfrm>
            <a:off x="4993132" y="914400"/>
            <a:ext cx="2743200" cy="438912"/>
          </a:xfrm>
          <a:prstGeom prst="rect">
            <a:avLst/>
          </a:prstGeom>
          <a:solidFill>
            <a:srgbClr val="5BA35C"/>
          </a:solidFill>
          <a:ln w="12700">
            <a:solidFill>
              <a:srgbClr val="5BA35C"/>
            </a:solidFill>
            <a:prstDash val="solid"/>
          </a:ln>
        </p:spPr>
        <p:txBody>
          <a:bodyPr/>
          <a:lstStyle/>
          <a:p>
            <a:endParaRPr lang="en-NG"/>
          </a:p>
        </p:txBody>
      </p:sp>
      <p:sp>
        <p:nvSpPr>
          <p:cNvPr id="14" name="Text 12">
            <a:extLst>
              <a:ext uri="{FF2B5EF4-FFF2-40B4-BE49-F238E27FC236}">
                <a16:creationId xmlns:a16="http://schemas.microsoft.com/office/drawing/2014/main" id="{7EA40CF5-99A0-6053-776A-BF1C006951A4}"/>
              </a:ext>
            </a:extLst>
          </p:cNvPr>
          <p:cNvSpPr/>
          <p:nvPr/>
        </p:nvSpPr>
        <p:spPr>
          <a:xfrm>
            <a:off x="4993132" y="914400"/>
            <a:ext cx="2743200" cy="438912"/>
          </a:xfrm>
          <a:prstGeom prst="rect">
            <a:avLst/>
          </a:prstGeom>
          <a:noFill/>
          <a:ln/>
        </p:spPr>
        <p:txBody>
          <a:bodyPr wrap="square" rtlCol="0" anchor="ctr"/>
          <a:lstStyle/>
          <a:p>
            <a:pPr algn="ctr"/>
            <a:r>
              <a:rPr lang="en-NG" sz="1400" dirty="0">
                <a:solidFill>
                  <a:schemeClr val="bg1"/>
                </a:solidFill>
              </a:rPr>
              <a:t>Gradient Boosting</a:t>
            </a:r>
            <a:endParaRPr lang="en-US" sz="1350" dirty="0">
              <a:solidFill>
                <a:schemeClr val="bg1"/>
              </a:solidFill>
            </a:endParaRPr>
          </a:p>
        </p:txBody>
      </p:sp>
      <p:sp>
        <p:nvSpPr>
          <p:cNvPr id="15" name="Shape 13">
            <a:extLst>
              <a:ext uri="{FF2B5EF4-FFF2-40B4-BE49-F238E27FC236}">
                <a16:creationId xmlns:a16="http://schemas.microsoft.com/office/drawing/2014/main" id="{C59A829F-2293-52E7-2B75-A05CCE1C61F0}"/>
              </a:ext>
            </a:extLst>
          </p:cNvPr>
          <p:cNvSpPr/>
          <p:nvPr/>
        </p:nvSpPr>
        <p:spPr>
          <a:xfrm>
            <a:off x="4993132" y="1353312"/>
            <a:ext cx="2743200" cy="2743200"/>
          </a:xfrm>
          <a:prstGeom prst="rect">
            <a:avLst/>
          </a:prstGeom>
          <a:solidFill>
            <a:srgbClr val="F5F8FA"/>
          </a:solidFill>
          <a:ln w="10160">
            <a:solidFill>
              <a:srgbClr val="5BA35C"/>
            </a:solidFill>
            <a:prstDash val="solid"/>
          </a:ln>
        </p:spPr>
        <p:txBody>
          <a:bodyPr/>
          <a:lstStyle/>
          <a:p>
            <a:endParaRPr lang="en-NG"/>
          </a:p>
        </p:txBody>
      </p:sp>
      <p:sp>
        <p:nvSpPr>
          <p:cNvPr id="16" name="Text 14">
            <a:extLst>
              <a:ext uri="{FF2B5EF4-FFF2-40B4-BE49-F238E27FC236}">
                <a16:creationId xmlns:a16="http://schemas.microsoft.com/office/drawing/2014/main" id="{9C2DFDA2-313B-623F-2E9F-F922AD0D6DFC}"/>
              </a:ext>
            </a:extLst>
          </p:cNvPr>
          <p:cNvSpPr/>
          <p:nvPr/>
        </p:nvSpPr>
        <p:spPr>
          <a:xfrm>
            <a:off x="5102860" y="1417320"/>
            <a:ext cx="2523744" cy="530352"/>
          </a:xfrm>
          <a:prstGeom prst="rect">
            <a:avLst/>
          </a:prstGeom>
          <a:noFill/>
          <a:ln/>
        </p:spPr>
        <p:txBody>
          <a:bodyPr wrap="square" rtlCol="0" anchor="t"/>
          <a:lstStyle/>
          <a:p>
            <a:r>
              <a:rPr lang="en-US" sz="1300" b="1" dirty="0">
                <a:solidFill>
                  <a:srgbClr val="5BA35C"/>
                </a:solidFill>
                <a:latin typeface="Calibri" pitchFamily="34" charset="0"/>
                <a:ea typeface="Calibri" pitchFamily="34" charset="-122"/>
                <a:cs typeface="Calibri" pitchFamily="34" charset="-120"/>
              </a:rPr>
              <a:t>▪ </a:t>
            </a:r>
            <a:r>
              <a:rPr lang="en-NG" sz="1400" dirty="0"/>
              <a:t>Sequential ensemble learning approach</a:t>
            </a:r>
            <a:endParaRPr lang="en-US" sz="1300" dirty="0"/>
          </a:p>
        </p:txBody>
      </p:sp>
      <p:sp>
        <p:nvSpPr>
          <p:cNvPr id="17" name="Text 15">
            <a:extLst>
              <a:ext uri="{FF2B5EF4-FFF2-40B4-BE49-F238E27FC236}">
                <a16:creationId xmlns:a16="http://schemas.microsoft.com/office/drawing/2014/main" id="{FFD3FC3A-6A32-41AF-220D-D3E8A64BC971}"/>
              </a:ext>
            </a:extLst>
          </p:cNvPr>
          <p:cNvSpPr/>
          <p:nvPr/>
        </p:nvSpPr>
        <p:spPr>
          <a:xfrm>
            <a:off x="5102860" y="2002536"/>
            <a:ext cx="2523744" cy="530352"/>
          </a:xfrm>
          <a:prstGeom prst="rect">
            <a:avLst/>
          </a:prstGeom>
          <a:noFill/>
          <a:ln/>
        </p:spPr>
        <p:txBody>
          <a:bodyPr wrap="square" rtlCol="0" anchor="t"/>
          <a:lstStyle/>
          <a:p>
            <a:r>
              <a:rPr lang="en-US" sz="1300" b="1" dirty="0">
                <a:solidFill>
                  <a:srgbClr val="5BA35C"/>
                </a:solidFill>
                <a:latin typeface="Calibri" pitchFamily="34" charset="0"/>
                <a:ea typeface="Calibri" pitchFamily="34" charset="-122"/>
                <a:cs typeface="Calibri" pitchFamily="34" charset="-120"/>
              </a:rPr>
              <a:t>▪ </a:t>
            </a:r>
            <a:r>
              <a:rPr lang="en-NG" sz="1400" dirty="0"/>
              <a:t>Each tree corrects errors from previous trees</a:t>
            </a:r>
            <a:endParaRPr lang="en-US" sz="1300" dirty="0"/>
          </a:p>
        </p:txBody>
      </p:sp>
      <p:sp>
        <p:nvSpPr>
          <p:cNvPr id="18" name="Text 16">
            <a:extLst>
              <a:ext uri="{FF2B5EF4-FFF2-40B4-BE49-F238E27FC236}">
                <a16:creationId xmlns:a16="http://schemas.microsoft.com/office/drawing/2014/main" id="{CB14FFAC-6678-9A64-288A-3960EB4F57F9}"/>
              </a:ext>
            </a:extLst>
          </p:cNvPr>
          <p:cNvSpPr/>
          <p:nvPr/>
        </p:nvSpPr>
        <p:spPr>
          <a:xfrm>
            <a:off x="5102860" y="2587752"/>
            <a:ext cx="2523744" cy="530352"/>
          </a:xfrm>
          <a:prstGeom prst="rect">
            <a:avLst/>
          </a:prstGeom>
          <a:noFill/>
          <a:ln/>
        </p:spPr>
        <p:txBody>
          <a:bodyPr wrap="square" rtlCol="0" anchor="t"/>
          <a:lstStyle/>
          <a:p>
            <a:r>
              <a:rPr lang="en-US" sz="1300" b="1" dirty="0">
                <a:solidFill>
                  <a:srgbClr val="5BA35C"/>
                </a:solidFill>
                <a:latin typeface="Calibri" pitchFamily="34" charset="0"/>
                <a:ea typeface="Calibri" pitchFamily="34" charset="-122"/>
                <a:cs typeface="Calibri" pitchFamily="34" charset="-120"/>
              </a:rPr>
              <a:t>▪ </a:t>
            </a:r>
            <a:r>
              <a:rPr lang="en-NG" sz="1400" dirty="0"/>
              <a:t>Strong performance on tabular datasets</a:t>
            </a:r>
            <a:endParaRPr lang="en-US" sz="1300" dirty="0"/>
          </a:p>
        </p:txBody>
      </p:sp>
      <p:sp>
        <p:nvSpPr>
          <p:cNvPr id="19" name="Text 17">
            <a:extLst>
              <a:ext uri="{FF2B5EF4-FFF2-40B4-BE49-F238E27FC236}">
                <a16:creationId xmlns:a16="http://schemas.microsoft.com/office/drawing/2014/main" id="{5997C806-FA54-E577-46AC-E5D9A50436BE}"/>
              </a:ext>
            </a:extLst>
          </p:cNvPr>
          <p:cNvSpPr/>
          <p:nvPr/>
        </p:nvSpPr>
        <p:spPr>
          <a:xfrm>
            <a:off x="5102860" y="3172968"/>
            <a:ext cx="2523744" cy="530352"/>
          </a:xfrm>
          <a:prstGeom prst="rect">
            <a:avLst/>
          </a:prstGeom>
          <a:noFill/>
          <a:ln/>
        </p:spPr>
        <p:txBody>
          <a:bodyPr wrap="square" rtlCol="0" anchor="t"/>
          <a:lstStyle/>
          <a:p>
            <a:r>
              <a:rPr lang="en-US" sz="1300" b="1" dirty="0">
                <a:solidFill>
                  <a:srgbClr val="5BA35C"/>
                </a:solidFill>
                <a:latin typeface="Calibri" pitchFamily="34" charset="0"/>
                <a:ea typeface="Calibri" pitchFamily="34" charset="-122"/>
                <a:cs typeface="Calibri" pitchFamily="34" charset="-120"/>
              </a:rPr>
              <a:t>▪ </a:t>
            </a:r>
            <a:r>
              <a:rPr lang="en-NG" sz="1400" dirty="0"/>
              <a:t>Captures complex non-linear patterns</a:t>
            </a:r>
            <a:endParaRPr lang="en-US" sz="1300" dirty="0"/>
          </a:p>
        </p:txBody>
      </p:sp>
      <p:sp>
        <p:nvSpPr>
          <p:cNvPr id="20" name="Shape 18">
            <a:extLst>
              <a:ext uri="{FF2B5EF4-FFF2-40B4-BE49-F238E27FC236}">
                <a16:creationId xmlns:a16="http://schemas.microsoft.com/office/drawing/2014/main" id="{42B0A008-2E46-C8BC-DA40-0AE9F829C47C}"/>
              </a:ext>
            </a:extLst>
          </p:cNvPr>
          <p:cNvSpPr/>
          <p:nvPr/>
        </p:nvSpPr>
        <p:spPr>
          <a:xfrm>
            <a:off x="4993132" y="4096512"/>
            <a:ext cx="2743200" cy="384048"/>
          </a:xfrm>
          <a:prstGeom prst="rect">
            <a:avLst/>
          </a:prstGeom>
          <a:solidFill>
            <a:srgbClr val="5BA35C">
              <a:alpha val="20000"/>
            </a:srgbClr>
          </a:solidFill>
          <a:ln w="7620">
            <a:solidFill>
              <a:srgbClr val="5BA35C"/>
            </a:solidFill>
            <a:prstDash val="solid"/>
          </a:ln>
        </p:spPr>
        <p:txBody>
          <a:bodyPr/>
          <a:lstStyle/>
          <a:p>
            <a:endParaRPr lang="en-NG"/>
          </a:p>
        </p:txBody>
      </p:sp>
      <p:sp>
        <p:nvSpPr>
          <p:cNvPr id="21" name="Text 19">
            <a:extLst>
              <a:ext uri="{FF2B5EF4-FFF2-40B4-BE49-F238E27FC236}">
                <a16:creationId xmlns:a16="http://schemas.microsoft.com/office/drawing/2014/main" id="{137CE15D-ADDA-FACE-0266-9CD4DD370030}"/>
              </a:ext>
            </a:extLst>
          </p:cNvPr>
          <p:cNvSpPr/>
          <p:nvPr/>
        </p:nvSpPr>
        <p:spPr>
          <a:xfrm>
            <a:off x="4993132" y="4096512"/>
            <a:ext cx="2743200" cy="384048"/>
          </a:xfrm>
          <a:prstGeom prst="rect">
            <a:avLst/>
          </a:prstGeom>
          <a:noFill/>
          <a:ln/>
        </p:spPr>
        <p:txBody>
          <a:bodyPr wrap="square" rtlCol="0" anchor="ctr"/>
          <a:lstStyle/>
          <a:p>
            <a:pPr algn="ctr"/>
            <a:r>
              <a:rPr lang="en-US" sz="1100" b="1" dirty="0">
                <a:solidFill>
                  <a:srgbClr val="5BA35C"/>
                </a:solidFill>
                <a:latin typeface="Calibri" pitchFamily="34" charset="0"/>
                <a:ea typeface="Calibri" pitchFamily="34" charset="-122"/>
                <a:cs typeface="Calibri" pitchFamily="34" charset="-120"/>
              </a:rPr>
              <a:t>Tuned: </a:t>
            </a:r>
            <a:r>
              <a:rPr lang="en-NG" sz="1100" dirty="0">
                <a:solidFill>
                  <a:schemeClr val="accent6"/>
                </a:solidFill>
              </a:rPr>
              <a:t>n_estimators, learning_rate, max_depth</a:t>
            </a:r>
            <a:endParaRPr lang="en-US" sz="1100" dirty="0">
              <a:solidFill>
                <a:schemeClr val="accent6"/>
              </a:solidFill>
            </a:endParaRPr>
          </a:p>
        </p:txBody>
      </p:sp>
      <p:sp>
        <p:nvSpPr>
          <p:cNvPr id="31" name="Text 29">
            <a:extLst>
              <a:ext uri="{FF2B5EF4-FFF2-40B4-BE49-F238E27FC236}">
                <a16:creationId xmlns:a16="http://schemas.microsoft.com/office/drawing/2014/main" id="{D935A57C-15FB-96C3-3E19-C77283B1E904}"/>
              </a:ext>
            </a:extLst>
          </p:cNvPr>
          <p:cNvSpPr/>
          <p:nvPr/>
        </p:nvSpPr>
        <p:spPr>
          <a:xfrm>
            <a:off x="320040" y="4681728"/>
            <a:ext cx="8503920" cy="274320"/>
          </a:xfrm>
          <a:prstGeom prst="rect">
            <a:avLst/>
          </a:prstGeom>
          <a:noFill/>
          <a:ln/>
        </p:spPr>
        <p:txBody>
          <a:bodyPr wrap="square" rtlCol="0" anchor="ctr"/>
          <a:lstStyle/>
          <a:p>
            <a:pPr marL="0" indent="0" algn="ctr">
              <a:buNone/>
            </a:pPr>
            <a:r>
              <a:rPr lang="en-US" sz="1100" i="1" dirty="0">
                <a:solidFill>
                  <a:srgbClr val="555555"/>
                </a:solidFill>
                <a:latin typeface="Calibri" pitchFamily="34" charset="0"/>
                <a:ea typeface="Calibri" pitchFamily="34" charset="-122"/>
                <a:cs typeface="Calibri" pitchFamily="34" charset="-120"/>
              </a:rPr>
              <a:t>All models tuned via Grid Search (5-fold cross-validation, F1-score as optimization metric)</a:t>
            </a:r>
            <a:endParaRPr lang="en-US" sz="1100" dirty="0"/>
          </a:p>
        </p:txBody>
      </p:sp>
      <p:sp>
        <p:nvSpPr>
          <p:cNvPr id="32" name="Shape 30">
            <a:extLst>
              <a:ext uri="{FF2B5EF4-FFF2-40B4-BE49-F238E27FC236}">
                <a16:creationId xmlns:a16="http://schemas.microsoft.com/office/drawing/2014/main" id="{A4F47FC2-186F-10C0-46CB-BA71B8B86ED4}"/>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33" name="Text 31">
            <a:extLst>
              <a:ext uri="{FF2B5EF4-FFF2-40B4-BE49-F238E27FC236}">
                <a16:creationId xmlns:a16="http://schemas.microsoft.com/office/drawing/2014/main" id="{883F7B95-1750-50FC-20F8-592B811B484C}"/>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Tree>
    <p:extLst>
      <p:ext uri="{BB962C8B-B14F-4D97-AF65-F5344CB8AC3E}">
        <p14:creationId xmlns:p14="http://schemas.microsoft.com/office/powerpoint/2010/main" val="3303358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9AEE2F-07AC-FE14-A093-D7605BAB97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D0E0F7-88AD-0E37-E96A-8C71CF69463B}"/>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0AB4977F-1270-E1F7-A74D-FA28F6372F49}"/>
              </a:ext>
            </a:extLst>
          </p:cNvPr>
          <p:cNvSpPr/>
          <p:nvPr/>
        </p:nvSpPr>
        <p:spPr>
          <a:xfrm>
            <a:off x="365760" y="621792"/>
            <a:ext cx="8412480" cy="292608"/>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Model Selection &amp; Training</a:t>
            </a:r>
            <a:endParaRPr lang="en-US" sz="1500" dirty="0"/>
          </a:p>
        </p:txBody>
      </p:sp>
      <p:sp>
        <p:nvSpPr>
          <p:cNvPr id="4" name="Shape 2">
            <a:extLst>
              <a:ext uri="{FF2B5EF4-FFF2-40B4-BE49-F238E27FC236}">
                <a16:creationId xmlns:a16="http://schemas.microsoft.com/office/drawing/2014/main" id="{CCFE128C-9018-EF5A-2DED-7509EE29B4E1}"/>
              </a:ext>
            </a:extLst>
          </p:cNvPr>
          <p:cNvSpPr/>
          <p:nvPr/>
        </p:nvSpPr>
        <p:spPr>
          <a:xfrm>
            <a:off x="2085340" y="914400"/>
            <a:ext cx="2743200" cy="438912"/>
          </a:xfrm>
          <a:prstGeom prst="rect">
            <a:avLst/>
          </a:prstGeom>
          <a:solidFill>
            <a:srgbClr val="4A90C4"/>
          </a:solidFill>
          <a:ln w="12700">
            <a:solidFill>
              <a:srgbClr val="4A90C4"/>
            </a:solidFill>
            <a:prstDash val="solid"/>
          </a:ln>
        </p:spPr>
        <p:txBody>
          <a:bodyPr/>
          <a:lstStyle/>
          <a:p>
            <a:endParaRPr lang="en-NG"/>
          </a:p>
        </p:txBody>
      </p:sp>
      <p:sp>
        <p:nvSpPr>
          <p:cNvPr id="5" name="Text 3">
            <a:extLst>
              <a:ext uri="{FF2B5EF4-FFF2-40B4-BE49-F238E27FC236}">
                <a16:creationId xmlns:a16="http://schemas.microsoft.com/office/drawing/2014/main" id="{9C5F61E7-2D03-5A5B-F7BF-C3A9A3D6E130}"/>
              </a:ext>
            </a:extLst>
          </p:cNvPr>
          <p:cNvSpPr/>
          <p:nvPr/>
        </p:nvSpPr>
        <p:spPr>
          <a:xfrm>
            <a:off x="2085340" y="914400"/>
            <a:ext cx="2743200" cy="438912"/>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Logistic Regression</a:t>
            </a:r>
            <a:endParaRPr lang="en-US" sz="1350" dirty="0"/>
          </a:p>
        </p:txBody>
      </p:sp>
      <p:sp>
        <p:nvSpPr>
          <p:cNvPr id="6" name="Shape 4">
            <a:extLst>
              <a:ext uri="{FF2B5EF4-FFF2-40B4-BE49-F238E27FC236}">
                <a16:creationId xmlns:a16="http://schemas.microsoft.com/office/drawing/2014/main" id="{F99D0645-D1DB-004E-AB43-57B7F3D79524}"/>
              </a:ext>
            </a:extLst>
          </p:cNvPr>
          <p:cNvSpPr/>
          <p:nvPr/>
        </p:nvSpPr>
        <p:spPr>
          <a:xfrm>
            <a:off x="2085340" y="1353312"/>
            <a:ext cx="2743200" cy="2743200"/>
          </a:xfrm>
          <a:prstGeom prst="rect">
            <a:avLst/>
          </a:prstGeom>
          <a:solidFill>
            <a:srgbClr val="F5F8FA"/>
          </a:solidFill>
          <a:ln w="10160">
            <a:solidFill>
              <a:srgbClr val="4A90C4"/>
            </a:solidFill>
            <a:prstDash val="solid"/>
          </a:ln>
        </p:spPr>
        <p:txBody>
          <a:bodyPr/>
          <a:lstStyle/>
          <a:p>
            <a:endParaRPr lang="en-NG"/>
          </a:p>
        </p:txBody>
      </p:sp>
      <p:sp>
        <p:nvSpPr>
          <p:cNvPr id="7" name="Text 5">
            <a:extLst>
              <a:ext uri="{FF2B5EF4-FFF2-40B4-BE49-F238E27FC236}">
                <a16:creationId xmlns:a16="http://schemas.microsoft.com/office/drawing/2014/main" id="{4D32F943-8801-E946-B53A-264B502F1CC4}"/>
              </a:ext>
            </a:extLst>
          </p:cNvPr>
          <p:cNvSpPr/>
          <p:nvPr/>
        </p:nvSpPr>
        <p:spPr>
          <a:xfrm>
            <a:off x="2195068" y="1417320"/>
            <a:ext cx="2523744" cy="530352"/>
          </a:xfrm>
          <a:prstGeom prst="rect">
            <a:avLst/>
          </a:prstGeom>
          <a:noFill/>
          <a:ln/>
        </p:spPr>
        <p:txBody>
          <a:bodyPr wrap="square" rtlCol="0" anchor="t"/>
          <a:lstStyle/>
          <a:p>
            <a:pPr marL="0" indent="0">
              <a:buNone/>
            </a:pPr>
            <a:r>
              <a:rPr lang="en-US" sz="1300" b="1" dirty="0">
                <a:solidFill>
                  <a:srgbClr val="4A90C4"/>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Interpretable linear model</a:t>
            </a:r>
            <a:endParaRPr lang="en-US" sz="1300" dirty="0"/>
          </a:p>
        </p:txBody>
      </p:sp>
      <p:sp>
        <p:nvSpPr>
          <p:cNvPr id="8" name="Text 6">
            <a:extLst>
              <a:ext uri="{FF2B5EF4-FFF2-40B4-BE49-F238E27FC236}">
                <a16:creationId xmlns:a16="http://schemas.microsoft.com/office/drawing/2014/main" id="{237961F7-0388-7B8E-0483-22C7F7FE1315}"/>
              </a:ext>
            </a:extLst>
          </p:cNvPr>
          <p:cNvSpPr/>
          <p:nvPr/>
        </p:nvSpPr>
        <p:spPr>
          <a:xfrm>
            <a:off x="2195068" y="2002536"/>
            <a:ext cx="2523744" cy="530352"/>
          </a:xfrm>
          <a:prstGeom prst="rect">
            <a:avLst/>
          </a:prstGeom>
          <a:noFill/>
          <a:ln/>
        </p:spPr>
        <p:txBody>
          <a:bodyPr wrap="square" rtlCol="0" anchor="t"/>
          <a:lstStyle/>
          <a:p>
            <a:pPr marL="0" indent="0">
              <a:buNone/>
            </a:pPr>
            <a:r>
              <a:rPr lang="en-US" sz="1300" b="1" dirty="0">
                <a:solidFill>
                  <a:srgbClr val="4A90C4"/>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Coefficients show feature influence</a:t>
            </a:r>
            <a:endParaRPr lang="en-US" sz="1300" dirty="0"/>
          </a:p>
        </p:txBody>
      </p:sp>
      <p:sp>
        <p:nvSpPr>
          <p:cNvPr id="9" name="Text 7">
            <a:extLst>
              <a:ext uri="{FF2B5EF4-FFF2-40B4-BE49-F238E27FC236}">
                <a16:creationId xmlns:a16="http://schemas.microsoft.com/office/drawing/2014/main" id="{08002EBE-64AB-1D5C-C967-9DD2D6583CAE}"/>
              </a:ext>
            </a:extLst>
          </p:cNvPr>
          <p:cNvSpPr/>
          <p:nvPr/>
        </p:nvSpPr>
        <p:spPr>
          <a:xfrm>
            <a:off x="2195068" y="2587752"/>
            <a:ext cx="2523744" cy="530352"/>
          </a:xfrm>
          <a:prstGeom prst="rect">
            <a:avLst/>
          </a:prstGeom>
          <a:noFill/>
          <a:ln/>
        </p:spPr>
        <p:txBody>
          <a:bodyPr wrap="square" rtlCol="0" anchor="t"/>
          <a:lstStyle/>
          <a:p>
            <a:pPr marL="0" indent="0">
              <a:buNone/>
            </a:pPr>
            <a:r>
              <a:rPr lang="en-US" sz="1300" b="1" dirty="0">
                <a:solidFill>
                  <a:srgbClr val="4A90C4"/>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Strong baseline for binary classification</a:t>
            </a:r>
            <a:endParaRPr lang="en-US" sz="1300" dirty="0"/>
          </a:p>
        </p:txBody>
      </p:sp>
      <p:sp>
        <p:nvSpPr>
          <p:cNvPr id="10" name="Text 8">
            <a:extLst>
              <a:ext uri="{FF2B5EF4-FFF2-40B4-BE49-F238E27FC236}">
                <a16:creationId xmlns:a16="http://schemas.microsoft.com/office/drawing/2014/main" id="{81A2BFA2-F0D0-A268-D209-4997E7D6A3E6}"/>
              </a:ext>
            </a:extLst>
          </p:cNvPr>
          <p:cNvSpPr/>
          <p:nvPr/>
        </p:nvSpPr>
        <p:spPr>
          <a:xfrm>
            <a:off x="2195068" y="3172968"/>
            <a:ext cx="2523744" cy="530352"/>
          </a:xfrm>
          <a:prstGeom prst="rect">
            <a:avLst/>
          </a:prstGeom>
          <a:noFill/>
          <a:ln/>
        </p:spPr>
        <p:txBody>
          <a:bodyPr wrap="square" rtlCol="0" anchor="t"/>
          <a:lstStyle/>
          <a:p>
            <a:pPr marL="0" indent="0">
              <a:buNone/>
            </a:pPr>
            <a:r>
              <a:rPr lang="en-US" sz="1300" b="1" dirty="0">
                <a:solidFill>
                  <a:srgbClr val="4A90C4"/>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Efficient training on large datasets</a:t>
            </a:r>
            <a:endParaRPr lang="en-US" sz="1300" dirty="0"/>
          </a:p>
        </p:txBody>
      </p:sp>
      <p:sp>
        <p:nvSpPr>
          <p:cNvPr id="11" name="Shape 9">
            <a:extLst>
              <a:ext uri="{FF2B5EF4-FFF2-40B4-BE49-F238E27FC236}">
                <a16:creationId xmlns:a16="http://schemas.microsoft.com/office/drawing/2014/main" id="{63B3D9EA-E2F4-1097-6B9A-FAD9B47FB75F}"/>
              </a:ext>
            </a:extLst>
          </p:cNvPr>
          <p:cNvSpPr/>
          <p:nvPr/>
        </p:nvSpPr>
        <p:spPr>
          <a:xfrm>
            <a:off x="2085340" y="4096512"/>
            <a:ext cx="2743200" cy="384048"/>
          </a:xfrm>
          <a:prstGeom prst="rect">
            <a:avLst/>
          </a:prstGeom>
          <a:solidFill>
            <a:srgbClr val="4A90C4">
              <a:alpha val="20000"/>
            </a:srgbClr>
          </a:solidFill>
          <a:ln w="7620">
            <a:solidFill>
              <a:srgbClr val="4A90C4"/>
            </a:solidFill>
            <a:prstDash val="solid"/>
          </a:ln>
        </p:spPr>
        <p:txBody>
          <a:bodyPr/>
          <a:lstStyle/>
          <a:p>
            <a:endParaRPr lang="en-NG"/>
          </a:p>
        </p:txBody>
      </p:sp>
      <p:sp>
        <p:nvSpPr>
          <p:cNvPr id="12" name="Text 10">
            <a:extLst>
              <a:ext uri="{FF2B5EF4-FFF2-40B4-BE49-F238E27FC236}">
                <a16:creationId xmlns:a16="http://schemas.microsoft.com/office/drawing/2014/main" id="{EAA1A760-7F50-B3E1-6897-4168D8B773C2}"/>
              </a:ext>
            </a:extLst>
          </p:cNvPr>
          <p:cNvSpPr/>
          <p:nvPr/>
        </p:nvSpPr>
        <p:spPr>
          <a:xfrm>
            <a:off x="2085340" y="4096512"/>
            <a:ext cx="2743200" cy="384048"/>
          </a:xfrm>
          <a:prstGeom prst="rect">
            <a:avLst/>
          </a:prstGeom>
          <a:noFill/>
          <a:ln/>
        </p:spPr>
        <p:txBody>
          <a:bodyPr wrap="square" rtlCol="0" anchor="ctr"/>
          <a:lstStyle/>
          <a:p>
            <a:pPr marL="0" indent="0" algn="ctr">
              <a:buNone/>
            </a:pPr>
            <a:r>
              <a:rPr lang="en-US" sz="1100" b="1" dirty="0">
                <a:solidFill>
                  <a:srgbClr val="4A90C4"/>
                </a:solidFill>
                <a:latin typeface="Calibri" pitchFamily="34" charset="0"/>
                <a:ea typeface="Calibri" pitchFamily="34" charset="-122"/>
                <a:cs typeface="Calibri" pitchFamily="34" charset="-120"/>
              </a:rPr>
              <a:t>Tuned: C, solver</a:t>
            </a:r>
            <a:endParaRPr lang="en-US" sz="1100" dirty="0"/>
          </a:p>
        </p:txBody>
      </p:sp>
      <p:sp>
        <p:nvSpPr>
          <p:cNvPr id="13" name="Shape 11">
            <a:extLst>
              <a:ext uri="{FF2B5EF4-FFF2-40B4-BE49-F238E27FC236}">
                <a16:creationId xmlns:a16="http://schemas.microsoft.com/office/drawing/2014/main" id="{9FFC75F9-5AF4-942B-0731-89DF7AD1DD32}"/>
              </a:ext>
            </a:extLst>
          </p:cNvPr>
          <p:cNvSpPr/>
          <p:nvPr/>
        </p:nvSpPr>
        <p:spPr>
          <a:xfrm>
            <a:off x="4993132" y="914400"/>
            <a:ext cx="2743200" cy="438912"/>
          </a:xfrm>
          <a:prstGeom prst="rect">
            <a:avLst/>
          </a:prstGeom>
          <a:solidFill>
            <a:srgbClr val="5BA35C"/>
          </a:solidFill>
          <a:ln w="12700">
            <a:solidFill>
              <a:srgbClr val="5BA35C"/>
            </a:solidFill>
            <a:prstDash val="solid"/>
          </a:ln>
        </p:spPr>
        <p:txBody>
          <a:bodyPr/>
          <a:lstStyle/>
          <a:p>
            <a:endParaRPr lang="en-NG"/>
          </a:p>
        </p:txBody>
      </p:sp>
      <p:sp>
        <p:nvSpPr>
          <p:cNvPr id="14" name="Text 12">
            <a:extLst>
              <a:ext uri="{FF2B5EF4-FFF2-40B4-BE49-F238E27FC236}">
                <a16:creationId xmlns:a16="http://schemas.microsoft.com/office/drawing/2014/main" id="{65A0BA29-2EE8-81AA-DA4C-77EAB5B03E44}"/>
              </a:ext>
            </a:extLst>
          </p:cNvPr>
          <p:cNvSpPr/>
          <p:nvPr/>
        </p:nvSpPr>
        <p:spPr>
          <a:xfrm>
            <a:off x="4993132" y="914400"/>
            <a:ext cx="2743200" cy="438912"/>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Decision Tree</a:t>
            </a:r>
            <a:endParaRPr lang="en-US" sz="1350" dirty="0"/>
          </a:p>
        </p:txBody>
      </p:sp>
      <p:sp>
        <p:nvSpPr>
          <p:cNvPr id="15" name="Shape 13">
            <a:extLst>
              <a:ext uri="{FF2B5EF4-FFF2-40B4-BE49-F238E27FC236}">
                <a16:creationId xmlns:a16="http://schemas.microsoft.com/office/drawing/2014/main" id="{2697A827-45AA-8E0B-A776-84BA6004E472}"/>
              </a:ext>
            </a:extLst>
          </p:cNvPr>
          <p:cNvSpPr/>
          <p:nvPr/>
        </p:nvSpPr>
        <p:spPr>
          <a:xfrm>
            <a:off x="4993132" y="1353312"/>
            <a:ext cx="2743200" cy="2743200"/>
          </a:xfrm>
          <a:prstGeom prst="rect">
            <a:avLst/>
          </a:prstGeom>
          <a:solidFill>
            <a:srgbClr val="F5F8FA"/>
          </a:solidFill>
          <a:ln w="10160">
            <a:solidFill>
              <a:srgbClr val="5BA35C"/>
            </a:solidFill>
            <a:prstDash val="solid"/>
          </a:ln>
        </p:spPr>
        <p:txBody>
          <a:bodyPr/>
          <a:lstStyle/>
          <a:p>
            <a:endParaRPr lang="en-NG"/>
          </a:p>
        </p:txBody>
      </p:sp>
      <p:sp>
        <p:nvSpPr>
          <p:cNvPr id="16" name="Text 14">
            <a:extLst>
              <a:ext uri="{FF2B5EF4-FFF2-40B4-BE49-F238E27FC236}">
                <a16:creationId xmlns:a16="http://schemas.microsoft.com/office/drawing/2014/main" id="{EA051933-8A66-B018-DBFA-33BD56D91B81}"/>
              </a:ext>
            </a:extLst>
          </p:cNvPr>
          <p:cNvSpPr/>
          <p:nvPr/>
        </p:nvSpPr>
        <p:spPr>
          <a:xfrm>
            <a:off x="5102860" y="1417320"/>
            <a:ext cx="2523744" cy="530352"/>
          </a:xfrm>
          <a:prstGeom prst="rect">
            <a:avLst/>
          </a:prstGeom>
          <a:noFill/>
          <a:ln/>
        </p:spPr>
        <p:txBody>
          <a:bodyPr wrap="square" rtlCol="0" anchor="t"/>
          <a:lstStyle/>
          <a:p>
            <a:pPr marL="0" indent="0">
              <a:buNone/>
            </a:pPr>
            <a:r>
              <a:rPr lang="en-US" sz="1300" b="1" dirty="0">
                <a:solidFill>
                  <a:srgbClr val="5BA35C"/>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Explicit rule-based structure</a:t>
            </a:r>
            <a:endParaRPr lang="en-US" sz="1300" dirty="0"/>
          </a:p>
        </p:txBody>
      </p:sp>
      <p:sp>
        <p:nvSpPr>
          <p:cNvPr id="17" name="Text 15">
            <a:extLst>
              <a:ext uri="{FF2B5EF4-FFF2-40B4-BE49-F238E27FC236}">
                <a16:creationId xmlns:a16="http://schemas.microsoft.com/office/drawing/2014/main" id="{0EDB7D53-AFFB-3990-29BE-2E53F2C02A86}"/>
              </a:ext>
            </a:extLst>
          </p:cNvPr>
          <p:cNvSpPr/>
          <p:nvPr/>
        </p:nvSpPr>
        <p:spPr>
          <a:xfrm>
            <a:off x="5102860" y="2002536"/>
            <a:ext cx="2523744" cy="530352"/>
          </a:xfrm>
          <a:prstGeom prst="rect">
            <a:avLst/>
          </a:prstGeom>
          <a:noFill/>
          <a:ln/>
        </p:spPr>
        <p:txBody>
          <a:bodyPr wrap="square" rtlCol="0" anchor="t"/>
          <a:lstStyle/>
          <a:p>
            <a:pPr marL="0" indent="0">
              <a:buNone/>
            </a:pPr>
            <a:r>
              <a:rPr lang="en-US" sz="1300" b="1" dirty="0">
                <a:solidFill>
                  <a:srgbClr val="5BA35C"/>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Easily visualizable &amp; interpretable</a:t>
            </a:r>
            <a:endParaRPr lang="en-US" sz="1300" dirty="0"/>
          </a:p>
        </p:txBody>
      </p:sp>
      <p:sp>
        <p:nvSpPr>
          <p:cNvPr id="18" name="Text 16">
            <a:extLst>
              <a:ext uri="{FF2B5EF4-FFF2-40B4-BE49-F238E27FC236}">
                <a16:creationId xmlns:a16="http://schemas.microsoft.com/office/drawing/2014/main" id="{7E32E7C0-8224-F61E-DE13-B553AF609535}"/>
              </a:ext>
            </a:extLst>
          </p:cNvPr>
          <p:cNvSpPr/>
          <p:nvPr/>
        </p:nvSpPr>
        <p:spPr>
          <a:xfrm>
            <a:off x="5102860" y="2587752"/>
            <a:ext cx="2523744" cy="530352"/>
          </a:xfrm>
          <a:prstGeom prst="rect">
            <a:avLst/>
          </a:prstGeom>
          <a:noFill/>
          <a:ln/>
        </p:spPr>
        <p:txBody>
          <a:bodyPr wrap="square" rtlCol="0" anchor="t"/>
          <a:lstStyle/>
          <a:p>
            <a:pPr marL="0" indent="0">
              <a:buNone/>
            </a:pPr>
            <a:r>
              <a:rPr lang="en-US" sz="1300" b="1" dirty="0">
                <a:solidFill>
                  <a:srgbClr val="5BA35C"/>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Captures non-linear boundaries</a:t>
            </a:r>
            <a:endParaRPr lang="en-US" sz="1300" dirty="0"/>
          </a:p>
        </p:txBody>
      </p:sp>
      <p:sp>
        <p:nvSpPr>
          <p:cNvPr id="19" name="Text 17">
            <a:extLst>
              <a:ext uri="{FF2B5EF4-FFF2-40B4-BE49-F238E27FC236}">
                <a16:creationId xmlns:a16="http://schemas.microsoft.com/office/drawing/2014/main" id="{1374A8C8-9E51-D480-028F-9C7437047490}"/>
              </a:ext>
            </a:extLst>
          </p:cNvPr>
          <p:cNvSpPr/>
          <p:nvPr/>
        </p:nvSpPr>
        <p:spPr>
          <a:xfrm>
            <a:off x="5102860" y="3172968"/>
            <a:ext cx="2523744" cy="530352"/>
          </a:xfrm>
          <a:prstGeom prst="rect">
            <a:avLst/>
          </a:prstGeom>
          <a:noFill/>
          <a:ln/>
        </p:spPr>
        <p:txBody>
          <a:bodyPr wrap="square" rtlCol="0" anchor="t"/>
          <a:lstStyle/>
          <a:p>
            <a:pPr marL="0" indent="0">
              <a:buNone/>
            </a:pPr>
            <a:r>
              <a:rPr lang="en-US" sz="1300" b="1" dirty="0">
                <a:solidFill>
                  <a:srgbClr val="5BA35C"/>
                </a:solidFill>
                <a:latin typeface="Calibri" pitchFamily="34" charset="0"/>
                <a:ea typeface="Calibri" pitchFamily="34" charset="-122"/>
                <a:cs typeface="Calibri" pitchFamily="34" charset="-120"/>
              </a:rPr>
              <a:t>▪  </a:t>
            </a:r>
            <a:r>
              <a:rPr lang="en-US" sz="1250" dirty="0">
                <a:solidFill>
                  <a:srgbClr val="1A1A1A"/>
                </a:solidFill>
                <a:latin typeface="Calibri" pitchFamily="34" charset="0"/>
                <a:ea typeface="Calibri" pitchFamily="34" charset="-122"/>
                <a:cs typeface="Calibri" pitchFamily="34" charset="-120"/>
              </a:rPr>
              <a:t>Prone to overfitting — tuning critical</a:t>
            </a:r>
            <a:endParaRPr lang="en-US" sz="1300" dirty="0"/>
          </a:p>
        </p:txBody>
      </p:sp>
      <p:sp>
        <p:nvSpPr>
          <p:cNvPr id="20" name="Shape 18">
            <a:extLst>
              <a:ext uri="{FF2B5EF4-FFF2-40B4-BE49-F238E27FC236}">
                <a16:creationId xmlns:a16="http://schemas.microsoft.com/office/drawing/2014/main" id="{9BF7ED46-E9EB-E610-AA13-CF58B0AD279C}"/>
              </a:ext>
            </a:extLst>
          </p:cNvPr>
          <p:cNvSpPr/>
          <p:nvPr/>
        </p:nvSpPr>
        <p:spPr>
          <a:xfrm>
            <a:off x="4993132" y="4096512"/>
            <a:ext cx="2743200" cy="384048"/>
          </a:xfrm>
          <a:prstGeom prst="rect">
            <a:avLst/>
          </a:prstGeom>
          <a:solidFill>
            <a:srgbClr val="5BA35C">
              <a:alpha val="20000"/>
            </a:srgbClr>
          </a:solidFill>
          <a:ln w="7620">
            <a:solidFill>
              <a:srgbClr val="5BA35C"/>
            </a:solidFill>
            <a:prstDash val="solid"/>
          </a:ln>
        </p:spPr>
        <p:txBody>
          <a:bodyPr/>
          <a:lstStyle/>
          <a:p>
            <a:endParaRPr lang="en-NG"/>
          </a:p>
        </p:txBody>
      </p:sp>
      <p:sp>
        <p:nvSpPr>
          <p:cNvPr id="21" name="Text 19">
            <a:extLst>
              <a:ext uri="{FF2B5EF4-FFF2-40B4-BE49-F238E27FC236}">
                <a16:creationId xmlns:a16="http://schemas.microsoft.com/office/drawing/2014/main" id="{A28A7F17-6BE3-E990-8DF6-858AF0201CB5}"/>
              </a:ext>
            </a:extLst>
          </p:cNvPr>
          <p:cNvSpPr/>
          <p:nvPr/>
        </p:nvSpPr>
        <p:spPr>
          <a:xfrm>
            <a:off x="4993132" y="4096512"/>
            <a:ext cx="2743200" cy="384048"/>
          </a:xfrm>
          <a:prstGeom prst="rect">
            <a:avLst/>
          </a:prstGeom>
          <a:noFill/>
          <a:ln/>
        </p:spPr>
        <p:txBody>
          <a:bodyPr wrap="square" rtlCol="0" anchor="ctr"/>
          <a:lstStyle/>
          <a:p>
            <a:pPr marL="0" indent="0" algn="ctr">
              <a:buNone/>
            </a:pPr>
            <a:r>
              <a:rPr lang="en-US" sz="1100" b="1" dirty="0">
                <a:solidFill>
                  <a:srgbClr val="5BA35C"/>
                </a:solidFill>
                <a:latin typeface="Calibri" pitchFamily="34" charset="0"/>
                <a:ea typeface="Calibri" pitchFamily="34" charset="-122"/>
                <a:cs typeface="Calibri" pitchFamily="34" charset="-120"/>
              </a:rPr>
              <a:t>Tuned: max_depth, min_samples</a:t>
            </a:r>
            <a:endParaRPr lang="en-US" sz="1100" dirty="0"/>
          </a:p>
        </p:txBody>
      </p:sp>
      <p:sp>
        <p:nvSpPr>
          <p:cNvPr id="31" name="Text 29">
            <a:extLst>
              <a:ext uri="{FF2B5EF4-FFF2-40B4-BE49-F238E27FC236}">
                <a16:creationId xmlns:a16="http://schemas.microsoft.com/office/drawing/2014/main" id="{EC3E3424-B7F5-7536-301F-634E4BDBF5E6}"/>
              </a:ext>
            </a:extLst>
          </p:cNvPr>
          <p:cNvSpPr/>
          <p:nvPr/>
        </p:nvSpPr>
        <p:spPr>
          <a:xfrm>
            <a:off x="320040" y="4681728"/>
            <a:ext cx="8503920" cy="274320"/>
          </a:xfrm>
          <a:prstGeom prst="rect">
            <a:avLst/>
          </a:prstGeom>
          <a:noFill/>
          <a:ln/>
        </p:spPr>
        <p:txBody>
          <a:bodyPr wrap="square" rtlCol="0" anchor="ctr"/>
          <a:lstStyle/>
          <a:p>
            <a:pPr marL="0" indent="0" algn="ctr">
              <a:buNone/>
            </a:pPr>
            <a:r>
              <a:rPr lang="en-US" sz="1100" i="1" dirty="0">
                <a:solidFill>
                  <a:srgbClr val="555555"/>
                </a:solidFill>
                <a:latin typeface="Calibri" pitchFamily="34" charset="0"/>
                <a:ea typeface="Calibri" pitchFamily="34" charset="-122"/>
                <a:cs typeface="Calibri" pitchFamily="34" charset="-120"/>
              </a:rPr>
              <a:t>All models tuned via Grid Search (5-fold cross-validation, F1-score as optimization metric)</a:t>
            </a:r>
            <a:endParaRPr lang="en-US" sz="1100" dirty="0"/>
          </a:p>
        </p:txBody>
      </p:sp>
      <p:sp>
        <p:nvSpPr>
          <p:cNvPr id="32" name="Shape 30">
            <a:extLst>
              <a:ext uri="{FF2B5EF4-FFF2-40B4-BE49-F238E27FC236}">
                <a16:creationId xmlns:a16="http://schemas.microsoft.com/office/drawing/2014/main" id="{38790F25-EC79-BC66-9F7A-DDD4712EE80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33" name="Text 31">
            <a:extLst>
              <a:ext uri="{FF2B5EF4-FFF2-40B4-BE49-F238E27FC236}">
                <a16:creationId xmlns:a16="http://schemas.microsoft.com/office/drawing/2014/main" id="{86B7648D-F32E-2722-F8E8-2472DC66680F}"/>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Tree>
    <p:extLst>
      <p:ext uri="{BB962C8B-B14F-4D97-AF65-F5344CB8AC3E}">
        <p14:creationId xmlns:p14="http://schemas.microsoft.com/office/powerpoint/2010/main" val="2647755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1028700" y="1854200"/>
            <a:ext cx="7683500" cy="1097280"/>
          </a:xfrm>
          <a:prstGeom prst="rect">
            <a:avLst/>
          </a:prstGeom>
          <a:noFill/>
          <a:ln/>
        </p:spPr>
        <p:txBody>
          <a:bodyPr wrap="square" rtlCol="0" anchor="ctr"/>
          <a:lstStyle/>
          <a:p>
            <a:r>
              <a:rPr lang="en-NG" sz="3600" b="1" dirty="0"/>
              <a:t>Model Training &amp; Hyperparameter Tuning</a:t>
            </a:r>
            <a:endParaRPr lang="en-US" sz="3600" b="1"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6568B-A17B-0FF0-715C-8035B8D5AE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6A3278-4495-9C5D-F6CD-2BD5283964D4}"/>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37554DC7-F142-7FAF-E40D-87C4C76DC283}"/>
              </a:ext>
            </a:extLst>
          </p:cNvPr>
          <p:cNvSpPr/>
          <p:nvPr/>
        </p:nvSpPr>
        <p:spPr>
          <a:xfrm>
            <a:off x="365759" y="715268"/>
            <a:ext cx="3639820" cy="364232"/>
          </a:xfrm>
          <a:prstGeom prst="rect">
            <a:avLst/>
          </a:prstGeom>
          <a:noFill/>
          <a:ln/>
        </p:spPr>
        <p:txBody>
          <a:bodyPr wrap="square" rtlCol="0" anchor="ctr"/>
          <a:lstStyle/>
          <a:p>
            <a:r>
              <a:rPr lang="en-NG" sz="1300" dirty="0">
                <a:solidFill>
                  <a:schemeClr val="accent1"/>
                </a:solidFill>
              </a:rPr>
              <a:t>Model Training &amp; Hyperparameter Tuning</a:t>
            </a:r>
          </a:p>
        </p:txBody>
      </p:sp>
      <p:sp>
        <p:nvSpPr>
          <p:cNvPr id="4" name="Text 2">
            <a:extLst>
              <a:ext uri="{FF2B5EF4-FFF2-40B4-BE49-F238E27FC236}">
                <a16:creationId xmlns:a16="http://schemas.microsoft.com/office/drawing/2014/main" id="{594E81B5-F12E-C465-2848-13291D6656FA}"/>
              </a:ext>
            </a:extLst>
          </p:cNvPr>
          <p:cNvSpPr/>
          <p:nvPr/>
        </p:nvSpPr>
        <p:spPr>
          <a:xfrm>
            <a:off x="320040" y="1123454"/>
            <a:ext cx="3685539" cy="2788145"/>
          </a:xfrm>
          <a:prstGeom prst="rect">
            <a:avLst/>
          </a:prstGeom>
          <a:noFill/>
          <a:ln/>
        </p:spPr>
        <p:txBody>
          <a:bodyPr wrap="square" rtlCol="0" anchor="t"/>
          <a:lstStyle/>
          <a:p>
            <a:r>
              <a:rPr lang="en-NG" sz="1400" b="1" dirty="0"/>
              <a:t>Model Training Strategy</a:t>
            </a:r>
          </a:p>
          <a:p>
            <a:pPr marL="285750" indent="-285750">
              <a:buFont typeface="Arial" panose="020B0604020202020204" pitchFamily="34" charset="0"/>
              <a:buChar char="•"/>
            </a:pPr>
            <a:r>
              <a:rPr lang="en-NG" sz="1400" dirty="0"/>
              <a:t>Stratified Train/Test Split (</a:t>
            </a:r>
            <a:r>
              <a:rPr lang="en-NG" sz="1400" b="1" dirty="0"/>
              <a:t>80% / 20%</a:t>
            </a:r>
            <a:r>
              <a:rPr lang="en-NG" sz="1400" dirty="0"/>
              <a:t>) </a:t>
            </a:r>
          </a:p>
          <a:p>
            <a:endParaRPr lang="en-NG" sz="1400" dirty="0"/>
          </a:p>
          <a:p>
            <a:pPr marL="285750" indent="-285750">
              <a:buFont typeface="Arial" panose="020B0604020202020204" pitchFamily="34" charset="0"/>
              <a:buChar char="•"/>
            </a:pPr>
            <a:r>
              <a:rPr lang="en-NG" sz="1400" dirty="0"/>
              <a:t>Same preprocessing pipeline applied to all models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5-Fold Cross-Validation</a:t>
            </a:r>
          </a:p>
          <a:p>
            <a:endParaRPr lang="en-NG" sz="1400" dirty="0"/>
          </a:p>
          <a:p>
            <a:pPr marL="285750" indent="-285750">
              <a:buFont typeface="Arial" panose="020B0604020202020204" pitchFamily="34" charset="0"/>
              <a:buChar char="•"/>
            </a:pPr>
            <a:r>
              <a:rPr lang="en-NG" sz="1400" dirty="0"/>
              <a:t>Hyperparameter tuning using </a:t>
            </a:r>
            <a:r>
              <a:rPr lang="en-NG" sz="1400" b="1" dirty="0"/>
              <a:t>GridSearchCV</a:t>
            </a:r>
          </a:p>
          <a:p>
            <a:r>
              <a:rPr lang="en-NG" sz="1400" dirty="0"/>
              <a:t> </a:t>
            </a:r>
          </a:p>
          <a:p>
            <a:pPr marL="285750" indent="-285750">
              <a:buFont typeface="Arial" panose="020B0604020202020204" pitchFamily="34" charset="0"/>
              <a:buChar char="•"/>
            </a:pPr>
            <a:r>
              <a:rPr lang="en-NG" sz="1400" dirty="0"/>
              <a:t>Evaluation performed on unseen test data </a:t>
            </a:r>
          </a:p>
        </p:txBody>
      </p:sp>
      <p:sp>
        <p:nvSpPr>
          <p:cNvPr id="26" name="Shape 24">
            <a:extLst>
              <a:ext uri="{FF2B5EF4-FFF2-40B4-BE49-F238E27FC236}">
                <a16:creationId xmlns:a16="http://schemas.microsoft.com/office/drawing/2014/main" id="{19C952E9-5706-7507-D498-E381D9A9F5D8}"/>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9BDAA9F0-E543-E505-ABBB-B11BA34D169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Tree>
    <p:extLst>
      <p:ext uri="{BB962C8B-B14F-4D97-AF65-F5344CB8AC3E}">
        <p14:creationId xmlns:p14="http://schemas.microsoft.com/office/powerpoint/2010/main" val="2802706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CD9F8-193E-B8B1-2A47-2722E0A7B5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FE4F261-029A-9ACF-512F-1AC2CF4C918D}"/>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04329D9E-8C6E-71ED-3B3E-5092AD6C3708}"/>
              </a:ext>
            </a:extLst>
          </p:cNvPr>
          <p:cNvSpPr/>
          <p:nvPr/>
        </p:nvSpPr>
        <p:spPr>
          <a:xfrm>
            <a:off x="365759" y="715268"/>
            <a:ext cx="3639820" cy="364232"/>
          </a:xfrm>
          <a:prstGeom prst="rect">
            <a:avLst/>
          </a:prstGeom>
          <a:noFill/>
          <a:ln/>
        </p:spPr>
        <p:txBody>
          <a:bodyPr wrap="square" rtlCol="0" anchor="ctr"/>
          <a:lstStyle/>
          <a:p>
            <a:r>
              <a:rPr lang="en-NG" sz="1400" dirty="0">
                <a:solidFill>
                  <a:schemeClr val="accent1"/>
                </a:solidFill>
              </a:rPr>
              <a:t>Tuned Model Performance Comparison</a:t>
            </a:r>
            <a:endParaRPr lang="en-NG" sz="1300" dirty="0">
              <a:solidFill>
                <a:schemeClr val="accent1"/>
              </a:solidFill>
            </a:endParaRPr>
          </a:p>
        </p:txBody>
      </p:sp>
      <p:sp>
        <p:nvSpPr>
          <p:cNvPr id="4" name="Text 2">
            <a:extLst>
              <a:ext uri="{FF2B5EF4-FFF2-40B4-BE49-F238E27FC236}">
                <a16:creationId xmlns:a16="http://schemas.microsoft.com/office/drawing/2014/main" id="{22E79D4B-75DD-CF07-F981-0CFF2DDCF64F}"/>
              </a:ext>
            </a:extLst>
          </p:cNvPr>
          <p:cNvSpPr/>
          <p:nvPr/>
        </p:nvSpPr>
        <p:spPr>
          <a:xfrm>
            <a:off x="365759" y="1322457"/>
            <a:ext cx="3685539" cy="2788145"/>
          </a:xfrm>
          <a:prstGeom prst="rect">
            <a:avLst/>
          </a:prstGeom>
          <a:noFill/>
          <a:ln/>
        </p:spPr>
        <p:txBody>
          <a:bodyPr wrap="square" rtlCol="0" anchor="t"/>
          <a:lstStyle/>
          <a:p>
            <a:r>
              <a:rPr lang="en-NG" sz="1400" b="1" dirty="0"/>
              <a:t>Key Performance Insights</a:t>
            </a:r>
          </a:p>
          <a:p>
            <a:pPr marL="285750" indent="-285750">
              <a:buFont typeface="Arial" panose="020B0604020202020204" pitchFamily="34" charset="0"/>
              <a:buChar char="•"/>
            </a:pPr>
            <a:r>
              <a:rPr lang="en-NG" sz="1400" dirty="0"/>
              <a:t>Gradient Boosting achieved the best overall performance, with 86.9% Accuracy, 64.2% Recall, 0.701 F1-Score, 0.623 MCC, and 0.925 ROC-AUC. </a:t>
            </a:r>
          </a:p>
          <a:p>
            <a:endParaRPr lang="en-NG" sz="1400" dirty="0"/>
          </a:p>
          <a:p>
            <a:pPr marL="285750" indent="-285750">
              <a:buFont typeface="Arial" panose="020B0604020202020204" pitchFamily="34" charset="0"/>
              <a:buChar char="•"/>
            </a:pPr>
            <a:r>
              <a:rPr lang="en-NG" sz="1400" dirty="0"/>
              <a:t>Random Forest achieved the highest Precision (78.6%), indicating the lowest false-positive rate among all models.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All models achieved ROC-AUC values above 0.90, ranging from 0.902 to 0.925, demonstrating strong class-separation capability. </a:t>
            </a:r>
          </a:p>
          <a:p>
            <a:endParaRPr lang="en-NG" sz="1400" dirty="0"/>
          </a:p>
        </p:txBody>
      </p:sp>
      <p:sp>
        <p:nvSpPr>
          <p:cNvPr id="26" name="Shape 24">
            <a:extLst>
              <a:ext uri="{FF2B5EF4-FFF2-40B4-BE49-F238E27FC236}">
                <a16:creationId xmlns:a16="http://schemas.microsoft.com/office/drawing/2014/main" id="{3F8B05B9-7CF6-C3C2-579F-A22DCA22423C}"/>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FA797FA0-49EE-7D1A-0BAA-4E96CC8556DB}"/>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ECFE05D1-F77E-2E5C-B106-0153AEDB32D7}"/>
              </a:ext>
            </a:extLst>
          </p:cNvPr>
          <p:cNvPicPr>
            <a:picLocks noChangeAspect="1"/>
          </p:cNvPicPr>
          <p:nvPr/>
        </p:nvPicPr>
        <p:blipFill>
          <a:blip r:embed="rId3"/>
          <a:stretch>
            <a:fillRect/>
          </a:stretch>
        </p:blipFill>
        <p:spPr>
          <a:xfrm>
            <a:off x="3849021" y="1439674"/>
            <a:ext cx="5155607" cy="2553712"/>
          </a:xfrm>
          <a:prstGeom prst="rect">
            <a:avLst/>
          </a:prstGeom>
        </p:spPr>
      </p:pic>
    </p:spTree>
    <p:extLst>
      <p:ext uri="{BB962C8B-B14F-4D97-AF65-F5344CB8AC3E}">
        <p14:creationId xmlns:p14="http://schemas.microsoft.com/office/powerpoint/2010/main" val="4192795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ECC1D-437B-FCF1-90BA-82A80B39A3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F42A69-E600-E5A2-1B80-DD9D9391C27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738813F7-D9C1-454A-8ABE-42A08D10C754}"/>
              </a:ext>
            </a:extLst>
          </p:cNvPr>
          <p:cNvSpPr/>
          <p:nvPr/>
        </p:nvSpPr>
        <p:spPr>
          <a:xfrm>
            <a:off x="365759" y="715268"/>
            <a:ext cx="3639820" cy="364232"/>
          </a:xfrm>
          <a:prstGeom prst="rect">
            <a:avLst/>
          </a:prstGeom>
          <a:noFill/>
          <a:ln/>
        </p:spPr>
        <p:txBody>
          <a:bodyPr wrap="square" rtlCol="0" anchor="ctr"/>
          <a:lstStyle/>
          <a:p>
            <a:r>
              <a:rPr lang="en-NG" sz="1400" dirty="0">
                <a:solidFill>
                  <a:schemeClr val="accent1"/>
                </a:solidFill>
              </a:rPr>
              <a:t>Tuned Model Performance Comparison</a:t>
            </a:r>
            <a:endParaRPr lang="en-NG" sz="1300" dirty="0">
              <a:solidFill>
                <a:schemeClr val="accent1"/>
              </a:solidFill>
            </a:endParaRPr>
          </a:p>
        </p:txBody>
      </p:sp>
      <p:sp>
        <p:nvSpPr>
          <p:cNvPr id="4" name="Text 2">
            <a:extLst>
              <a:ext uri="{FF2B5EF4-FFF2-40B4-BE49-F238E27FC236}">
                <a16:creationId xmlns:a16="http://schemas.microsoft.com/office/drawing/2014/main" id="{666CA3B3-1D57-3258-54D6-A8C63C801948}"/>
              </a:ext>
            </a:extLst>
          </p:cNvPr>
          <p:cNvSpPr/>
          <p:nvPr/>
        </p:nvSpPr>
        <p:spPr>
          <a:xfrm>
            <a:off x="365760" y="1322457"/>
            <a:ext cx="3483262" cy="3683883"/>
          </a:xfrm>
          <a:prstGeom prst="rect">
            <a:avLst/>
          </a:prstGeom>
          <a:noFill/>
          <a:ln/>
        </p:spPr>
        <p:txBody>
          <a:bodyPr wrap="square" rtlCol="0" anchor="t"/>
          <a:lstStyle/>
          <a:p>
            <a:r>
              <a:rPr lang="en-NG" sz="1400" b="1" dirty="0"/>
              <a:t>Key Performance Insights</a:t>
            </a:r>
          </a:p>
          <a:p>
            <a:pPr marL="285750" indent="-285750">
              <a:buFont typeface="Arial" panose="020B0604020202020204" pitchFamily="34" charset="0"/>
              <a:buChar char="•"/>
            </a:pPr>
            <a:r>
              <a:rPr lang="en-NG" sz="1400" b="1" dirty="0"/>
              <a:t>Hyperparameter tuning improved all models</a:t>
            </a:r>
            <a:r>
              <a:rPr lang="en-NG" sz="1400" dirty="0"/>
              <a:t>, with Decision Tree ROC-AUC increasing from </a:t>
            </a:r>
            <a:r>
              <a:rPr lang="en-NG" sz="1400" b="1" dirty="0"/>
              <a:t>0.772 to 0.902</a:t>
            </a:r>
            <a:r>
              <a:rPr lang="en-NG" sz="1400" dirty="0"/>
              <a:t> and F1-Score increasing from </a:t>
            </a:r>
            <a:r>
              <a:rPr lang="en-NG" sz="1400" b="1" dirty="0"/>
              <a:t>0.609 to 0.660</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Ensemble methods outperformed individual models</a:t>
            </a:r>
            <a:r>
              <a:rPr lang="en-NG" sz="1400" dirty="0"/>
              <a:t>, with Gradient Boosting (</a:t>
            </a:r>
            <a:r>
              <a:rPr lang="en-NG" sz="1400" b="1" dirty="0"/>
              <a:t>F1 = 0.701</a:t>
            </a:r>
            <a:r>
              <a:rPr lang="en-NG" sz="1400" dirty="0"/>
              <a:t>) and Random Forest (</a:t>
            </a:r>
            <a:r>
              <a:rPr lang="en-NG" sz="1400" b="1" dirty="0"/>
              <a:t>F1 = 0.670</a:t>
            </a:r>
            <a:r>
              <a:rPr lang="en-NG" sz="1400" dirty="0"/>
              <a:t>) achieving the strongest predictive performance.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Gradient Boosting was selected as the final model</a:t>
            </a:r>
            <a:r>
              <a:rPr lang="en-NG" sz="1400" dirty="0"/>
              <a:t> because it achieved the highest Accuracy (</a:t>
            </a:r>
            <a:r>
              <a:rPr lang="en-NG" sz="1400" b="1" dirty="0"/>
              <a:t>86.9%</a:t>
            </a:r>
            <a:r>
              <a:rPr lang="en-NG" sz="1400" dirty="0"/>
              <a:t>), Recall (</a:t>
            </a:r>
            <a:r>
              <a:rPr lang="en-NG" sz="1400" b="1" dirty="0"/>
              <a:t>64.2%</a:t>
            </a:r>
            <a:r>
              <a:rPr lang="en-NG" sz="1400" dirty="0"/>
              <a:t>), F1-Score (</a:t>
            </a:r>
            <a:r>
              <a:rPr lang="en-NG" sz="1400" b="1" dirty="0"/>
              <a:t>0.701</a:t>
            </a:r>
            <a:r>
              <a:rPr lang="en-NG" sz="1400" dirty="0"/>
              <a:t>), MCC (</a:t>
            </a:r>
            <a:r>
              <a:rPr lang="en-NG" sz="1400" b="1" dirty="0"/>
              <a:t>0.623</a:t>
            </a:r>
            <a:r>
              <a:rPr lang="en-NG" sz="1400" dirty="0"/>
              <a:t>), and ROC-AUC (</a:t>
            </a:r>
            <a:r>
              <a:rPr lang="en-NG" sz="1400" b="1" dirty="0"/>
              <a:t>0.925</a:t>
            </a:r>
            <a:r>
              <a:rPr lang="en-NG" sz="1400" dirty="0"/>
              <a:t>). </a:t>
            </a:r>
          </a:p>
          <a:p>
            <a:endParaRPr lang="en-NG" sz="1400" dirty="0"/>
          </a:p>
        </p:txBody>
      </p:sp>
      <p:sp>
        <p:nvSpPr>
          <p:cNvPr id="26" name="Shape 24">
            <a:extLst>
              <a:ext uri="{FF2B5EF4-FFF2-40B4-BE49-F238E27FC236}">
                <a16:creationId xmlns:a16="http://schemas.microsoft.com/office/drawing/2014/main" id="{EC0CE0F2-1C1A-5D15-F21F-B7076F660889}"/>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170F4E06-F3D3-6BA4-76F0-8EA082F4585D}"/>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FE4B2D89-B1DF-2FE3-3559-C4B2869AA84B}"/>
              </a:ext>
            </a:extLst>
          </p:cNvPr>
          <p:cNvPicPr>
            <a:picLocks noChangeAspect="1"/>
          </p:cNvPicPr>
          <p:nvPr/>
        </p:nvPicPr>
        <p:blipFill>
          <a:blip r:embed="rId3"/>
          <a:stretch>
            <a:fillRect/>
          </a:stretch>
        </p:blipFill>
        <p:spPr>
          <a:xfrm>
            <a:off x="3849021" y="1439674"/>
            <a:ext cx="5155607" cy="2553712"/>
          </a:xfrm>
          <a:prstGeom prst="rect">
            <a:avLst/>
          </a:prstGeom>
        </p:spPr>
      </p:pic>
    </p:spTree>
    <p:extLst>
      <p:ext uri="{BB962C8B-B14F-4D97-AF65-F5344CB8AC3E}">
        <p14:creationId xmlns:p14="http://schemas.microsoft.com/office/powerpoint/2010/main" val="570424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9AA3-1405-6C5C-1707-0F286800C4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373051-6059-6657-CFC7-293CC8D597D8}"/>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FC6E544E-A46E-8E90-9C62-5B3EBD1A77A3}"/>
              </a:ext>
            </a:extLst>
          </p:cNvPr>
          <p:cNvSpPr/>
          <p:nvPr/>
        </p:nvSpPr>
        <p:spPr>
          <a:xfrm>
            <a:off x="365758" y="715268"/>
            <a:ext cx="4803141" cy="364232"/>
          </a:xfrm>
          <a:prstGeom prst="rect">
            <a:avLst/>
          </a:prstGeom>
          <a:noFill/>
          <a:ln/>
        </p:spPr>
        <p:txBody>
          <a:bodyPr wrap="square" rtlCol="0" anchor="ctr"/>
          <a:lstStyle/>
          <a:p>
            <a:r>
              <a:rPr lang="en-NG" sz="1400" dirty="0">
                <a:solidFill>
                  <a:schemeClr val="accent1"/>
                </a:solidFill>
              </a:rPr>
              <a:t>ROC Curve Comparison: Model Discrimination Performance</a:t>
            </a:r>
            <a:endParaRPr lang="en-NG" sz="1300" dirty="0">
              <a:solidFill>
                <a:schemeClr val="accent1"/>
              </a:solidFill>
            </a:endParaRPr>
          </a:p>
        </p:txBody>
      </p:sp>
      <p:sp>
        <p:nvSpPr>
          <p:cNvPr id="4" name="Text 2">
            <a:extLst>
              <a:ext uri="{FF2B5EF4-FFF2-40B4-BE49-F238E27FC236}">
                <a16:creationId xmlns:a16="http://schemas.microsoft.com/office/drawing/2014/main" id="{34C5171F-6A0B-C521-A03D-A7DC4E944459}"/>
              </a:ext>
            </a:extLst>
          </p:cNvPr>
          <p:cNvSpPr/>
          <p:nvPr/>
        </p:nvSpPr>
        <p:spPr>
          <a:xfrm>
            <a:off x="320040" y="1123454"/>
            <a:ext cx="3685539" cy="3882886"/>
          </a:xfrm>
          <a:prstGeom prst="rect">
            <a:avLst/>
          </a:prstGeom>
          <a:noFill/>
          <a:ln/>
        </p:spPr>
        <p:txBody>
          <a:bodyPr wrap="square" rtlCol="0" anchor="t"/>
          <a:lstStyle/>
          <a:p>
            <a:r>
              <a:rPr lang="en-NG" sz="1400" b="1" dirty="0"/>
              <a:t>Key Findings</a:t>
            </a:r>
          </a:p>
          <a:p>
            <a:pPr marL="285750" indent="-285750">
              <a:buFont typeface="Arial" panose="020B0604020202020204" pitchFamily="34" charset="0"/>
              <a:buChar char="•"/>
            </a:pPr>
            <a:r>
              <a:rPr lang="en-NG" sz="1400" dirty="0"/>
              <a:t>Gradient Boosting achieved the highest ROC-AUC (</a:t>
            </a:r>
            <a:r>
              <a:rPr lang="en-NG" sz="1400" b="1" dirty="0"/>
              <a:t>0.925</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Random Forest achieved the second-best ROC-AUC (</a:t>
            </a:r>
            <a:r>
              <a:rPr lang="en-NG" sz="1400" b="1" dirty="0"/>
              <a:t>0.916</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All models achieved ROC-AUC values above </a:t>
            </a:r>
            <a:r>
              <a:rPr lang="en-NG" sz="1400" b="1" dirty="0"/>
              <a:t>0.90</a:t>
            </a:r>
            <a:r>
              <a:rPr lang="en-NG" sz="1400" dirty="0"/>
              <a:t>, indicating strong predictive capability.</a:t>
            </a:r>
          </a:p>
          <a:p>
            <a:endParaRPr lang="en-NG" sz="1400" dirty="0"/>
          </a:p>
          <a:p>
            <a:pPr marL="285750" indent="-285750">
              <a:buFont typeface="Arial" panose="020B0604020202020204" pitchFamily="34" charset="0"/>
              <a:buChar char="•"/>
            </a:pPr>
            <a:r>
              <a:rPr lang="en-NG" sz="1400" dirty="0"/>
              <a:t>Ensemble methods demonstrated superior class-separation performance.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Gradient Boosting showed the strongest ability to distinguish between high-income and low-income individuals across different classification thresholds.</a:t>
            </a:r>
          </a:p>
        </p:txBody>
      </p:sp>
      <p:sp>
        <p:nvSpPr>
          <p:cNvPr id="26" name="Shape 24">
            <a:extLst>
              <a:ext uri="{FF2B5EF4-FFF2-40B4-BE49-F238E27FC236}">
                <a16:creationId xmlns:a16="http://schemas.microsoft.com/office/drawing/2014/main" id="{0F0D131D-6FEC-2D1C-696F-B5266A863D5D}"/>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631DF317-9FEB-19C0-2844-E30BA2D01CBD}"/>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326753BC-5D93-67EE-FB00-6FAE0E3B6A12}"/>
              </a:ext>
            </a:extLst>
          </p:cNvPr>
          <p:cNvPicPr>
            <a:picLocks noChangeAspect="1"/>
          </p:cNvPicPr>
          <p:nvPr/>
        </p:nvPicPr>
        <p:blipFill>
          <a:blip r:embed="rId3"/>
          <a:stretch>
            <a:fillRect/>
          </a:stretch>
        </p:blipFill>
        <p:spPr>
          <a:xfrm>
            <a:off x="3903980" y="1223779"/>
            <a:ext cx="4599940" cy="3204453"/>
          </a:xfrm>
          <a:prstGeom prst="rect">
            <a:avLst/>
          </a:prstGeom>
        </p:spPr>
      </p:pic>
    </p:spTree>
    <p:extLst>
      <p:ext uri="{BB962C8B-B14F-4D97-AF65-F5344CB8AC3E}">
        <p14:creationId xmlns:p14="http://schemas.microsoft.com/office/powerpoint/2010/main" val="3515533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326AB-9073-D18E-6A62-28492DC1A7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84C786C-745A-97B6-761F-832618DF878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061930E2-7320-9DED-0C13-5B8FA2551AE9}"/>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Confusion Matrix (Best Model)</a:t>
            </a:r>
            <a:endParaRPr lang="en-NG" sz="1300" dirty="0">
              <a:solidFill>
                <a:schemeClr val="accent1"/>
              </a:solidFill>
            </a:endParaRPr>
          </a:p>
        </p:txBody>
      </p:sp>
      <p:sp>
        <p:nvSpPr>
          <p:cNvPr id="4" name="Text 2">
            <a:extLst>
              <a:ext uri="{FF2B5EF4-FFF2-40B4-BE49-F238E27FC236}">
                <a16:creationId xmlns:a16="http://schemas.microsoft.com/office/drawing/2014/main" id="{C6584B9D-4446-6B89-FC1A-34E1959C1151}"/>
              </a:ext>
            </a:extLst>
          </p:cNvPr>
          <p:cNvSpPr/>
          <p:nvPr/>
        </p:nvSpPr>
        <p:spPr>
          <a:xfrm>
            <a:off x="365758" y="871994"/>
            <a:ext cx="3685539" cy="3882886"/>
          </a:xfrm>
          <a:prstGeom prst="rect">
            <a:avLst/>
          </a:prstGeom>
          <a:noFill/>
          <a:ln/>
        </p:spPr>
        <p:txBody>
          <a:bodyPr wrap="square" rtlCol="0" anchor="t"/>
          <a:lstStyle/>
          <a:p>
            <a:r>
              <a:rPr lang="en-NG" sz="1400" b="1" dirty="0"/>
              <a:t>Key Findings</a:t>
            </a:r>
          </a:p>
          <a:p>
            <a:pPr marL="285750" indent="-285750">
              <a:buFont typeface="Arial" panose="020B0604020202020204" pitchFamily="34" charset="0"/>
              <a:buChar char="•"/>
            </a:pPr>
            <a:r>
              <a:rPr lang="en-NG" sz="1400" dirty="0"/>
              <a:t>Strong overall classification performance across both income classes.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High-income individuals were identified effectively, achieving </a:t>
            </a:r>
            <a:r>
              <a:rPr lang="en-NG" sz="1400" b="1" dirty="0"/>
              <a:t>64.2% Recall</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Predictions for the high-income class were reliable, achieving </a:t>
            </a:r>
            <a:r>
              <a:rPr lang="en-NG" sz="1400" b="1" dirty="0"/>
              <a:t>77.3% Precision</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More false negatives than false positives indicate a slightly conservative prediction strategy.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Achieved the best balance between Precision and Recall (</a:t>
            </a:r>
            <a:r>
              <a:rPr lang="en-NG" sz="1400" b="1" dirty="0"/>
              <a:t>F1-Score = 0.701</a:t>
            </a:r>
            <a:r>
              <a:rPr lang="en-NG" sz="1400" dirty="0"/>
              <a:t>). </a:t>
            </a:r>
          </a:p>
          <a:p>
            <a:endParaRPr lang="en-NG" sz="1400" dirty="0"/>
          </a:p>
          <a:p>
            <a:pPr marL="285750" indent="-285750">
              <a:buFont typeface="Arial" panose="020B0604020202020204" pitchFamily="34" charset="0"/>
              <a:buChar char="•"/>
            </a:pPr>
            <a:r>
              <a:rPr lang="en-NG" sz="1400" dirty="0"/>
              <a:t>Confirms why </a:t>
            </a:r>
            <a:r>
              <a:rPr lang="en-NG" sz="1400" b="1" dirty="0"/>
              <a:t>Gradient Boosting was selected as the final model</a:t>
            </a:r>
            <a:r>
              <a:rPr lang="en-NG" sz="1400" dirty="0"/>
              <a:t>.</a:t>
            </a:r>
          </a:p>
        </p:txBody>
      </p:sp>
      <p:sp>
        <p:nvSpPr>
          <p:cNvPr id="26" name="Shape 24">
            <a:extLst>
              <a:ext uri="{FF2B5EF4-FFF2-40B4-BE49-F238E27FC236}">
                <a16:creationId xmlns:a16="http://schemas.microsoft.com/office/drawing/2014/main" id="{EC3AE15A-6B33-C5D4-45A4-C098CCF30F44}"/>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862EAF3F-EA7A-266D-79E8-D0FEF1DE5039}"/>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06C66D25-9DD2-CB67-2527-0E7C532E9B64}"/>
              </a:ext>
            </a:extLst>
          </p:cNvPr>
          <p:cNvPicPr>
            <a:picLocks noChangeAspect="1"/>
          </p:cNvPicPr>
          <p:nvPr/>
        </p:nvPicPr>
        <p:blipFill>
          <a:blip r:embed="rId3"/>
          <a:stretch>
            <a:fillRect/>
          </a:stretch>
        </p:blipFill>
        <p:spPr>
          <a:xfrm>
            <a:off x="3766821" y="640080"/>
            <a:ext cx="4577866" cy="3892292"/>
          </a:xfrm>
          <a:prstGeom prst="rect">
            <a:avLst/>
          </a:prstGeom>
        </p:spPr>
      </p:pic>
    </p:spTree>
    <p:extLst>
      <p:ext uri="{BB962C8B-B14F-4D97-AF65-F5344CB8AC3E}">
        <p14:creationId xmlns:p14="http://schemas.microsoft.com/office/powerpoint/2010/main" val="319985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r>
              <a:rPr lang="en-NG" sz="3600" b="1" dirty="0"/>
              <a:t>Model Interpretability</a:t>
            </a:r>
            <a:r>
              <a:rPr lang="en-US" sz="3600" b="1" dirty="0">
                <a:latin typeface="Calibri" pitchFamily="34" charset="0"/>
                <a:ea typeface="Calibri" pitchFamily="34" charset="-122"/>
                <a:cs typeface="Calibri" pitchFamily="34" charset="-120"/>
              </a:rPr>
              <a:t> &amp; </a:t>
            </a:r>
            <a:r>
              <a:rPr lang="en-NG" sz="3600" b="1" dirty="0"/>
              <a:t>Responsible AI Evaluation</a:t>
            </a:r>
            <a:endParaRPr lang="en-US" sz="3600" b="1"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3390C-CF40-94BB-48AF-B8D44A7B82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34BE5C-AC90-804E-A14B-37EF1D1D8F51}"/>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E01644FE-0F5C-72C2-0B0D-79BD2B3C4211}"/>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Model Interpretability (SHAP Analysis)</a:t>
            </a:r>
            <a:endParaRPr lang="en-NG" sz="1300" dirty="0">
              <a:solidFill>
                <a:schemeClr val="accent1"/>
              </a:solidFill>
            </a:endParaRPr>
          </a:p>
        </p:txBody>
      </p:sp>
      <p:sp>
        <p:nvSpPr>
          <p:cNvPr id="4" name="Text 2">
            <a:extLst>
              <a:ext uri="{FF2B5EF4-FFF2-40B4-BE49-F238E27FC236}">
                <a16:creationId xmlns:a16="http://schemas.microsoft.com/office/drawing/2014/main" id="{F12049CD-B710-DCAB-AC95-BDD74AB5A0C2}"/>
              </a:ext>
            </a:extLst>
          </p:cNvPr>
          <p:cNvSpPr/>
          <p:nvPr/>
        </p:nvSpPr>
        <p:spPr>
          <a:xfrm>
            <a:off x="365758" y="871994"/>
            <a:ext cx="3685539" cy="3882886"/>
          </a:xfrm>
          <a:prstGeom prst="rect">
            <a:avLst/>
          </a:prstGeom>
          <a:noFill/>
          <a:ln/>
        </p:spPr>
        <p:txBody>
          <a:bodyPr wrap="square" rtlCol="0" anchor="t"/>
          <a:lstStyle/>
          <a:p>
            <a:r>
              <a:rPr lang="en-NG" sz="1400" b="1" dirty="0"/>
              <a:t>Key Findings</a:t>
            </a:r>
          </a:p>
          <a:p>
            <a:pPr marL="285750" indent="-285750">
              <a:buFont typeface="Arial" panose="020B0604020202020204" pitchFamily="34" charset="0"/>
              <a:buChar char="•"/>
            </a:pPr>
            <a:r>
              <a:rPr lang="en-NG" sz="1400" b="1" dirty="0"/>
              <a:t>Marital Status (Married-civ-spouse)</a:t>
            </a:r>
            <a:r>
              <a:rPr lang="en-NG" sz="1400" dirty="0"/>
              <a:t> was the most influential predictor of income.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Age</a:t>
            </a:r>
            <a:r>
              <a:rPr lang="en-NG" sz="1400" dirty="0"/>
              <a:t> showed a strong positive relationship with high-income predictions.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Educational Number</a:t>
            </a:r>
            <a:r>
              <a:rPr lang="en-NG" sz="1400" dirty="0"/>
              <a:t> significantly influenced income classification.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Capital Gain</a:t>
            </a:r>
            <a:r>
              <a:rPr lang="en-NG" sz="1400" dirty="0"/>
              <a:t> was one of the strongest financial predictors of high income.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Hours per Week</a:t>
            </a:r>
            <a:r>
              <a:rPr lang="en-NG" sz="1400" dirty="0"/>
              <a:t> contributed meaningfully to income prediction.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Both feature importance and feature impact can be observed simultaneously.</a:t>
            </a:r>
          </a:p>
        </p:txBody>
      </p:sp>
      <p:sp>
        <p:nvSpPr>
          <p:cNvPr id="26" name="Shape 24">
            <a:extLst>
              <a:ext uri="{FF2B5EF4-FFF2-40B4-BE49-F238E27FC236}">
                <a16:creationId xmlns:a16="http://schemas.microsoft.com/office/drawing/2014/main" id="{36A0DA93-3C44-C0CD-D6B8-771A8A01F897}"/>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2168867E-99F0-83DD-9A77-876A1FCBDB83}"/>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A082C88C-A7D5-22F2-DEDF-65DC6D0343A5}"/>
              </a:ext>
            </a:extLst>
          </p:cNvPr>
          <p:cNvPicPr>
            <a:picLocks noChangeAspect="1"/>
          </p:cNvPicPr>
          <p:nvPr/>
        </p:nvPicPr>
        <p:blipFill>
          <a:blip r:embed="rId3"/>
          <a:stretch>
            <a:fillRect/>
          </a:stretch>
        </p:blipFill>
        <p:spPr>
          <a:xfrm>
            <a:off x="4434839" y="640080"/>
            <a:ext cx="3685539" cy="4363265"/>
          </a:xfrm>
          <a:prstGeom prst="rect">
            <a:avLst/>
          </a:prstGeom>
        </p:spPr>
      </p:pic>
    </p:spTree>
    <p:extLst>
      <p:ext uri="{BB962C8B-B14F-4D97-AF65-F5344CB8AC3E}">
        <p14:creationId xmlns:p14="http://schemas.microsoft.com/office/powerpoint/2010/main" val="33227159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B7183-084F-845C-4729-1F8C3E70CD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C019C3-A8E4-D182-CADA-414541742947}"/>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1A856866-81E0-318D-A252-5F9129C66D28}"/>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Feature Importance</a:t>
            </a:r>
            <a:endParaRPr lang="en-NG" sz="1300" dirty="0">
              <a:solidFill>
                <a:schemeClr val="accent1"/>
              </a:solidFill>
            </a:endParaRPr>
          </a:p>
        </p:txBody>
      </p:sp>
      <p:sp>
        <p:nvSpPr>
          <p:cNvPr id="4" name="Text 2">
            <a:extLst>
              <a:ext uri="{FF2B5EF4-FFF2-40B4-BE49-F238E27FC236}">
                <a16:creationId xmlns:a16="http://schemas.microsoft.com/office/drawing/2014/main" id="{CB113F53-67D4-D17B-4224-9EF62F8A8837}"/>
              </a:ext>
            </a:extLst>
          </p:cNvPr>
          <p:cNvSpPr/>
          <p:nvPr/>
        </p:nvSpPr>
        <p:spPr>
          <a:xfrm>
            <a:off x="365758" y="871994"/>
            <a:ext cx="3799168" cy="3882886"/>
          </a:xfrm>
          <a:prstGeom prst="rect">
            <a:avLst/>
          </a:prstGeom>
          <a:noFill/>
          <a:ln/>
        </p:spPr>
        <p:txBody>
          <a:bodyPr wrap="square" rtlCol="0" anchor="t"/>
          <a:lstStyle/>
          <a:p>
            <a:r>
              <a:rPr lang="en-NG" sz="1400" b="1" dirty="0"/>
              <a:t>Key Findings</a:t>
            </a:r>
          </a:p>
          <a:p>
            <a:pPr marL="285750" indent="-285750">
              <a:buFont typeface="Arial" panose="020B0604020202020204" pitchFamily="34" charset="0"/>
              <a:buChar char="•"/>
            </a:pPr>
            <a:r>
              <a:rPr lang="en-NG" sz="1400" b="1" dirty="0"/>
              <a:t>Marital Status</a:t>
            </a:r>
            <a:r>
              <a:rPr lang="en-NG" sz="1400" dirty="0"/>
              <a:t> was the most influential predictor of income level.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Education Level</a:t>
            </a:r>
            <a:r>
              <a:rPr lang="en-NG" sz="1400" dirty="0"/>
              <a:t> strongly influenced the probability of earning more than $50K.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Capital Gain</a:t>
            </a:r>
            <a:r>
              <a:rPr lang="en-NG" sz="1400" dirty="0"/>
              <a:t> emerged as one of the strongest financial predictors.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Age</a:t>
            </a:r>
            <a:r>
              <a:rPr lang="en-NG" sz="1400" dirty="0"/>
              <a:t> contributed significantly to income prediction, reflecting experience and career progression.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b="1" dirty="0"/>
              <a:t>Hours per Week</a:t>
            </a:r>
            <a:r>
              <a:rPr lang="en-NG" sz="1400" dirty="0"/>
              <a:t> was positively associated with higher income levels. </a:t>
            </a:r>
          </a:p>
        </p:txBody>
      </p:sp>
      <p:sp>
        <p:nvSpPr>
          <p:cNvPr id="26" name="Shape 24">
            <a:extLst>
              <a:ext uri="{FF2B5EF4-FFF2-40B4-BE49-F238E27FC236}">
                <a16:creationId xmlns:a16="http://schemas.microsoft.com/office/drawing/2014/main" id="{1A66AD8F-8051-8DCE-1993-C3E8B2F092D1}"/>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8DBF42A0-44D9-2288-BDAF-7A8AD4C7EE8C}"/>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3D32C4C0-764B-23E6-EFA0-A0159E2073BC}"/>
              </a:ext>
            </a:extLst>
          </p:cNvPr>
          <p:cNvPicPr>
            <a:picLocks noChangeAspect="1"/>
          </p:cNvPicPr>
          <p:nvPr/>
        </p:nvPicPr>
        <p:blipFill>
          <a:blip r:embed="rId3"/>
          <a:stretch>
            <a:fillRect/>
          </a:stretch>
        </p:blipFill>
        <p:spPr>
          <a:xfrm>
            <a:off x="4164926" y="1198123"/>
            <a:ext cx="4613314" cy="2747254"/>
          </a:xfrm>
          <a:prstGeom prst="rect">
            <a:avLst/>
          </a:prstGeom>
        </p:spPr>
      </p:pic>
    </p:spTree>
    <p:extLst>
      <p:ext uri="{BB962C8B-B14F-4D97-AF65-F5344CB8AC3E}">
        <p14:creationId xmlns:p14="http://schemas.microsoft.com/office/powerpoint/2010/main" val="2521189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14B7-0A3A-BA63-8156-4741B9805F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D0A243-1370-1A05-2551-44766FF24081}"/>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11AF69BD-1152-1E48-27FB-CE8D97E63914}"/>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Responsible AI Evaluation: Gender Fairness</a:t>
            </a:r>
            <a:endParaRPr lang="en-NG" sz="1300" dirty="0">
              <a:solidFill>
                <a:schemeClr val="accent1"/>
              </a:solidFill>
            </a:endParaRPr>
          </a:p>
        </p:txBody>
      </p:sp>
      <p:sp>
        <p:nvSpPr>
          <p:cNvPr id="4" name="Text 2">
            <a:extLst>
              <a:ext uri="{FF2B5EF4-FFF2-40B4-BE49-F238E27FC236}">
                <a16:creationId xmlns:a16="http://schemas.microsoft.com/office/drawing/2014/main" id="{1F8A2F8E-B73B-CFE9-228B-FF1540F85C4D}"/>
              </a:ext>
            </a:extLst>
          </p:cNvPr>
          <p:cNvSpPr/>
          <p:nvPr/>
        </p:nvSpPr>
        <p:spPr>
          <a:xfrm>
            <a:off x="365758" y="871994"/>
            <a:ext cx="3799168" cy="3882886"/>
          </a:xfrm>
          <a:prstGeom prst="rect">
            <a:avLst/>
          </a:prstGeom>
          <a:noFill/>
          <a:ln/>
        </p:spPr>
        <p:txBody>
          <a:bodyPr wrap="square" rtlCol="0" anchor="t"/>
          <a:lstStyle/>
          <a:p>
            <a:r>
              <a:rPr lang="en-NG" sz="1400" b="1" dirty="0"/>
              <a:t>Key Findings</a:t>
            </a:r>
          </a:p>
          <a:p>
            <a:pPr marL="285750" indent="-285750">
              <a:buFont typeface="Arial" panose="020B0604020202020204" pitchFamily="34" charset="0"/>
              <a:buChar char="•"/>
            </a:pPr>
            <a:r>
              <a:rPr lang="en-NG" sz="1400" dirty="0"/>
              <a:t>Model performance varied across gender groups. </a:t>
            </a:r>
          </a:p>
          <a:p>
            <a:endParaRPr lang="en-NG" sz="1400" dirty="0"/>
          </a:p>
          <a:p>
            <a:pPr marL="285750" indent="-285750">
              <a:buFont typeface="Arial" panose="020B0604020202020204" pitchFamily="34" charset="0"/>
              <a:buChar char="•"/>
            </a:pPr>
            <a:r>
              <a:rPr lang="en-NG" sz="1400" dirty="0"/>
              <a:t>Female observations achieved higher overall Accuracy (</a:t>
            </a:r>
            <a:r>
              <a:rPr lang="en-NG" sz="1400" b="1" dirty="0"/>
              <a:t>93.6%</a:t>
            </a:r>
            <a:r>
              <a:rPr lang="en-NG" sz="1400" dirty="0"/>
              <a:t>) than males (</a:t>
            </a:r>
            <a:r>
              <a:rPr lang="en-NG" sz="1400" b="1" dirty="0"/>
              <a:t>84.0%</a:t>
            </a:r>
            <a:r>
              <a:rPr lang="en-NG" sz="1400" dirty="0"/>
              <a:t>). </a:t>
            </a:r>
          </a:p>
          <a:p>
            <a:endParaRPr lang="en-NG" sz="1400" dirty="0"/>
          </a:p>
          <a:p>
            <a:pPr marL="285750" indent="-285750">
              <a:buFont typeface="Arial" panose="020B0604020202020204" pitchFamily="34" charset="0"/>
              <a:buChar char="•"/>
            </a:pPr>
            <a:r>
              <a:rPr lang="en-NG" sz="1400" dirty="0"/>
              <a:t>Male observations achieved higher Recall (</a:t>
            </a:r>
            <a:r>
              <a:rPr lang="en-NG" sz="1400" b="1" dirty="0"/>
              <a:t>67.1%</a:t>
            </a:r>
            <a:r>
              <a:rPr lang="en-NG" sz="1400" dirty="0"/>
              <a:t>) and F1-Score (</a:t>
            </a:r>
            <a:r>
              <a:rPr lang="en-NG" sz="1400" b="1" dirty="0"/>
              <a:t>72.1%</a:t>
            </a:r>
            <a:r>
              <a:rPr lang="en-NG" sz="1400" dirty="0"/>
              <a:t>).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The model was more effective at identifying high-income males than high-income females.</a:t>
            </a:r>
          </a:p>
          <a:p>
            <a:r>
              <a:rPr lang="en-NG" sz="1400" dirty="0"/>
              <a:t> </a:t>
            </a:r>
          </a:p>
          <a:p>
            <a:pPr marL="285750" indent="-285750">
              <a:buFont typeface="Arial" panose="020B0604020202020204" pitchFamily="34" charset="0"/>
              <a:buChar char="•"/>
            </a:pPr>
            <a:r>
              <a:rPr lang="en-NG" sz="1400" dirty="0"/>
              <a:t>Precision remained relatively similar across both groups.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Results suggest potential performance disparities between demographic groups.</a:t>
            </a:r>
          </a:p>
        </p:txBody>
      </p:sp>
      <p:sp>
        <p:nvSpPr>
          <p:cNvPr id="26" name="Shape 24">
            <a:extLst>
              <a:ext uri="{FF2B5EF4-FFF2-40B4-BE49-F238E27FC236}">
                <a16:creationId xmlns:a16="http://schemas.microsoft.com/office/drawing/2014/main" id="{9DAE24DF-3FA5-9EB5-86AE-BDF34AFD5000}"/>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558C36B2-30DA-56B8-3BCF-924E6067E02B}"/>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7" name="Picture 6">
            <a:extLst>
              <a:ext uri="{FF2B5EF4-FFF2-40B4-BE49-F238E27FC236}">
                <a16:creationId xmlns:a16="http://schemas.microsoft.com/office/drawing/2014/main" id="{71CA4DFD-C896-00CF-0B70-CB0F6F5D97B8}"/>
              </a:ext>
            </a:extLst>
          </p:cNvPr>
          <p:cNvPicPr>
            <a:picLocks noChangeAspect="1"/>
          </p:cNvPicPr>
          <p:nvPr/>
        </p:nvPicPr>
        <p:blipFill>
          <a:blip r:embed="rId3"/>
          <a:stretch>
            <a:fillRect/>
          </a:stretch>
        </p:blipFill>
        <p:spPr>
          <a:xfrm>
            <a:off x="4328169" y="1665272"/>
            <a:ext cx="4175751" cy="2064416"/>
          </a:xfrm>
          <a:prstGeom prst="rect">
            <a:avLst/>
          </a:prstGeom>
        </p:spPr>
      </p:pic>
    </p:spTree>
    <p:extLst>
      <p:ext uri="{BB962C8B-B14F-4D97-AF65-F5344CB8AC3E}">
        <p14:creationId xmlns:p14="http://schemas.microsoft.com/office/powerpoint/2010/main" val="3581358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85DE9-237B-D517-F464-74AA916DDC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96AAD7-8C3A-3212-6848-0CB17006DB3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429AEA35-9E9F-F6FE-C895-667DE96EC55E}"/>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Responsible AI Evaluation: Race Fairness</a:t>
            </a:r>
            <a:endParaRPr lang="en-NG" sz="1300" dirty="0">
              <a:solidFill>
                <a:schemeClr val="accent1"/>
              </a:solidFill>
            </a:endParaRPr>
          </a:p>
        </p:txBody>
      </p:sp>
      <p:sp>
        <p:nvSpPr>
          <p:cNvPr id="4" name="Text 2">
            <a:extLst>
              <a:ext uri="{FF2B5EF4-FFF2-40B4-BE49-F238E27FC236}">
                <a16:creationId xmlns:a16="http://schemas.microsoft.com/office/drawing/2014/main" id="{8012149F-0152-CBF4-5A5B-0132EB0E4D5A}"/>
              </a:ext>
            </a:extLst>
          </p:cNvPr>
          <p:cNvSpPr/>
          <p:nvPr/>
        </p:nvSpPr>
        <p:spPr>
          <a:xfrm>
            <a:off x="365758" y="871994"/>
            <a:ext cx="3799168" cy="3882886"/>
          </a:xfrm>
          <a:prstGeom prst="rect">
            <a:avLst/>
          </a:prstGeom>
          <a:noFill/>
          <a:ln/>
        </p:spPr>
        <p:txBody>
          <a:bodyPr wrap="square" rtlCol="0" anchor="t"/>
          <a:lstStyle/>
          <a:p>
            <a:r>
              <a:rPr lang="en-NG" sz="1200" b="1" dirty="0"/>
              <a:t>Key Findings</a:t>
            </a:r>
          </a:p>
          <a:p>
            <a:pPr marL="285750" indent="-285750">
              <a:buFont typeface="Arial" panose="020B0604020202020204" pitchFamily="34" charset="0"/>
              <a:buChar char="•"/>
            </a:pPr>
            <a:r>
              <a:rPr lang="en-NG" sz="1200" dirty="0"/>
              <a:t>Performance varied across racial groups. </a:t>
            </a:r>
          </a:p>
          <a:p>
            <a:pPr marL="285750" indent="-285750">
              <a:buFont typeface="Arial" panose="020B0604020202020204" pitchFamily="34" charset="0"/>
              <a:buChar char="•"/>
            </a:pPr>
            <a:endParaRPr lang="en-NG" sz="1200" dirty="0"/>
          </a:p>
          <a:p>
            <a:pPr marL="285750" indent="-285750">
              <a:buFont typeface="Arial" panose="020B0604020202020204" pitchFamily="34" charset="0"/>
              <a:buChar char="•"/>
            </a:pPr>
            <a:r>
              <a:rPr lang="en-NG" sz="1200" dirty="0"/>
              <a:t>The </a:t>
            </a:r>
            <a:r>
              <a:rPr lang="en-NG" sz="1200" b="1" dirty="0"/>
              <a:t>White</a:t>
            </a:r>
            <a:r>
              <a:rPr lang="en-NG" sz="1200" dirty="0"/>
              <a:t> group achieved the highest F1-Score (</a:t>
            </a:r>
            <a:r>
              <a:rPr lang="en-NG" sz="1200" b="1" dirty="0"/>
              <a:t>0.716</a:t>
            </a:r>
            <a:r>
              <a:rPr lang="en-NG" sz="1200" dirty="0"/>
              <a:t>). </a:t>
            </a:r>
          </a:p>
          <a:p>
            <a:pPr marL="285750" indent="-285750">
              <a:buFont typeface="Arial" panose="020B0604020202020204" pitchFamily="34" charset="0"/>
              <a:buChar char="•"/>
            </a:pPr>
            <a:endParaRPr lang="en-NG" sz="1200" dirty="0"/>
          </a:p>
          <a:p>
            <a:pPr marL="285750" indent="-285750">
              <a:buFont typeface="Arial" panose="020B0604020202020204" pitchFamily="34" charset="0"/>
              <a:buChar char="•"/>
            </a:pPr>
            <a:r>
              <a:rPr lang="en-NG" sz="1200" dirty="0"/>
              <a:t>The </a:t>
            </a:r>
            <a:r>
              <a:rPr lang="en-NG" sz="1200" b="1" dirty="0"/>
              <a:t>Asian-Pac-Islander</a:t>
            </a:r>
            <a:r>
              <a:rPr lang="en-NG" sz="1200" dirty="0"/>
              <a:t> group also achieved strong performance (</a:t>
            </a:r>
            <a:r>
              <a:rPr lang="en-NG" sz="1200" b="1" dirty="0"/>
              <a:t>F1 = 0.702</a:t>
            </a:r>
            <a:r>
              <a:rPr lang="en-NG" sz="1200" dirty="0"/>
              <a:t>).</a:t>
            </a:r>
          </a:p>
          <a:p>
            <a:pPr marL="285750" indent="-285750">
              <a:buFont typeface="Arial" panose="020B0604020202020204" pitchFamily="34" charset="0"/>
              <a:buChar char="•"/>
            </a:pPr>
            <a:endParaRPr lang="en-NG" sz="1200" dirty="0"/>
          </a:p>
          <a:p>
            <a:pPr marL="285750" indent="-285750">
              <a:buFont typeface="Arial" panose="020B0604020202020204" pitchFamily="34" charset="0"/>
              <a:buChar char="•"/>
            </a:pPr>
            <a:r>
              <a:rPr lang="en-NG" sz="1200" dirty="0"/>
              <a:t>The </a:t>
            </a:r>
            <a:r>
              <a:rPr lang="en-NG" sz="1200" b="1" dirty="0"/>
              <a:t>Amer-Indian-Eskimo</a:t>
            </a:r>
            <a:r>
              <a:rPr lang="en-NG" sz="1200" dirty="0"/>
              <a:t> group achieved the lowest Recall (</a:t>
            </a:r>
            <a:r>
              <a:rPr lang="en-NG" sz="1200" b="1" dirty="0"/>
              <a:t>44.4%</a:t>
            </a:r>
            <a:r>
              <a:rPr lang="en-NG" sz="1200" dirty="0"/>
              <a:t>) and F1-Score (</a:t>
            </a:r>
            <a:r>
              <a:rPr lang="en-NG" sz="1200" b="1" dirty="0"/>
              <a:t>0.533</a:t>
            </a:r>
            <a:r>
              <a:rPr lang="en-NG" sz="1200" dirty="0"/>
              <a:t>). </a:t>
            </a:r>
          </a:p>
          <a:p>
            <a:pPr marL="285750" indent="-285750">
              <a:buFont typeface="Arial" panose="020B0604020202020204" pitchFamily="34" charset="0"/>
              <a:buChar char="•"/>
            </a:pPr>
            <a:endParaRPr lang="en-NG" sz="1200" dirty="0"/>
          </a:p>
          <a:p>
            <a:pPr marL="285750" indent="-285750">
              <a:buFont typeface="Arial" panose="020B0604020202020204" pitchFamily="34" charset="0"/>
              <a:buChar char="•"/>
            </a:pPr>
            <a:r>
              <a:rPr lang="en-NG" sz="1200" dirty="0"/>
              <a:t>Smaller demographic groups produced less stable performance estimates. </a:t>
            </a:r>
          </a:p>
          <a:p>
            <a:pPr marL="285750" indent="-285750">
              <a:buFont typeface="Arial" panose="020B0604020202020204" pitchFamily="34" charset="0"/>
              <a:buChar char="•"/>
            </a:pPr>
            <a:endParaRPr lang="en-NG" sz="1200" dirty="0"/>
          </a:p>
          <a:p>
            <a:pPr marL="285750" indent="-285750">
              <a:buFont typeface="Arial" panose="020B0604020202020204" pitchFamily="34" charset="0"/>
              <a:buChar char="•"/>
            </a:pPr>
            <a:r>
              <a:rPr lang="en-NG" sz="1200" dirty="0"/>
              <a:t>Uneven representation may contribute to performance differences across groups. </a:t>
            </a:r>
          </a:p>
        </p:txBody>
      </p:sp>
      <p:sp>
        <p:nvSpPr>
          <p:cNvPr id="26" name="Shape 24">
            <a:extLst>
              <a:ext uri="{FF2B5EF4-FFF2-40B4-BE49-F238E27FC236}">
                <a16:creationId xmlns:a16="http://schemas.microsoft.com/office/drawing/2014/main" id="{B5890065-4F21-CC19-483F-F20E79403E78}"/>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C1A575F6-00DA-5745-122E-6CA4B670E3C8}"/>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6" name="Picture 5">
            <a:extLst>
              <a:ext uri="{FF2B5EF4-FFF2-40B4-BE49-F238E27FC236}">
                <a16:creationId xmlns:a16="http://schemas.microsoft.com/office/drawing/2014/main" id="{4FF16E56-C516-89E1-F305-F6DC45427CD1}"/>
              </a:ext>
            </a:extLst>
          </p:cNvPr>
          <p:cNvPicPr>
            <a:picLocks noChangeAspect="1"/>
          </p:cNvPicPr>
          <p:nvPr/>
        </p:nvPicPr>
        <p:blipFill>
          <a:blip r:embed="rId3"/>
          <a:stretch>
            <a:fillRect/>
          </a:stretch>
        </p:blipFill>
        <p:spPr>
          <a:xfrm>
            <a:off x="4025901" y="1523999"/>
            <a:ext cx="4979196" cy="2463453"/>
          </a:xfrm>
          <a:prstGeom prst="rect">
            <a:avLst/>
          </a:prstGeom>
        </p:spPr>
      </p:pic>
    </p:spTree>
    <p:extLst>
      <p:ext uri="{BB962C8B-B14F-4D97-AF65-F5344CB8AC3E}">
        <p14:creationId xmlns:p14="http://schemas.microsoft.com/office/powerpoint/2010/main" val="248817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2034-5489-4195-F0CB-EE0799715B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B7E859-90EB-D530-33B9-FCF4E0315938}"/>
              </a:ext>
            </a:extLst>
          </p:cNvPr>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a:extLst>
              <a:ext uri="{FF2B5EF4-FFF2-40B4-BE49-F238E27FC236}">
                <a16:creationId xmlns:a16="http://schemas.microsoft.com/office/drawing/2014/main" id="{98392C5E-AF9B-BFCB-47C3-5EB39ED9E349}"/>
              </a:ext>
            </a:extLst>
          </p:cNvPr>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a:extLst>
              <a:ext uri="{FF2B5EF4-FFF2-40B4-BE49-F238E27FC236}">
                <a16:creationId xmlns:a16="http://schemas.microsoft.com/office/drawing/2014/main" id="{D3C79877-8C70-28BD-8F9A-316C5E104F5A}"/>
              </a:ext>
            </a:extLst>
          </p:cNvPr>
          <p:cNvSpPr/>
          <p:nvPr/>
        </p:nvSpPr>
        <p:spPr>
          <a:xfrm>
            <a:off x="914400" y="1828800"/>
            <a:ext cx="7315200" cy="1097280"/>
          </a:xfrm>
          <a:prstGeom prst="rect">
            <a:avLst/>
          </a:prstGeom>
          <a:noFill/>
          <a:ln/>
        </p:spPr>
        <p:txBody>
          <a:bodyPr wrap="square" rtlCol="0" anchor="ctr"/>
          <a:lstStyle/>
          <a:p>
            <a:r>
              <a:rPr lang="en-NG" sz="3600" b="1" dirty="0"/>
              <a:t>Limitations and Future Improvements</a:t>
            </a:r>
          </a:p>
        </p:txBody>
      </p:sp>
      <p:sp>
        <p:nvSpPr>
          <p:cNvPr id="5" name="Shape 3">
            <a:extLst>
              <a:ext uri="{FF2B5EF4-FFF2-40B4-BE49-F238E27FC236}">
                <a16:creationId xmlns:a16="http://schemas.microsoft.com/office/drawing/2014/main" id="{83A10291-E528-65A4-8674-61BD0A986620}"/>
              </a:ext>
            </a:extLst>
          </p:cNvPr>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a:extLst>
              <a:ext uri="{FF2B5EF4-FFF2-40B4-BE49-F238E27FC236}">
                <a16:creationId xmlns:a16="http://schemas.microsoft.com/office/drawing/2014/main" id="{50AC1140-3FF6-458D-CE17-F2BC588A8385}"/>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a:extLst>
              <a:ext uri="{FF2B5EF4-FFF2-40B4-BE49-F238E27FC236}">
                <a16:creationId xmlns:a16="http://schemas.microsoft.com/office/drawing/2014/main" id="{1D9A821B-6649-52B5-2C4F-9F7D24A60DB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Tree>
    <p:extLst>
      <p:ext uri="{BB962C8B-B14F-4D97-AF65-F5344CB8AC3E}">
        <p14:creationId xmlns:p14="http://schemas.microsoft.com/office/powerpoint/2010/main" val="135033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5789E-0E5A-E6FC-BA3D-EF7A85087A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41898D-6F45-0E2B-2C74-7F2DDEFCA246}"/>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B336470A-FE78-5EA2-0692-B8258CA31EB9}"/>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Limitations and Future Improvements</a:t>
            </a:r>
            <a:endParaRPr lang="en-NG" sz="1300" dirty="0">
              <a:solidFill>
                <a:schemeClr val="accent1"/>
              </a:solidFill>
            </a:endParaRPr>
          </a:p>
        </p:txBody>
      </p:sp>
      <p:sp>
        <p:nvSpPr>
          <p:cNvPr id="4" name="Text 2">
            <a:extLst>
              <a:ext uri="{FF2B5EF4-FFF2-40B4-BE49-F238E27FC236}">
                <a16:creationId xmlns:a16="http://schemas.microsoft.com/office/drawing/2014/main" id="{F9B816AC-1AFE-B1B9-132A-5D9E1BBBD2E4}"/>
              </a:ext>
            </a:extLst>
          </p:cNvPr>
          <p:cNvSpPr/>
          <p:nvPr/>
        </p:nvSpPr>
        <p:spPr>
          <a:xfrm>
            <a:off x="365758" y="871994"/>
            <a:ext cx="8412480" cy="3882886"/>
          </a:xfrm>
          <a:prstGeom prst="rect">
            <a:avLst/>
          </a:prstGeom>
          <a:noFill/>
          <a:ln/>
        </p:spPr>
        <p:txBody>
          <a:bodyPr wrap="square" rtlCol="0" anchor="t"/>
          <a:lstStyle/>
          <a:p>
            <a:r>
              <a:rPr lang="en-NG" sz="1400" b="1" dirty="0"/>
              <a:t>Key Limitations</a:t>
            </a:r>
          </a:p>
          <a:p>
            <a:pPr marL="171450" indent="-171450">
              <a:buFont typeface="Arial" panose="020B0604020202020204" pitchFamily="34" charset="0"/>
              <a:buChar char="•"/>
            </a:pPr>
            <a:r>
              <a:rPr lang="en-NG" sz="1400" b="1" dirty="0"/>
              <a:t>Dataset age:</a:t>
            </a:r>
            <a:r>
              <a:rPr lang="en-NG" sz="1400" dirty="0"/>
              <a:t> The Adult Income dataset is based on the </a:t>
            </a:r>
            <a:r>
              <a:rPr lang="en-NG" sz="1400" b="1" dirty="0"/>
              <a:t>1994 U.S. Census</a:t>
            </a:r>
            <a:r>
              <a:rPr lang="en-NG" sz="1400" dirty="0"/>
              <a:t> and may not fully reflect current socioeconomic conditions. </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Correlation ≠ Causation:</a:t>
            </a:r>
            <a:r>
              <a:rPr lang="en-NG" sz="1400" dirty="0"/>
              <a:t> The models identify predictive relationships but cannot determine causal factors influencing income. </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Small demographic subgroups:</a:t>
            </a:r>
            <a:r>
              <a:rPr lang="en-NG" sz="1400" dirty="0"/>
              <a:t> Some racial groups contain relatively few observations, leading to less reliable fairness estimates.</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Limited hyperparameter search space:</a:t>
            </a:r>
            <a:r>
              <a:rPr lang="en-NG" sz="1400" dirty="0"/>
              <a:t> More extensive optimization techniques could potentially improve model performance further. </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Fairness evaluation scope:</a:t>
            </a:r>
            <a:r>
              <a:rPr lang="en-NG" sz="1400" dirty="0"/>
              <a:t> The analysis focused on demographic group performance and did not include advanced fairness metrics such as demographic parity or equal opportunity.</a:t>
            </a:r>
          </a:p>
        </p:txBody>
      </p:sp>
      <p:sp>
        <p:nvSpPr>
          <p:cNvPr id="26" name="Shape 24">
            <a:extLst>
              <a:ext uri="{FF2B5EF4-FFF2-40B4-BE49-F238E27FC236}">
                <a16:creationId xmlns:a16="http://schemas.microsoft.com/office/drawing/2014/main" id="{7750C04A-A72F-D805-3D08-E389528C094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2D1EEA36-E6C6-1418-B741-57A1542BEB1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Tree>
    <p:extLst>
      <p:ext uri="{BB962C8B-B14F-4D97-AF65-F5344CB8AC3E}">
        <p14:creationId xmlns:p14="http://schemas.microsoft.com/office/powerpoint/2010/main" val="2721790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C15D7-D45C-4BF4-D1C8-CEEC33C26D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061FFA-D9DA-E2AB-0F85-A6F624893C7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CDED50D4-B26F-7FFF-1B11-249FF8F3CB34}"/>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Limitations and Future Improvements</a:t>
            </a:r>
            <a:endParaRPr lang="en-NG" sz="1300" dirty="0">
              <a:solidFill>
                <a:schemeClr val="accent1"/>
              </a:solidFill>
            </a:endParaRPr>
          </a:p>
        </p:txBody>
      </p:sp>
      <p:sp>
        <p:nvSpPr>
          <p:cNvPr id="4" name="Text 2">
            <a:extLst>
              <a:ext uri="{FF2B5EF4-FFF2-40B4-BE49-F238E27FC236}">
                <a16:creationId xmlns:a16="http://schemas.microsoft.com/office/drawing/2014/main" id="{12C27101-0A5E-FCFC-F8B6-04D5B9DEE279}"/>
              </a:ext>
            </a:extLst>
          </p:cNvPr>
          <p:cNvSpPr/>
          <p:nvPr/>
        </p:nvSpPr>
        <p:spPr>
          <a:xfrm>
            <a:off x="365758" y="969792"/>
            <a:ext cx="8412480" cy="3882886"/>
          </a:xfrm>
          <a:prstGeom prst="rect">
            <a:avLst/>
          </a:prstGeom>
          <a:noFill/>
          <a:ln/>
        </p:spPr>
        <p:txBody>
          <a:bodyPr wrap="square" rtlCol="0" anchor="t"/>
          <a:lstStyle/>
          <a:p>
            <a:r>
              <a:rPr lang="en-NG" sz="1400" b="1" dirty="0"/>
              <a:t>Potential Future Improvements</a:t>
            </a:r>
          </a:p>
          <a:p>
            <a:endParaRPr lang="en-NG" sz="1400" b="1" dirty="0"/>
          </a:p>
          <a:p>
            <a:pPr marL="285750" indent="-285750">
              <a:buFont typeface="Arial" panose="020B0604020202020204" pitchFamily="34" charset="0"/>
              <a:buChar char="•"/>
            </a:pPr>
            <a:r>
              <a:rPr lang="en-NG" sz="1400" dirty="0"/>
              <a:t>Evaluate on more recent socioeconomic datasets.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Explore additional feature engineering techniques.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Apply advanced hyperparameter optimization methods.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Investigate fairness-aware machine learning approaches.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Compare with additional algorithms such as XGBoost or LightGBM.</a:t>
            </a:r>
          </a:p>
          <a:p>
            <a:r>
              <a:rPr lang="en-NG" sz="1400" dirty="0"/>
              <a:t> </a:t>
            </a:r>
          </a:p>
          <a:p>
            <a:pPr marL="285750" indent="-285750">
              <a:buFont typeface="Arial" panose="020B0604020202020204" pitchFamily="34" charset="0"/>
              <a:buChar char="•"/>
            </a:pPr>
            <a:r>
              <a:rPr lang="en-NG" sz="1400" dirty="0"/>
              <a:t>Expand interpretability analysis using local SHAP explanations.</a:t>
            </a:r>
          </a:p>
        </p:txBody>
      </p:sp>
      <p:sp>
        <p:nvSpPr>
          <p:cNvPr id="26" name="Shape 24">
            <a:extLst>
              <a:ext uri="{FF2B5EF4-FFF2-40B4-BE49-F238E27FC236}">
                <a16:creationId xmlns:a16="http://schemas.microsoft.com/office/drawing/2014/main" id="{3F4B7619-DA22-1193-A4C3-2845F96A1EF9}"/>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72A38713-B947-40E3-7A24-13E0F8CD61EE}"/>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Tree>
    <p:extLst>
      <p:ext uri="{BB962C8B-B14F-4D97-AF65-F5344CB8AC3E}">
        <p14:creationId xmlns:p14="http://schemas.microsoft.com/office/powerpoint/2010/main" val="4197146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147E0-803A-E1B1-2EAB-43E9EBEFB80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0F59DF-4AA7-4F72-90DC-F7C39E0D94C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8A623D62-D990-49B0-A809-7A01F1120788}"/>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Conclusion</a:t>
            </a:r>
            <a:endParaRPr lang="en-NG" sz="1300" dirty="0">
              <a:solidFill>
                <a:schemeClr val="accent1"/>
              </a:solidFill>
            </a:endParaRPr>
          </a:p>
        </p:txBody>
      </p:sp>
      <p:sp>
        <p:nvSpPr>
          <p:cNvPr id="4" name="Text 2">
            <a:extLst>
              <a:ext uri="{FF2B5EF4-FFF2-40B4-BE49-F238E27FC236}">
                <a16:creationId xmlns:a16="http://schemas.microsoft.com/office/drawing/2014/main" id="{98723095-72BC-49E0-EB57-793C6385FA02}"/>
              </a:ext>
            </a:extLst>
          </p:cNvPr>
          <p:cNvSpPr/>
          <p:nvPr/>
        </p:nvSpPr>
        <p:spPr>
          <a:xfrm>
            <a:off x="365758" y="969792"/>
            <a:ext cx="8412480" cy="3882886"/>
          </a:xfrm>
          <a:prstGeom prst="rect">
            <a:avLst/>
          </a:prstGeom>
          <a:noFill/>
          <a:ln/>
        </p:spPr>
        <p:txBody>
          <a:bodyPr wrap="square" rtlCol="0" anchor="t"/>
          <a:lstStyle/>
          <a:p>
            <a:r>
              <a:rPr lang="en-NG" sz="1400" b="1" dirty="0"/>
              <a:t>Main Findings</a:t>
            </a:r>
          </a:p>
          <a:p>
            <a:pPr marL="285750" indent="-285750">
              <a:buFont typeface="Arial" panose="020B0604020202020204" pitchFamily="34" charset="0"/>
              <a:buChar char="•"/>
            </a:pPr>
            <a:r>
              <a:rPr lang="en-NG" sz="1400" dirty="0"/>
              <a:t>Developed a complete end-to-end machine learning pipeline for income classification</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Performed comprehensive data cleaning, preprocessing, and feature engineering</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Evaluated and compared four machine learning algorithms</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Hyperparameter tuning improved model performance across all models</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Gradient Boosting achieved the strongest overall predictive performance</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SHAP analysis improved model interpretability and transparency</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Fairness evaluation revealed performance disparities across demographic groups</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Feature engineering contributed significantly to model effectiveness</a:t>
            </a:r>
          </a:p>
        </p:txBody>
      </p:sp>
      <p:sp>
        <p:nvSpPr>
          <p:cNvPr id="26" name="Shape 24">
            <a:extLst>
              <a:ext uri="{FF2B5EF4-FFF2-40B4-BE49-F238E27FC236}">
                <a16:creationId xmlns:a16="http://schemas.microsoft.com/office/drawing/2014/main" id="{B7E8A118-7CDC-ADA4-DD1E-1C99FD0BD44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175FAB7-1AB8-1F85-FC0E-E76B9DF3B58C}"/>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Tree>
    <p:extLst>
      <p:ext uri="{BB962C8B-B14F-4D97-AF65-F5344CB8AC3E}">
        <p14:creationId xmlns:p14="http://schemas.microsoft.com/office/powerpoint/2010/main" val="2212333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914400" y="1463040"/>
            <a:ext cx="7315200" cy="914400"/>
          </a:xfrm>
          <a:prstGeom prst="rect">
            <a:avLst/>
          </a:prstGeom>
          <a:noFill/>
          <a:ln/>
        </p:spPr>
        <p:txBody>
          <a:bodyPr wrap="square" rtlCol="0" anchor="ctr"/>
          <a:lstStyle/>
          <a:p>
            <a:pPr marL="0" indent="0" algn="ctr">
              <a:buNone/>
            </a:pPr>
            <a:r>
              <a:rPr lang="en-US" sz="4800" b="1" dirty="0">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2743200" y="2514600"/>
            <a:ext cx="3657600" cy="0"/>
          </a:xfrm>
          <a:prstGeom prst="line">
            <a:avLst/>
          </a:prstGeom>
          <a:noFill/>
          <a:ln w="38100">
            <a:solidFill>
              <a:srgbClr val="E8922A"/>
            </a:solidFill>
            <a:prstDash val="solid"/>
          </a:ln>
        </p:spPr>
        <p:txBody>
          <a:bodyPr/>
          <a:lstStyle/>
          <a:p>
            <a:endParaRPr lang="en-NG"/>
          </a:p>
        </p:txBody>
      </p:sp>
      <p:sp>
        <p:nvSpPr>
          <p:cNvPr id="4" name="Text 2"/>
          <p:cNvSpPr/>
          <p:nvPr/>
        </p:nvSpPr>
        <p:spPr>
          <a:xfrm>
            <a:off x="914400" y="2743200"/>
            <a:ext cx="7315200" cy="685800"/>
          </a:xfrm>
          <a:prstGeom prst="rect">
            <a:avLst/>
          </a:prstGeom>
          <a:noFill/>
          <a:ln/>
        </p:spPr>
        <p:txBody>
          <a:bodyPr wrap="square" rtlCol="0" anchor="ctr"/>
          <a:lstStyle/>
          <a:p>
            <a:pPr marL="0" indent="0" algn="ctr">
              <a:buNone/>
            </a:pPr>
            <a:r>
              <a:rPr lang="en-US" sz="1600" dirty="0">
                <a:solidFill>
                  <a:schemeClr val="accent1"/>
                </a:solidFill>
                <a:latin typeface="Calibri" pitchFamily="34" charset="0"/>
                <a:ea typeface="Calibri" pitchFamily="34" charset="-122"/>
                <a:cs typeface="Calibri" pitchFamily="34" charset="-120"/>
              </a:rPr>
              <a:t>Income Classification Using Machine Learning</a:t>
            </a:r>
            <a:endParaRPr lang="en-US" sz="1600" dirty="0">
              <a:solidFill>
                <a:schemeClr val="accent1"/>
              </a:solidFill>
            </a:endParaRPr>
          </a:p>
          <a:p>
            <a:pPr marL="0" indent="0" algn="ctr">
              <a:buNone/>
            </a:pPr>
            <a:r>
              <a:rPr lang="en-US" sz="1600" dirty="0">
                <a:solidFill>
                  <a:schemeClr val="accent1"/>
                </a:solidFill>
                <a:latin typeface="Calibri" pitchFamily="34" charset="0"/>
                <a:ea typeface="Calibri" pitchFamily="34" charset="-122"/>
                <a:cs typeface="Calibri" pitchFamily="34" charset="-120"/>
              </a:rPr>
              <a:t>Adult Census Dataset</a:t>
            </a:r>
            <a:endParaRPr lang="en-US" sz="1600" dirty="0">
              <a:solidFill>
                <a:schemeClr val="accent1"/>
              </a:solidFill>
            </a:endParaRPr>
          </a:p>
        </p:txBody>
      </p:sp>
      <p:sp>
        <p:nvSpPr>
          <p:cNvPr id="5" name="Text 3"/>
          <p:cNvSpPr/>
          <p:nvPr/>
        </p:nvSpPr>
        <p:spPr>
          <a:xfrm>
            <a:off x="914400" y="3520440"/>
            <a:ext cx="7315200" cy="365760"/>
          </a:xfrm>
          <a:prstGeom prst="rect">
            <a:avLst/>
          </a:prstGeom>
          <a:noFill/>
          <a:ln/>
        </p:spPr>
        <p:txBody>
          <a:bodyPr wrap="square" rtlCol="0" anchor="ctr"/>
          <a:lstStyle/>
          <a:p>
            <a:pPr marL="0" indent="0" algn="ctr">
              <a:buNone/>
            </a:pPr>
            <a:r>
              <a:rPr lang="en-US" sz="1300" dirty="0">
                <a:solidFill>
                  <a:schemeClr val="accent1"/>
                </a:solidFill>
                <a:latin typeface="Calibri" pitchFamily="34" charset="0"/>
                <a:ea typeface="Calibri" pitchFamily="34" charset="-122"/>
                <a:cs typeface="Calibri" pitchFamily="34" charset="-120"/>
              </a:rPr>
              <a:t>Buhari Nasir Ahmad  ·  Data Science Project</a:t>
            </a:r>
            <a:endParaRPr lang="en-US" sz="1300" dirty="0">
              <a:solidFill>
                <a:schemeClr val="accent1"/>
              </a:solidFill>
            </a:endParaRPr>
          </a:p>
        </p:txBody>
      </p:sp>
      <p:sp>
        <p:nvSpPr>
          <p:cNvPr id="6" name="Text 4"/>
          <p:cNvSpPr/>
          <p:nvPr/>
        </p:nvSpPr>
        <p:spPr>
          <a:xfrm>
            <a:off x="2743200" y="4114800"/>
            <a:ext cx="3657600" cy="457200"/>
          </a:xfrm>
          <a:prstGeom prst="rect">
            <a:avLst/>
          </a:prstGeom>
          <a:noFill/>
          <a:ln/>
        </p:spPr>
        <p:txBody>
          <a:bodyPr wrap="square" rtlCol="0" anchor="ctr"/>
          <a:lstStyle/>
          <a:p>
            <a:pPr marL="0" indent="0" algn="ctr">
              <a:buNone/>
            </a:pPr>
            <a:r>
              <a:rPr lang="en-US" sz="1600" b="1" dirty="0">
                <a:solidFill>
                  <a:srgbClr val="E8922A"/>
                </a:solidFill>
                <a:latin typeface="Calibri" pitchFamily="34" charset="0"/>
                <a:ea typeface="Calibri" pitchFamily="34" charset="-122"/>
                <a:cs typeface="Calibri" pitchFamily="34" charset="-120"/>
              </a:rPr>
              <a:t>Questions &amp; Discussion</a:t>
            </a:r>
            <a:endParaRPr lang="en-US" sz="1600" dirty="0"/>
          </a:p>
        </p:txBody>
      </p:sp>
      <p:sp>
        <p:nvSpPr>
          <p:cNvPr id="7" name="Shape 5"/>
          <p:cNvSpPr/>
          <p:nvPr/>
        </p:nvSpPr>
        <p:spPr>
          <a:xfrm>
            <a:off x="914400" y="4389120"/>
            <a:ext cx="137160" cy="137160"/>
          </a:xfrm>
          <a:prstGeom prst="ellipse">
            <a:avLst/>
          </a:prstGeom>
          <a:solidFill>
            <a:srgbClr val="E8922A"/>
          </a:solidFill>
          <a:ln w="12700">
            <a:solidFill>
              <a:srgbClr val="E8922A"/>
            </a:solidFill>
            <a:prstDash val="solid"/>
          </a:ln>
        </p:spPr>
        <p:txBody>
          <a:bodyPr/>
          <a:lstStyle/>
          <a:p>
            <a:endParaRPr lang="en-NG"/>
          </a:p>
        </p:txBody>
      </p:sp>
      <p:sp>
        <p:nvSpPr>
          <p:cNvPr id="8" name="Shape 6"/>
          <p:cNvSpPr/>
          <p:nvPr/>
        </p:nvSpPr>
        <p:spPr>
          <a:xfrm>
            <a:off x="1828800" y="4206240"/>
            <a:ext cx="137160" cy="137160"/>
          </a:xfrm>
          <a:prstGeom prst="ellipse">
            <a:avLst/>
          </a:prstGeom>
          <a:solidFill>
            <a:srgbClr val="E8922A"/>
          </a:solidFill>
          <a:ln w="12700">
            <a:solidFill>
              <a:srgbClr val="E8922A"/>
            </a:solidFill>
            <a:prstDash val="solid"/>
          </a:ln>
        </p:spPr>
        <p:txBody>
          <a:bodyPr/>
          <a:lstStyle/>
          <a:p>
            <a:endParaRPr lang="en-NG"/>
          </a:p>
        </p:txBody>
      </p:sp>
      <p:sp>
        <p:nvSpPr>
          <p:cNvPr id="9" name="Shape 7"/>
          <p:cNvSpPr/>
          <p:nvPr/>
        </p:nvSpPr>
        <p:spPr>
          <a:xfrm>
            <a:off x="7772400" y="4389120"/>
            <a:ext cx="137160" cy="137160"/>
          </a:xfrm>
          <a:prstGeom prst="ellipse">
            <a:avLst/>
          </a:prstGeom>
          <a:solidFill>
            <a:srgbClr val="E8922A"/>
          </a:solidFill>
          <a:ln w="12700">
            <a:solidFill>
              <a:srgbClr val="E8922A"/>
            </a:solidFill>
            <a:prstDash val="solid"/>
          </a:ln>
        </p:spPr>
        <p:txBody>
          <a:bodyPr/>
          <a:lstStyle/>
          <a:p>
            <a:endParaRPr lang="en-NG"/>
          </a:p>
        </p:txBody>
      </p:sp>
      <p:sp>
        <p:nvSpPr>
          <p:cNvPr id="10" name="Shape 8"/>
          <p:cNvSpPr/>
          <p:nvPr/>
        </p:nvSpPr>
        <p:spPr>
          <a:xfrm>
            <a:off x="7132320" y="4206240"/>
            <a:ext cx="137160" cy="137160"/>
          </a:xfrm>
          <a:prstGeom prst="ellipse">
            <a:avLst/>
          </a:prstGeom>
          <a:solidFill>
            <a:srgbClr val="E8922A"/>
          </a:solidFill>
          <a:ln w="12700">
            <a:solidFill>
              <a:srgbClr val="E8922A"/>
            </a:solidFill>
            <a:prstDash val="solid"/>
          </a:ln>
        </p:spPr>
        <p:txBody>
          <a:bodyPr/>
          <a:lstStyle/>
          <a:p>
            <a:endParaRPr lang="en-N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2400</TotalTime>
  <Words>5600</Words>
  <Application>Microsoft Macintosh PowerPoint</Application>
  <PresentationFormat>On-screen Show (16:9)</PresentationFormat>
  <Paragraphs>672</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Income Classification – Data Science Project</dc:title>
  <dc:subject>PptxGenJS Presentation</dc:subject>
  <dc:creator>PptxGenJS</dc:creator>
  <cp:lastModifiedBy>Buhari Ahmad</cp:lastModifiedBy>
  <cp:revision>6</cp:revision>
  <dcterms:created xsi:type="dcterms:W3CDTF">2026-05-24T11:33:15Z</dcterms:created>
  <dcterms:modified xsi:type="dcterms:W3CDTF">2026-05-30T09:18:16Z</dcterms:modified>
</cp:coreProperties>
</file>